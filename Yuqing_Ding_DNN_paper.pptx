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917" r:id="rId2"/>
  </p:sldMasterIdLst>
  <p:notesMasterIdLst>
    <p:notesMasterId r:id="rId36"/>
  </p:notesMasterIdLst>
  <p:sldIdLst>
    <p:sldId id="256" r:id="rId3"/>
    <p:sldId id="269" r:id="rId4"/>
    <p:sldId id="270" r:id="rId5"/>
    <p:sldId id="271" r:id="rId6"/>
    <p:sldId id="272" r:id="rId7"/>
    <p:sldId id="273" r:id="rId8"/>
    <p:sldId id="274" r:id="rId9"/>
    <p:sldId id="279" r:id="rId10"/>
    <p:sldId id="283" r:id="rId11"/>
    <p:sldId id="286" r:id="rId12"/>
    <p:sldId id="288" r:id="rId13"/>
    <p:sldId id="306" r:id="rId14"/>
    <p:sldId id="292" r:id="rId15"/>
    <p:sldId id="284" r:id="rId16"/>
    <p:sldId id="287" r:id="rId17"/>
    <p:sldId id="293" r:id="rId18"/>
    <p:sldId id="294" r:id="rId19"/>
    <p:sldId id="285" r:id="rId20"/>
    <p:sldId id="308" r:id="rId21"/>
    <p:sldId id="300" r:id="rId22"/>
    <p:sldId id="297" r:id="rId23"/>
    <p:sldId id="305" r:id="rId24"/>
    <p:sldId id="304" r:id="rId25"/>
    <p:sldId id="299" r:id="rId26"/>
    <p:sldId id="298" r:id="rId27"/>
    <p:sldId id="290" r:id="rId28"/>
    <p:sldId id="301" r:id="rId29"/>
    <p:sldId id="289" r:id="rId30"/>
    <p:sldId id="296" r:id="rId31"/>
    <p:sldId id="295" r:id="rId32"/>
    <p:sldId id="278" r:id="rId33"/>
    <p:sldId id="302" r:id="rId34"/>
    <p:sldId id="303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0F83"/>
    <a:srgbClr val="AFB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9032" autoAdjust="0"/>
  </p:normalViewPr>
  <p:slideViewPr>
    <p:cSldViewPr snapToGrid="0">
      <p:cViewPr varScale="1">
        <p:scale>
          <a:sx n="71" d="100"/>
          <a:sy n="71" d="100"/>
        </p:scale>
        <p:origin x="10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inca\Desktop\CS%20Spring\CS634%20DataMining\DNN%20paper\YuQing_Ding_DNN_training-sample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rgbClr val="FF0000"/>
                </a:solidFill>
              </a:rPr>
              <a:t>Convergence</a:t>
            </a:r>
            <a:r>
              <a:rPr lang="en-US" baseline="0">
                <a:solidFill>
                  <a:srgbClr val="FF0000"/>
                </a:solidFill>
              </a:rPr>
              <a:t> Process of DNN Sample Training model </a:t>
            </a:r>
          </a:p>
          <a:p>
            <a:pPr>
              <a:defRPr sz="1400" b="0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 baseline="0">
                <a:solidFill>
                  <a:srgbClr val="FF0000"/>
                </a:solidFill>
              </a:rPr>
              <a:t>(Error Function = MSE)</a:t>
            </a:r>
            <a:endParaRPr lang="en-US">
              <a:solidFill>
                <a:srgbClr val="FF0000"/>
              </a:solidFill>
            </a:endParaRPr>
          </a:p>
        </c:rich>
      </c:tx>
      <c:overlay val="0"/>
      <c:spPr>
        <a:solidFill>
          <a:srgbClr val="FFFF00"/>
        </a:solidFill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0667949952600082"/>
          <c:y val="0.15893377655276103"/>
          <c:w val="0.86534740964989443"/>
          <c:h val="0.68132502904241188"/>
        </c:manualLayout>
      </c:layout>
      <c:lineChart>
        <c:grouping val="standard"/>
        <c:varyColors val="0"/>
        <c:ser>
          <c:idx val="0"/>
          <c:order val="0"/>
          <c:tx>
            <c:strRef>
              <c:f>chart!$S$1</c:f>
              <c:strCache>
                <c:ptCount val="1"/>
                <c:pt idx="0">
                  <c:v>Y1=0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chart!$S$2:$S$9</c:f>
              <c:numCache>
                <c:formatCode>General</c:formatCode>
                <c:ptCount val="8"/>
                <c:pt idx="0">
                  <c:v>1.0350000000000001</c:v>
                </c:pt>
                <c:pt idx="1">
                  <c:v>0.23150091824999991</c:v>
                </c:pt>
                <c:pt idx="2">
                  <c:v>0.1193195727398393</c:v>
                </c:pt>
                <c:pt idx="3">
                  <c:v>6.0898736076130174E-2</c:v>
                </c:pt>
                <c:pt idx="4">
                  <c:v>3.0245428142066613E-2</c:v>
                </c:pt>
                <c:pt idx="5">
                  <c:v>1.4664659503061256E-2</c:v>
                </c:pt>
                <c:pt idx="6">
                  <c:v>6.9878121474739319E-3</c:v>
                </c:pt>
                <c:pt idx="7">
                  <c:v>3.2907752503850418E-3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1F-4813-8F3E-29FEA97F8369}"/>
            </c:ext>
          </c:extLst>
        </c:ser>
        <c:ser>
          <c:idx val="1"/>
          <c:order val="1"/>
          <c:tx>
            <c:strRef>
              <c:f>chart!$T$1</c:f>
              <c:strCache>
                <c:ptCount val="1"/>
                <c:pt idx="0">
                  <c:v>Y2=1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val>
            <c:numRef>
              <c:f>chart!$T$2:$T$9</c:f>
              <c:numCache>
                <c:formatCode>General</c:formatCode>
                <c:ptCount val="8"/>
                <c:pt idx="0">
                  <c:v>0.17700000000000002</c:v>
                </c:pt>
                <c:pt idx="1">
                  <c:v>0.59666197514999997</c:v>
                </c:pt>
                <c:pt idx="2">
                  <c:v>0.81952082276408189</c:v>
                </c:pt>
                <c:pt idx="3">
                  <c:v>0.92170625795633954</c:v>
                </c:pt>
                <c:pt idx="4">
                  <c:v>0.96618254183434982</c:v>
                </c:pt>
                <c:pt idx="5">
                  <c:v>0.98524976662374397</c:v>
                </c:pt>
                <c:pt idx="6">
                  <c:v>0.99347934905372359</c:v>
                </c:pt>
                <c:pt idx="7">
                  <c:v>0.99708217070285876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C1F-4813-8F3E-29FEA97F8369}"/>
            </c:ext>
          </c:extLst>
        </c:ser>
        <c:ser>
          <c:idx val="2"/>
          <c:order val="2"/>
          <c:tx>
            <c:strRef>
              <c:f>chart!$U$1</c:f>
              <c:strCache>
                <c:ptCount val="1"/>
                <c:pt idx="0">
                  <c:v>MSE</c:v>
                </c:pt>
              </c:strCache>
            </c:strRef>
          </c:tx>
          <c:spPr>
            <a:ln w="25400">
              <a:solidFill>
                <a:srgbClr val="FF0000"/>
              </a:solidFill>
              <a:prstDash val="solid"/>
            </a:ln>
          </c:spPr>
          <c:marker>
            <c:symbol val="none"/>
          </c:marker>
          <c:val>
            <c:numRef>
              <c:f>chart!$U$2:$U$9</c:f>
              <c:numCache>
                <c:formatCode>General</c:formatCode>
                <c:ptCount val="8"/>
                <c:pt idx="0">
                  <c:v>0.87427700000000019</c:v>
                </c:pt>
                <c:pt idx="1">
                  <c:v>0.1081371187202462</c:v>
                </c:pt>
                <c:pt idx="2">
                  <c:v>2.3404946927285872E-2</c:v>
                </c:pt>
                <c:pt idx="3">
                  <c:v>4.9192830494347028E-3</c:v>
                </c:pt>
                <c:pt idx="4">
                  <c:v>1.0292032001412077E-3</c:v>
                </c:pt>
                <c:pt idx="5">
                  <c:v>2.1631081149737103E-4</c:v>
                </c:pt>
                <c:pt idx="6">
                  <c:v>4.5674203685779828E-5</c:v>
                </c:pt>
                <c:pt idx="7">
                  <c:v>9.6714647779012355E-6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C1F-4813-8F3E-29FEA97F83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96893080"/>
        <c:axId val="1"/>
      </c:lineChart>
      <c:catAx>
        <c:axId val="5968930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>
                    <a:solidFill>
                      <a:srgbClr val="002060"/>
                    </a:solidFill>
                  </a:rPr>
                  <a:t>Iternation </a:t>
                </a:r>
              </a:p>
            </c:rich>
          </c:tx>
          <c:layout>
            <c:manualLayout>
              <c:xMode val="edge"/>
              <c:yMode val="edge"/>
              <c:x val="0.46018792945825593"/>
              <c:y val="0.92681004939884692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0"/>
        <c:majorTickMark val="in"/>
        <c:minorTickMark val="in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>
                    <a:solidFill>
                      <a:srgbClr val="002060"/>
                    </a:solidFill>
                  </a:rPr>
                  <a:t>Output</a:t>
                </a:r>
              </a:p>
            </c:rich>
          </c:tx>
          <c:layout>
            <c:manualLayout>
              <c:xMode val="edge"/>
              <c:yMode val="edge"/>
              <c:x val="0"/>
              <c:y val="0.42798599410881499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in"/>
        <c:minorTickMark val="none"/>
        <c:tickLblPos val="nextTo"/>
        <c:spPr>
          <a:noFill/>
          <a:ln>
            <a:solidFill>
              <a:srgbClr val="00B05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6893080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78230355510336491"/>
          <c:y val="0.38115680408944513"/>
          <c:w val="0.1362359550561798"/>
          <c:h val="0.25481839333402106"/>
        </c:manualLayout>
      </c:layout>
      <c:overlay val="0"/>
      <c:spPr>
        <a:noFill/>
        <a:ln w="25400">
          <a:noFill/>
        </a:ln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957200-8C75-4E62-92FD-D97B721D7AF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DC359C9-B264-44F0-81B8-FD246154F3B5}">
      <dgm:prSet/>
      <dgm:spPr/>
      <dgm:t>
        <a:bodyPr/>
        <a:lstStyle/>
        <a:p>
          <a:r>
            <a:rPr lang="en-US" b="1"/>
            <a:t>DNN Prediction </a:t>
          </a:r>
          <a:endParaRPr lang="en-US"/>
        </a:p>
      </dgm:t>
    </dgm:pt>
    <dgm:pt modelId="{B42CA69D-2F38-444E-8D22-C899E54C9B67}" type="parTrans" cxnId="{13E4B5C4-6CEF-486D-8362-D5A019803329}">
      <dgm:prSet/>
      <dgm:spPr/>
      <dgm:t>
        <a:bodyPr/>
        <a:lstStyle/>
        <a:p>
          <a:endParaRPr lang="en-US"/>
        </a:p>
      </dgm:t>
    </dgm:pt>
    <dgm:pt modelId="{8231F5F5-8DBB-4E7D-82D2-F4C889213A39}" type="sibTrans" cxnId="{13E4B5C4-6CEF-486D-8362-D5A019803329}">
      <dgm:prSet/>
      <dgm:spPr/>
      <dgm:t>
        <a:bodyPr/>
        <a:lstStyle/>
        <a:p>
          <a:endParaRPr lang="en-US"/>
        </a:p>
      </dgm:t>
    </dgm:pt>
    <dgm:pt modelId="{983D389B-8583-4C65-8358-04C8EDE797F7}">
      <dgm:prSet/>
      <dgm:spPr/>
      <dgm:t>
        <a:bodyPr/>
        <a:lstStyle/>
        <a:p>
          <a:r>
            <a:rPr lang="en-US" b="1"/>
            <a:t>Non-Trivial Example</a:t>
          </a:r>
          <a:endParaRPr lang="en-US"/>
        </a:p>
      </dgm:t>
    </dgm:pt>
    <dgm:pt modelId="{248A6B7F-0C36-427E-84D3-15E4B8535ABD}" type="parTrans" cxnId="{47C84733-E07A-4C56-A352-AAED8C7D6CB9}">
      <dgm:prSet/>
      <dgm:spPr/>
      <dgm:t>
        <a:bodyPr/>
        <a:lstStyle/>
        <a:p>
          <a:endParaRPr lang="en-US"/>
        </a:p>
      </dgm:t>
    </dgm:pt>
    <dgm:pt modelId="{A8D6EF58-AA96-4F02-8CD0-428D496C45CE}" type="sibTrans" cxnId="{47C84733-E07A-4C56-A352-AAED8C7D6CB9}">
      <dgm:prSet/>
      <dgm:spPr/>
      <dgm:t>
        <a:bodyPr/>
        <a:lstStyle/>
        <a:p>
          <a:endParaRPr lang="en-US"/>
        </a:p>
      </dgm:t>
    </dgm:pt>
    <dgm:pt modelId="{FBC0416A-D7C3-4930-9C25-725824CAEE94}" type="pres">
      <dgm:prSet presAssocID="{3F957200-8C75-4E62-92FD-D97B721D7AFD}" presName="linear" presStyleCnt="0">
        <dgm:presLayoutVars>
          <dgm:animLvl val="lvl"/>
          <dgm:resizeHandles val="exact"/>
        </dgm:presLayoutVars>
      </dgm:prSet>
      <dgm:spPr/>
    </dgm:pt>
    <dgm:pt modelId="{801BFF01-A54C-4C5F-A28F-456641C330D4}" type="pres">
      <dgm:prSet presAssocID="{BDC359C9-B264-44F0-81B8-FD246154F3B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36DD246-9B5A-4009-AFA4-EC6A754FDED9}" type="pres">
      <dgm:prSet presAssocID="{8231F5F5-8DBB-4E7D-82D2-F4C889213A39}" presName="spacer" presStyleCnt="0"/>
      <dgm:spPr/>
    </dgm:pt>
    <dgm:pt modelId="{038CCDD2-2170-4FD3-9C6E-C4C8138BF74C}" type="pres">
      <dgm:prSet presAssocID="{983D389B-8583-4C65-8358-04C8EDE797F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77D8E2D-8EAD-47FB-9376-E7B81614AB20}" type="presOf" srcId="{3F957200-8C75-4E62-92FD-D97B721D7AFD}" destId="{FBC0416A-D7C3-4930-9C25-725824CAEE94}" srcOrd="0" destOrd="0" presId="urn:microsoft.com/office/officeart/2005/8/layout/vList2"/>
    <dgm:cxn modelId="{47C84733-E07A-4C56-A352-AAED8C7D6CB9}" srcId="{3F957200-8C75-4E62-92FD-D97B721D7AFD}" destId="{983D389B-8583-4C65-8358-04C8EDE797F7}" srcOrd="1" destOrd="0" parTransId="{248A6B7F-0C36-427E-84D3-15E4B8535ABD}" sibTransId="{A8D6EF58-AA96-4F02-8CD0-428D496C45CE}"/>
    <dgm:cxn modelId="{D7045141-E4AC-4893-86C5-2B8435A8060B}" type="presOf" srcId="{BDC359C9-B264-44F0-81B8-FD246154F3B5}" destId="{801BFF01-A54C-4C5F-A28F-456641C330D4}" srcOrd="0" destOrd="0" presId="urn:microsoft.com/office/officeart/2005/8/layout/vList2"/>
    <dgm:cxn modelId="{DA13D3BF-96C1-4448-9909-C2625895DBA4}" type="presOf" srcId="{983D389B-8583-4C65-8358-04C8EDE797F7}" destId="{038CCDD2-2170-4FD3-9C6E-C4C8138BF74C}" srcOrd="0" destOrd="0" presId="urn:microsoft.com/office/officeart/2005/8/layout/vList2"/>
    <dgm:cxn modelId="{13E4B5C4-6CEF-486D-8362-D5A019803329}" srcId="{3F957200-8C75-4E62-92FD-D97B721D7AFD}" destId="{BDC359C9-B264-44F0-81B8-FD246154F3B5}" srcOrd="0" destOrd="0" parTransId="{B42CA69D-2F38-444E-8D22-C899E54C9B67}" sibTransId="{8231F5F5-8DBB-4E7D-82D2-F4C889213A39}"/>
    <dgm:cxn modelId="{DD723216-708D-437D-898D-FF6601982039}" type="presParOf" srcId="{FBC0416A-D7C3-4930-9C25-725824CAEE94}" destId="{801BFF01-A54C-4C5F-A28F-456641C330D4}" srcOrd="0" destOrd="0" presId="urn:microsoft.com/office/officeart/2005/8/layout/vList2"/>
    <dgm:cxn modelId="{6E3F13F0-5EF6-439E-B9C5-7F23D97C6982}" type="presParOf" srcId="{FBC0416A-D7C3-4930-9C25-725824CAEE94}" destId="{F36DD246-9B5A-4009-AFA4-EC6A754FDED9}" srcOrd="1" destOrd="0" presId="urn:microsoft.com/office/officeart/2005/8/layout/vList2"/>
    <dgm:cxn modelId="{F72F9F40-0934-442E-9A08-A1FF1226FC6E}" type="presParOf" srcId="{FBC0416A-D7C3-4930-9C25-725824CAEE94}" destId="{038CCDD2-2170-4FD3-9C6E-C4C8138BF74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BFF01-A54C-4C5F-A28F-456641C330D4}">
      <dsp:nvSpPr>
        <dsp:cNvPr id="0" name=""/>
        <dsp:cNvSpPr/>
      </dsp:nvSpPr>
      <dsp:spPr>
        <a:xfrm>
          <a:off x="0" y="21363"/>
          <a:ext cx="9487125" cy="1463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b="1" kern="1200"/>
            <a:t>DNN Prediction </a:t>
          </a:r>
          <a:endParaRPr lang="en-US" sz="6100" kern="1200"/>
        </a:p>
      </dsp:txBody>
      <dsp:txXfrm>
        <a:off x="71422" y="92785"/>
        <a:ext cx="9344281" cy="1320241"/>
      </dsp:txXfrm>
    </dsp:sp>
    <dsp:sp modelId="{038CCDD2-2170-4FD3-9C6E-C4C8138BF74C}">
      <dsp:nvSpPr>
        <dsp:cNvPr id="0" name=""/>
        <dsp:cNvSpPr/>
      </dsp:nvSpPr>
      <dsp:spPr>
        <a:xfrm>
          <a:off x="0" y="1660128"/>
          <a:ext cx="9487125" cy="1463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b="1" kern="1200"/>
            <a:t>Non-Trivial Example</a:t>
          </a:r>
          <a:endParaRPr lang="en-US" sz="6100" kern="1200"/>
        </a:p>
      </dsp:txBody>
      <dsp:txXfrm>
        <a:off x="71422" y="1731550"/>
        <a:ext cx="9344281" cy="13202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D45D8-84BB-4B25-8E58-9ED969A67F7F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DE291-D51C-4A0E-94C9-08ED30D26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12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f88252dc4_0_1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f88252dc4_0_1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f88252dc4_0_1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f88252dc4_0_1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8959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f88252dc4_0_1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f88252dc4_0_1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2579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f88252dc4_0_1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f88252dc4_0_1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4442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f88252dc4_0_1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f88252dc4_0_1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670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f88252dc4_0_1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f88252dc4_0_1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2388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E291-D51C-4A0E-94C9-08ED30D2615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35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E291-D51C-4A0E-94C9-08ED30D2615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01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f88252dc4_0_1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f88252dc4_0_1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0684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f88252dc4_0_1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f88252dc4_0_1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8103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f88252dc4_0_1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f88252dc4_0_1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6865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22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90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8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58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7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9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01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2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231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85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2237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393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59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24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414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110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_alt1">
  <p:cSld name="Section header_alt1">
    <p:bg>
      <p:bgPr>
        <a:solidFill>
          <a:srgbClr val="434343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4637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60103-A59A-4875-95D5-97C2D8DFCA0E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399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60103-A59A-4875-95D5-97C2D8DFCA0E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149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60103-A59A-4875-95D5-97C2D8DFCA0E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30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60103-A59A-4875-95D5-97C2D8DFCA0E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7136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60103-A59A-4875-95D5-97C2D8DFCA0E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448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60103-A59A-4875-95D5-97C2D8DFCA0E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99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60103-A59A-4875-95D5-97C2D8DFCA0E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892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60103-A59A-4875-95D5-97C2D8DFCA0E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322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60103-A59A-4875-95D5-97C2D8DFCA0E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455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60103-A59A-4875-95D5-97C2D8DFCA0E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19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60103-A59A-4875-95D5-97C2D8DFCA0E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190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_alt1">
  <p:cSld name="Section header_alt1">
    <p:bg>
      <p:bgPr>
        <a:solidFill>
          <a:srgbClr val="434343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e30b8b7002_0_1151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ge30b8b7002_0_115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0694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e30b8b7002_0_1108"/>
          <p:cNvSpPr txBox="1">
            <a:spLocks noGrp="1"/>
          </p:cNvSpPr>
          <p:nvPr>
            <p:ph type="title"/>
          </p:nvPr>
        </p:nvSpPr>
        <p:spPr>
          <a:xfrm>
            <a:off x="1031600" y="2408600"/>
            <a:ext cx="101289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e30b8b7002_0_110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61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448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4A3BD-212B-4AB8-8C5B-A0BBC6106655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4F42D-0DBD-472C-8C4E-B984E0B04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61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  <p:sldLayoutId id="21474839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-ieee-org.libdb.njit.edu:8443/xpl/conhome/8422007/proceeding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hyperlink" Target="https://ieeexplore-ieee-org.libdb.njit.edu:8443/document/8440354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.png"/><Relationship Id="rId5" Type="http://schemas.openxmlformats.org/officeDocument/2006/relationships/audio" Target="../media/audio1.wav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4.png"/><Relationship Id="rId5" Type="http://schemas.openxmlformats.org/officeDocument/2006/relationships/image" Target="../media/image250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0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7" Type="http://schemas.openxmlformats.org/officeDocument/2006/relationships/image" Target="../media/image33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0.png"/><Relationship Id="rId7" Type="http://schemas.openxmlformats.org/officeDocument/2006/relationships/image" Target="../media/image4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2.emf"/><Relationship Id="rId7" Type="http://schemas.openxmlformats.org/officeDocument/2006/relationships/image" Target="../media/image45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47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64.png"/><Relationship Id="rId7" Type="http://schemas.openxmlformats.org/officeDocument/2006/relationships/image" Target="../media/image57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gif"/><Relationship Id="rId2" Type="http://schemas.openxmlformats.org/officeDocument/2006/relationships/hyperlink" Target="https://www.sciencedirect.com/science/article/pii/S1474034617305359" TargetMode="Externa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themeOverride" Target="../theme/themeOverride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7CE5FE-7D60-4FFD-911B-1CFFE427A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633" y="599090"/>
            <a:ext cx="11678651" cy="5528994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CS 634 Data Mining Term Paper</a:t>
            </a:r>
          </a:p>
          <a:p>
            <a:r>
              <a:rPr lang="en-US" sz="2800" dirty="0"/>
              <a:t>Professor: Jason Wang</a:t>
            </a:r>
          </a:p>
          <a:p>
            <a:r>
              <a:rPr lang="en-US" sz="2800" dirty="0"/>
              <a:t>Student Name: YuQing Ding </a:t>
            </a:r>
          </a:p>
          <a:p>
            <a:r>
              <a:rPr lang="en-US" sz="2800" dirty="0"/>
              <a:t>(UCID: yxd1372 @njit.edu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Original Review Paper Title</a:t>
            </a:r>
          </a:p>
          <a:p>
            <a:r>
              <a:rPr lang="en-US" dirty="0"/>
              <a:t>Distribution Network Outage Data Analysis and Repair Time Prediction </a:t>
            </a:r>
          </a:p>
          <a:p>
            <a:r>
              <a:rPr lang="en-US" dirty="0"/>
              <a:t>Using Deep Learning</a:t>
            </a:r>
          </a:p>
          <a:p>
            <a:r>
              <a:rPr lang="en-US" dirty="0"/>
              <a:t>Authors:  </a:t>
            </a:r>
            <a:r>
              <a:rPr lang="en-US" dirty="0" err="1"/>
              <a:t>Anmar</a:t>
            </a:r>
            <a:r>
              <a:rPr lang="en-US" dirty="0"/>
              <a:t> </a:t>
            </a:r>
            <a:r>
              <a:rPr lang="en-US" dirty="0" err="1"/>
              <a:t>Arif</a:t>
            </a:r>
            <a:r>
              <a:rPr lang="en-US" dirty="0"/>
              <a:t>, </a:t>
            </a:r>
            <a:r>
              <a:rPr lang="en-US" dirty="0" err="1"/>
              <a:t>Zhaoyu</a:t>
            </a:r>
            <a:r>
              <a:rPr lang="en-US" dirty="0"/>
              <a:t> Wang</a:t>
            </a:r>
          </a:p>
          <a:p>
            <a:pPr marL="0" marR="0" algn="l">
              <a:spcBef>
                <a:spcPts val="900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Published Year: </a:t>
            </a:r>
            <a:r>
              <a:rPr lang="en-US" sz="180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 	2018</a:t>
            </a:r>
            <a:endParaRPr lang="en-US" sz="1800" dirty="0">
              <a:solidFill>
                <a:schemeClr val="bg2">
                  <a:lumMod val="20000"/>
                  <a:lumOff val="8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900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ato" panose="020F0502020204030203" pitchFamily="34" charset="0"/>
              </a:rPr>
              <a:t>Conference</a:t>
            </a:r>
            <a:r>
              <a:rPr lang="en-US" sz="1800" b="1" dirty="0">
                <a:solidFill>
                  <a:srgbClr val="2D3B45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: 	</a:t>
            </a:r>
            <a:r>
              <a:rPr lang="en-US" sz="1800" u="sng" dirty="0">
                <a:solidFill>
                  <a:srgbClr val="236FA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hlinkClick r:id="rId3"/>
              </a:rPr>
              <a:t>2018 IEEE International Conference on Probabilistic Methods Applied to Power Systems (</a:t>
            </a:r>
            <a:r>
              <a:rPr lang="en-US" sz="1800" u="sng" dirty="0" err="1">
                <a:solidFill>
                  <a:srgbClr val="236FA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hlinkClick r:id="rId3"/>
              </a:rPr>
              <a:t>PMAPS</a:t>
            </a:r>
            <a:r>
              <a:rPr lang="en-US" sz="1800" u="sng" dirty="0">
                <a:solidFill>
                  <a:srgbClr val="236FA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hlinkClick r:id="rId3"/>
              </a:rPr>
              <a:t>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900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Lato" panose="020F0502020204030203" pitchFamily="34" charset="0"/>
              </a:rPr>
              <a:t>References</a:t>
            </a:r>
            <a:r>
              <a:rPr lang="en-US" sz="1800" b="1" dirty="0">
                <a:solidFill>
                  <a:srgbClr val="2D3B45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rgbClr val="2D3B45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</a:rPr>
              <a:t> 	</a:t>
            </a:r>
            <a:r>
              <a:rPr lang="en-US" sz="1800" u="sng" dirty="0">
                <a:solidFill>
                  <a:srgbClr val="236FA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hlinkClick r:id="rId4"/>
              </a:rPr>
              <a:t>https://ieeexplore-ieee-org.libdb.njit.edu:8443/document/8440354</a:t>
            </a:r>
            <a:r>
              <a:rPr lang="en-US" sz="1800" u="none" strike="noStrike" dirty="0">
                <a:solidFill>
                  <a:srgbClr val="236FA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hlinkClick r:id="rId4"/>
              </a:rPr>
              <a:t> (Links to an external site.)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/>
            <a:endParaRPr lang="en-US" dirty="0"/>
          </a:p>
          <a:p>
            <a:endParaRPr lang="en-US" dirty="0"/>
          </a:p>
        </p:txBody>
      </p:sp>
      <p:sp>
        <p:nvSpPr>
          <p:cNvPr id="2" name="Action Button: Go Forward or Next 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A8E20AF-4025-4CEC-BCC3-54E8E5030004}"/>
              </a:ext>
            </a:extLst>
          </p:cNvPr>
          <p:cNvSpPr/>
          <p:nvPr/>
        </p:nvSpPr>
        <p:spPr>
          <a:xfrm>
            <a:off x="5303519" y="6390750"/>
            <a:ext cx="409381" cy="39188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16E81-A276-44B2-A430-20B8403F8268}"/>
              </a:ext>
            </a:extLst>
          </p:cNvPr>
          <p:cNvSpPr txBox="1"/>
          <p:nvPr/>
        </p:nvSpPr>
        <p:spPr>
          <a:xfrm>
            <a:off x="5788205" y="6431040"/>
            <a:ext cx="2019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Go to Non-trivial example</a:t>
            </a:r>
          </a:p>
        </p:txBody>
      </p:sp>
    </p:spTree>
    <p:extLst>
      <p:ext uri="{BB962C8B-B14F-4D97-AF65-F5344CB8AC3E}">
        <p14:creationId xmlns:p14="http://schemas.microsoft.com/office/powerpoint/2010/main" val="332374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sndAc>
          <p:stSnd>
            <p:snd r:embed="rId2" name="arrow.wav"/>
          </p:stSnd>
        </p:sndAc>
      </p:transition>
    </mc:Choice>
    <mc:Fallback xmlns="">
      <p:transition spd="med">
        <p:fade/>
        <p:sndAc>
          <p:stSnd>
            <p:snd r:embed="rId5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D8D8D8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1"/>
          <p:cNvSpPr txBox="1">
            <a:spLocks noGrp="1"/>
          </p:cNvSpPr>
          <p:nvPr>
            <p:ph type="title"/>
          </p:nvPr>
        </p:nvSpPr>
        <p:spPr>
          <a:xfrm>
            <a:off x="-1" y="0"/>
            <a:ext cx="11617377" cy="46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Distribution Network Outage Data Analysis and Repair Time Prediction Using Deep Learning</a:t>
            </a:r>
          </a:p>
        </p:txBody>
      </p:sp>
      <p:sp>
        <p:nvSpPr>
          <p:cNvPr id="581" name="Google Shape;581;p31"/>
          <p:cNvSpPr txBox="1">
            <a:spLocks noGrp="1"/>
          </p:cNvSpPr>
          <p:nvPr>
            <p:ph type="body" idx="4294967295"/>
          </p:nvPr>
        </p:nvSpPr>
        <p:spPr>
          <a:xfrm>
            <a:off x="0" y="640080"/>
            <a:ext cx="11198225" cy="621792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2133"/>
              </a:spcAft>
              <a:buNone/>
            </a:pPr>
            <a:r>
              <a:rPr lang="en-US" sz="4000" dirty="0">
                <a:solidFill>
                  <a:schemeClr val="tx1"/>
                </a:solidFill>
              </a:rPr>
              <a:t>Power outages in the distribution network</a:t>
            </a:r>
          </a:p>
          <a:p>
            <a:pPr marL="571500" indent="-571500"/>
            <a:r>
              <a:rPr lang="en-US" dirty="0">
                <a:solidFill>
                  <a:schemeClr val="tx1"/>
                </a:solidFill>
              </a:rPr>
              <a:t>6.69 million customers experienced power outages due to Hurricane </a:t>
            </a:r>
            <a:r>
              <a:rPr lang="en-US" dirty="0"/>
              <a:t>Irene</a:t>
            </a:r>
          </a:p>
          <a:p>
            <a:pPr marL="571500" indent="-571500"/>
            <a:r>
              <a:rPr lang="en-US" dirty="0">
                <a:solidFill>
                  <a:schemeClr val="tx1"/>
                </a:solidFill>
              </a:rPr>
              <a:t>8.66 million customers experienced power outages due to Hurricane Sandy</a:t>
            </a:r>
          </a:p>
          <a:p>
            <a:pPr marL="571500" indent="-571500"/>
            <a:r>
              <a:rPr lang="en-US" dirty="0">
                <a:solidFill>
                  <a:schemeClr val="tx1"/>
                </a:solidFill>
              </a:rPr>
              <a:t>Critical for utilities to estimate the repair time for the damaged components</a:t>
            </a:r>
          </a:p>
          <a:p>
            <a:pPr marL="571500" indent="-571500"/>
            <a:r>
              <a:rPr lang="en-US" dirty="0">
                <a:solidFill>
                  <a:schemeClr val="tx1"/>
                </a:solidFill>
              </a:rPr>
              <a:t>Critical for logistics planning and dispatch the crews to restore service</a:t>
            </a:r>
          </a:p>
          <a:p>
            <a:pPr marL="571500" indent="-571500"/>
            <a:r>
              <a:rPr lang="en-US" dirty="0">
                <a:solidFill>
                  <a:schemeClr val="tx1"/>
                </a:solidFill>
              </a:rPr>
              <a:t>Critical for public outreach to inform the public predicted restoration time</a:t>
            </a:r>
          </a:p>
          <a:p>
            <a:pPr marL="571500" indent="-571500">
              <a:spcAft>
                <a:spcPts val="2133"/>
              </a:spcAft>
            </a:pPr>
            <a:endParaRPr lang="en-US" dirty="0">
              <a:solidFill>
                <a:schemeClr val="tx1"/>
              </a:solidFill>
            </a:endParaRPr>
          </a:p>
          <a:p>
            <a:pPr marL="571500" indent="-571500">
              <a:spcAft>
                <a:spcPts val="2133"/>
              </a:spcAft>
            </a:pPr>
            <a:endParaRPr lang="en-US" sz="4000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D8D8D8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1"/>
          <p:cNvSpPr txBox="1">
            <a:spLocks noGrp="1"/>
          </p:cNvSpPr>
          <p:nvPr>
            <p:ph type="title"/>
          </p:nvPr>
        </p:nvSpPr>
        <p:spPr>
          <a:xfrm>
            <a:off x="-1" y="0"/>
            <a:ext cx="11617377" cy="46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Distribution Network Outage Data Analysis and Repair Time Prediction Using Deep Learning</a:t>
            </a:r>
          </a:p>
        </p:txBody>
      </p:sp>
      <p:sp>
        <p:nvSpPr>
          <p:cNvPr id="581" name="Google Shape;581;p31"/>
          <p:cNvSpPr txBox="1">
            <a:spLocks noGrp="1"/>
          </p:cNvSpPr>
          <p:nvPr>
            <p:ph type="body" idx="4294967295"/>
          </p:nvPr>
        </p:nvSpPr>
        <p:spPr>
          <a:xfrm>
            <a:off x="0" y="779463"/>
            <a:ext cx="11198225" cy="580072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230438" indent="-2230438">
              <a:spcBef>
                <a:spcPts val="0"/>
              </a:spcBef>
              <a:spcAft>
                <a:spcPts val="2133"/>
              </a:spcAft>
              <a:buNone/>
            </a:pPr>
            <a:r>
              <a:rPr lang="en-US" sz="4000" dirty="0">
                <a:solidFill>
                  <a:srgbClr val="FF0000"/>
                </a:solidFill>
              </a:rPr>
              <a:t>Data Set: 6-year power outrage data of a US utility including major storms</a:t>
            </a:r>
          </a:p>
          <a:p>
            <a:pPr marL="571500" indent="-571500"/>
            <a:r>
              <a:rPr lang="en-US" dirty="0">
                <a:solidFill>
                  <a:schemeClr val="tx1"/>
                </a:solidFill>
              </a:rPr>
              <a:t>statistical analysis of outages in different weather events</a:t>
            </a:r>
          </a:p>
          <a:p>
            <a:pPr marL="571500" indent="-571500"/>
            <a:r>
              <a:rPr lang="en-US" dirty="0">
                <a:solidFill>
                  <a:schemeClr val="tx1"/>
                </a:solidFill>
              </a:rPr>
              <a:t>Deep Neural Network (</a:t>
            </a:r>
            <a:r>
              <a:rPr lang="en-US" dirty="0" err="1">
                <a:solidFill>
                  <a:schemeClr val="tx1"/>
                </a:solidFill>
              </a:rPr>
              <a:t>DNN</a:t>
            </a:r>
            <a:r>
              <a:rPr lang="en-US" dirty="0">
                <a:solidFill>
                  <a:schemeClr val="tx1"/>
                </a:solidFill>
              </a:rPr>
              <a:t>) is used to predict the repair and restoration times </a:t>
            </a:r>
          </a:p>
          <a:p>
            <a:pPr marL="571500" indent="-571500"/>
            <a:r>
              <a:rPr lang="en-US" dirty="0">
                <a:solidFill>
                  <a:schemeClr val="tx1"/>
                </a:solidFill>
              </a:rPr>
              <a:t>DNN training with 1-5 year outrage data and DNN prediction with 6</a:t>
            </a:r>
            <a:r>
              <a:rPr lang="en-US" baseline="30000" dirty="0">
                <a:solidFill>
                  <a:schemeClr val="tx1"/>
                </a:solidFill>
              </a:rPr>
              <a:t>th</a:t>
            </a:r>
            <a:r>
              <a:rPr lang="en-US" dirty="0">
                <a:solidFill>
                  <a:schemeClr val="tx1"/>
                </a:solidFill>
              </a:rPr>
              <a:t> year outrage data</a:t>
            </a:r>
          </a:p>
          <a:p>
            <a:pPr marL="571500" indent="-571500"/>
            <a:r>
              <a:rPr lang="en-US" dirty="0">
                <a:solidFill>
                  <a:schemeClr val="tx1"/>
                </a:solidFill>
              </a:rPr>
              <a:t>Benefit of DNN in prediction as compared to other prediction models. </a:t>
            </a:r>
          </a:p>
        </p:txBody>
      </p:sp>
    </p:spTree>
    <p:extLst>
      <p:ext uri="{BB962C8B-B14F-4D97-AF65-F5344CB8AC3E}">
        <p14:creationId xmlns:p14="http://schemas.microsoft.com/office/powerpoint/2010/main" val="67285839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D8D8D8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1481D50-865C-478A-BD6E-65526D4BA500}"/>
              </a:ext>
            </a:extLst>
          </p:cNvPr>
          <p:cNvGrpSpPr/>
          <p:nvPr/>
        </p:nvGrpSpPr>
        <p:grpSpPr>
          <a:xfrm>
            <a:off x="8127793" y="4494316"/>
            <a:ext cx="927480" cy="1068289"/>
            <a:chOff x="-1602037" y="3238272"/>
            <a:chExt cx="927480" cy="1068289"/>
          </a:xfrm>
        </p:grpSpPr>
        <p:pic>
          <p:nvPicPr>
            <p:cNvPr id="18" name="Graphic 17" descr="Brainstorm outline">
              <a:extLst>
                <a:ext uri="{FF2B5EF4-FFF2-40B4-BE49-F238E27FC236}">
                  <a16:creationId xmlns:a16="http://schemas.microsoft.com/office/drawing/2014/main" id="{9E0DF8AC-8179-45AB-A82F-9AC2249E3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588957" y="3238272"/>
              <a:ext cx="914400" cy="91440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8725C64-3E8B-4600-80F3-C3A361C704D8}"/>
                </a:ext>
              </a:extLst>
            </p:cNvPr>
            <p:cNvSpPr/>
            <p:nvPr/>
          </p:nvSpPr>
          <p:spPr>
            <a:xfrm>
              <a:off x="-1602037" y="3998784"/>
              <a:ext cx="914400" cy="30777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US" sz="1400" b="1" cap="none" spc="0" dirty="0">
                  <a:ln/>
                  <a:solidFill>
                    <a:srgbClr val="FF0000"/>
                  </a:solidFill>
                  <a:effectLst/>
                  <a:latin typeface="Abadi Extra Light" panose="020B0604020202020204" pitchFamily="34" charset="0"/>
                </a:rPr>
                <a:t>Click me!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0F81F9-B567-435E-B0E4-DBAFE6429E71}"/>
              </a:ext>
            </a:extLst>
          </p:cNvPr>
          <p:cNvGrpSpPr/>
          <p:nvPr/>
        </p:nvGrpSpPr>
        <p:grpSpPr>
          <a:xfrm>
            <a:off x="2549283" y="4494316"/>
            <a:ext cx="927480" cy="1068289"/>
            <a:chOff x="-1602037" y="3238272"/>
            <a:chExt cx="927480" cy="1068289"/>
          </a:xfrm>
        </p:grpSpPr>
        <p:pic>
          <p:nvPicPr>
            <p:cNvPr id="8" name="Graphic 7" descr="Brainstorm outline">
              <a:extLst>
                <a:ext uri="{FF2B5EF4-FFF2-40B4-BE49-F238E27FC236}">
                  <a16:creationId xmlns:a16="http://schemas.microsoft.com/office/drawing/2014/main" id="{5AD135D2-AEBF-4F4A-AC99-8AC8300B8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588957" y="3238272"/>
              <a:ext cx="914400" cy="9144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5557CD-4746-460E-94BC-EB036F4D7E65}"/>
                </a:ext>
              </a:extLst>
            </p:cNvPr>
            <p:cNvSpPr/>
            <p:nvPr/>
          </p:nvSpPr>
          <p:spPr>
            <a:xfrm>
              <a:off x="-1602037" y="3998784"/>
              <a:ext cx="914400" cy="30777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US" sz="1400" b="1" cap="none" spc="0" dirty="0">
                  <a:ln/>
                  <a:solidFill>
                    <a:srgbClr val="FF0000"/>
                  </a:solidFill>
                  <a:effectLst/>
                  <a:latin typeface="Abadi Extra Light" panose="020B0604020202020204" pitchFamily="34" charset="0"/>
                </a:rPr>
                <a:t>Click me!</a:t>
              </a:r>
            </a:p>
          </p:txBody>
        </p:sp>
      </p:grpSp>
      <p:sp>
        <p:nvSpPr>
          <p:cNvPr id="580" name="Google Shape;580;p31"/>
          <p:cNvSpPr txBox="1">
            <a:spLocks noGrp="1"/>
          </p:cNvSpPr>
          <p:nvPr>
            <p:ph type="title"/>
          </p:nvPr>
        </p:nvSpPr>
        <p:spPr>
          <a:xfrm>
            <a:off x="-1" y="0"/>
            <a:ext cx="11617377" cy="46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Distribution Network Outage Data Analysis and Repair Time Prediction Using Deep Learning</a:t>
            </a:r>
          </a:p>
        </p:txBody>
      </p:sp>
      <p:sp>
        <p:nvSpPr>
          <p:cNvPr id="581" name="Google Shape;581;p31"/>
          <p:cNvSpPr txBox="1">
            <a:spLocks noGrp="1"/>
          </p:cNvSpPr>
          <p:nvPr>
            <p:ph type="body" idx="4294967295"/>
          </p:nvPr>
        </p:nvSpPr>
        <p:spPr>
          <a:xfrm>
            <a:off x="49708" y="233800"/>
            <a:ext cx="11407775" cy="580072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US" sz="4000" dirty="0">
                <a:solidFill>
                  <a:srgbClr val="FF0000"/>
                </a:solidFill>
              </a:rPr>
              <a:t>Data analysis to identify inputs w/ high impact</a:t>
            </a:r>
          </a:p>
          <a:p>
            <a:pPr marL="571500" indent="-571500"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Statistical analysis of outages showed the restoration time is highly variable.</a:t>
            </a:r>
          </a:p>
          <a:p>
            <a:pPr marL="571500" indent="-571500"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hlinkClick r:id="" action="ppaction://noaction">
                  <a:snd r:embed="rId5" name="arrow.wav"/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Large</a:t>
            </a:r>
            <a:r>
              <a:rPr lang="en-US" dirty="0">
                <a:solidFill>
                  <a:schemeClr val="tx1"/>
                </a:solidFill>
              </a:rPr>
              <a:t> STD in times of extreme events (e.g. ﬂooding, heavy snow, hurricanes)</a:t>
            </a:r>
          </a:p>
          <a:p>
            <a:pPr marL="571500" indent="-571500"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Dependencies on number of users, circuits failures and weather events.</a:t>
            </a:r>
            <a:endParaRPr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0C8B5E-ACF6-46B0-A04C-90C08504C92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618" b="12363"/>
          <a:stretch/>
        </p:blipFill>
        <p:spPr>
          <a:xfrm>
            <a:off x="940966" y="3861746"/>
            <a:ext cx="4557012" cy="2698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88F112-A2BC-4D64-83B3-3EDD7FA3E9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5946" y="3861746"/>
            <a:ext cx="4557012" cy="273955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39650FA-E1A4-4D98-9A3D-E112C7289F50}"/>
              </a:ext>
            </a:extLst>
          </p:cNvPr>
          <p:cNvGrpSpPr/>
          <p:nvPr/>
        </p:nvGrpSpPr>
        <p:grpSpPr>
          <a:xfrm>
            <a:off x="-1593471" y="3429000"/>
            <a:ext cx="927480" cy="1068289"/>
            <a:chOff x="-1602037" y="3238272"/>
            <a:chExt cx="927480" cy="1068289"/>
          </a:xfrm>
        </p:grpSpPr>
        <p:pic>
          <p:nvPicPr>
            <p:cNvPr id="15" name="Graphic 14" descr="Brainstorm outline">
              <a:extLst>
                <a:ext uri="{FF2B5EF4-FFF2-40B4-BE49-F238E27FC236}">
                  <a16:creationId xmlns:a16="http://schemas.microsoft.com/office/drawing/2014/main" id="{598D7C83-B85E-45EE-B635-3669F09F4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588957" y="3238272"/>
              <a:ext cx="914400" cy="91440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78598D8-23EE-44E5-ABC7-3B447EF51603}"/>
                </a:ext>
              </a:extLst>
            </p:cNvPr>
            <p:cNvSpPr/>
            <p:nvPr/>
          </p:nvSpPr>
          <p:spPr>
            <a:xfrm>
              <a:off x="-1602037" y="3998784"/>
              <a:ext cx="914400" cy="30777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US" sz="1400" b="1" cap="none" spc="0" dirty="0">
                  <a:ln/>
                  <a:solidFill>
                    <a:srgbClr val="FF0000"/>
                  </a:solidFill>
                  <a:effectLst/>
                  <a:latin typeface="Abadi Extra Light" panose="020B0604020202020204" pitchFamily="34" charset="0"/>
                </a:rPr>
                <a:t>Click me!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4764359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D8D8D8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9E94EF-E0D9-4037-AFDF-D9314E380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807" y="4745050"/>
            <a:ext cx="1024217" cy="1146147"/>
          </a:xfrm>
          <a:prstGeom prst="rect">
            <a:avLst/>
          </a:prstGeom>
        </p:spPr>
      </p:pic>
      <p:sp>
        <p:nvSpPr>
          <p:cNvPr id="580" name="Google Shape;580;p31"/>
          <p:cNvSpPr txBox="1">
            <a:spLocks noGrp="1"/>
          </p:cNvSpPr>
          <p:nvPr>
            <p:ph type="title"/>
          </p:nvPr>
        </p:nvSpPr>
        <p:spPr>
          <a:xfrm>
            <a:off x="-1" y="0"/>
            <a:ext cx="11617377" cy="46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Distribution Network Outage Data Analysis and Repair Time Prediction Using Deep Learning</a:t>
            </a:r>
          </a:p>
        </p:txBody>
      </p:sp>
      <p:sp>
        <p:nvSpPr>
          <p:cNvPr id="581" name="Google Shape;581;p31"/>
          <p:cNvSpPr txBox="1">
            <a:spLocks noGrp="1"/>
          </p:cNvSpPr>
          <p:nvPr>
            <p:ph type="body" idx="4294967295"/>
          </p:nvPr>
        </p:nvSpPr>
        <p:spPr>
          <a:xfrm>
            <a:off x="0" y="528638"/>
            <a:ext cx="6445250" cy="615632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US" sz="4000" dirty="0" err="1">
                <a:solidFill>
                  <a:srgbClr val="FF0000"/>
                </a:solidFill>
              </a:rPr>
              <a:t>DNN</a:t>
            </a:r>
            <a:r>
              <a:rPr lang="en-US" sz="4000" dirty="0">
                <a:solidFill>
                  <a:srgbClr val="FF0000"/>
                </a:solidFill>
              </a:rPr>
              <a:t> Model Topology:</a:t>
            </a:r>
          </a:p>
          <a:p>
            <a:pPr marL="290513" indent="-290513"/>
            <a:r>
              <a:rPr lang="en-US" dirty="0">
                <a:solidFill>
                  <a:schemeClr val="tx1"/>
                </a:solidFill>
              </a:rPr>
              <a:t>feed-forward Neural Network with multiple layers</a:t>
            </a:r>
          </a:p>
          <a:p>
            <a:pPr marL="290513" indent="-290513"/>
            <a:r>
              <a:rPr lang="en-US" dirty="0">
                <a:solidFill>
                  <a:schemeClr val="tx1"/>
                </a:solidFill>
              </a:rPr>
              <a:t>multiple hidden layers of nodes (neurons) between the input/output layers</a:t>
            </a:r>
          </a:p>
          <a:p>
            <a:pPr marL="284163" indent="-284163"/>
            <a:r>
              <a:rPr lang="en-US" dirty="0">
                <a:solidFill>
                  <a:schemeClr val="tx1"/>
                </a:solidFill>
              </a:rPr>
              <a:t>353 inputs and 4 hidden layers</a:t>
            </a:r>
          </a:p>
          <a:p>
            <a:pPr marL="284163" indent="-284163"/>
            <a:r>
              <a:rPr lang="en-US" dirty="0">
                <a:solidFill>
                  <a:schemeClr val="tx1"/>
                </a:solidFill>
              </a:rPr>
              <a:t>Activation function is Rectiﬁed Linear Unit (</a:t>
            </a:r>
            <a:r>
              <a:rPr lang="en-US" dirty="0" err="1">
                <a:solidFill>
                  <a:schemeClr val="tx1"/>
                </a:solidFill>
              </a:rPr>
              <a:t>Relu</a:t>
            </a:r>
            <a:r>
              <a:rPr lang="en-US" dirty="0">
                <a:solidFill>
                  <a:schemeClr val="tx1"/>
                </a:solidFill>
              </a:rPr>
              <a:t>): f(x)=max (0,x) </a:t>
            </a:r>
          </a:p>
          <a:p>
            <a:pPr marL="284163" indent="-284163"/>
            <a:r>
              <a:rPr lang="en-US" dirty="0">
                <a:solidFill>
                  <a:schemeClr val="tx1"/>
                </a:solidFill>
              </a:rPr>
              <a:t>Cost Function is error (mean square and abs. error)</a:t>
            </a:r>
            <a:endParaRPr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440EBB-F4DF-4061-A7A6-F0DCD6292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130" y="1577591"/>
            <a:ext cx="5892870" cy="52804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3A3953-CC81-468A-B1C0-63558E97AAF8}"/>
                  </a:ext>
                </a:extLst>
              </p:cNvPr>
              <p:cNvSpPr txBox="1"/>
              <p:nvPr/>
            </p:nvSpPr>
            <p:spPr>
              <a:xfrm>
                <a:off x="2980394" y="5971108"/>
                <a:ext cx="3706011" cy="808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𝑊𝑒𝑖𝑔h𝑡𝑠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𝑜𝑢𝑡𝑝𝑢𝑡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3A3953-CC81-468A-B1C0-63558E97A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394" y="5971108"/>
                <a:ext cx="3706011" cy="8080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1419FF-7464-40AA-83B1-A2285CF6ED55}"/>
                  </a:ext>
                </a:extLst>
              </p:cNvPr>
              <p:cNvSpPr txBox="1"/>
              <p:nvPr/>
            </p:nvSpPr>
            <p:spPr>
              <a:xfrm>
                <a:off x="0" y="6006699"/>
                <a:ext cx="3706011" cy="808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𝑊𝑒𝑖𝑔h𝑡𝑠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𝑜𝑢𝑡𝑝𝑢𝑡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1419FF-7464-40AA-83B1-A2285CF6E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06699"/>
                <a:ext cx="3706011" cy="8080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45815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D8D8D8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1"/>
          <p:cNvSpPr txBox="1">
            <a:spLocks noGrp="1"/>
          </p:cNvSpPr>
          <p:nvPr>
            <p:ph type="title"/>
          </p:nvPr>
        </p:nvSpPr>
        <p:spPr>
          <a:xfrm>
            <a:off x="-1" y="0"/>
            <a:ext cx="11617377" cy="46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Distribution Network Outage Data Analysis and Repair Time Prediction Using Deep Learning</a:t>
            </a:r>
          </a:p>
        </p:txBody>
      </p:sp>
      <p:sp>
        <p:nvSpPr>
          <p:cNvPr id="581" name="Google Shape;581;p31"/>
          <p:cNvSpPr txBox="1">
            <a:spLocks noGrp="1"/>
          </p:cNvSpPr>
          <p:nvPr>
            <p:ph type="body" idx="4294967295"/>
          </p:nvPr>
        </p:nvSpPr>
        <p:spPr>
          <a:xfrm>
            <a:off x="0" y="233800"/>
            <a:ext cx="11407775" cy="580072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US" sz="4000" dirty="0" err="1">
                <a:solidFill>
                  <a:srgbClr val="FF0000"/>
                </a:solidFill>
              </a:rPr>
              <a:t>DNN</a:t>
            </a:r>
            <a:r>
              <a:rPr lang="en-US" sz="4000" dirty="0">
                <a:solidFill>
                  <a:srgbClr val="FF0000"/>
                </a:solidFill>
              </a:rPr>
              <a:t> Training Data Set (1-5</a:t>
            </a:r>
            <a:r>
              <a:rPr lang="en-US" sz="4000" baseline="30000" dirty="0">
                <a:solidFill>
                  <a:srgbClr val="FF0000"/>
                </a:solidFill>
              </a:rPr>
              <a:t>th</a:t>
            </a:r>
            <a:r>
              <a:rPr lang="en-US" sz="4000" dirty="0">
                <a:solidFill>
                  <a:srgbClr val="FF0000"/>
                </a:solidFill>
              </a:rPr>
              <a:t> year)</a:t>
            </a:r>
          </a:p>
          <a:p>
            <a:pPr marL="571500" indent="-571500"/>
            <a:r>
              <a:rPr lang="en-US" dirty="0">
                <a:solidFill>
                  <a:schemeClr val="tx1"/>
                </a:solidFill>
              </a:rPr>
              <a:t>algorithm for the ﬁrst-order gradient-based optimization of stochastic objective functions. </a:t>
            </a:r>
          </a:p>
          <a:p>
            <a:pPr marL="571500" indent="-571500"/>
            <a:r>
              <a:rPr lang="en-US" dirty="0">
                <a:solidFill>
                  <a:schemeClr val="tx1"/>
                </a:solidFill>
              </a:rPr>
              <a:t>The performance of the network stopped improving signiﬁcantly after 4000 and 2400 epochs for the repair time and restoration time, respectively. </a:t>
            </a:r>
          </a:p>
          <a:p>
            <a:pPr marL="571500" indent="-571500">
              <a:spcAft>
                <a:spcPts val="2133"/>
              </a:spcAft>
            </a:pPr>
            <a:endParaRPr sz="40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50877-5B4F-4D09-A116-6E87FF16ED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81"/>
          <a:stretch/>
        </p:blipFill>
        <p:spPr>
          <a:xfrm>
            <a:off x="2061146" y="3594546"/>
            <a:ext cx="7495082" cy="293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524635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D8D8D8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0CC7A8-93CC-45A1-8A5D-531281C7525E}"/>
              </a:ext>
            </a:extLst>
          </p:cNvPr>
          <p:cNvGrpSpPr/>
          <p:nvPr/>
        </p:nvGrpSpPr>
        <p:grpSpPr>
          <a:xfrm>
            <a:off x="2588318" y="4189512"/>
            <a:ext cx="927480" cy="1068289"/>
            <a:chOff x="-1602037" y="3238272"/>
            <a:chExt cx="927480" cy="1068289"/>
          </a:xfrm>
        </p:grpSpPr>
        <p:pic>
          <p:nvPicPr>
            <p:cNvPr id="10" name="Graphic 9" descr="Brainstorm outline">
              <a:extLst>
                <a:ext uri="{FF2B5EF4-FFF2-40B4-BE49-F238E27FC236}">
                  <a16:creationId xmlns:a16="http://schemas.microsoft.com/office/drawing/2014/main" id="{002B7FA3-E47E-4F1D-B7CD-4E10D8162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588957" y="3238272"/>
              <a:ext cx="914400" cy="9144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314A9E-69DF-45A2-B6FB-B0AA6E37E1CC}"/>
                </a:ext>
              </a:extLst>
            </p:cNvPr>
            <p:cNvSpPr/>
            <p:nvPr/>
          </p:nvSpPr>
          <p:spPr>
            <a:xfrm>
              <a:off x="-1602037" y="3998784"/>
              <a:ext cx="914400" cy="30777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US" sz="1400" b="1" cap="none" spc="0" dirty="0">
                  <a:ln/>
                  <a:solidFill>
                    <a:srgbClr val="FF0000"/>
                  </a:solidFill>
                  <a:effectLst/>
                  <a:latin typeface="Abadi Extra Light" panose="020B0604020202020204" pitchFamily="34" charset="0"/>
                </a:rPr>
                <a:t>Click me!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C29CD9D-3D18-4F52-BAA0-A077DE4F4F45}"/>
              </a:ext>
            </a:extLst>
          </p:cNvPr>
          <p:cNvGrpSpPr/>
          <p:nvPr/>
        </p:nvGrpSpPr>
        <p:grpSpPr>
          <a:xfrm>
            <a:off x="8776136" y="4189512"/>
            <a:ext cx="927480" cy="1068289"/>
            <a:chOff x="-1602037" y="3238272"/>
            <a:chExt cx="927480" cy="1068289"/>
          </a:xfrm>
        </p:grpSpPr>
        <p:pic>
          <p:nvPicPr>
            <p:cNvPr id="16" name="Graphic 15" descr="Brainstorm outline">
              <a:extLst>
                <a:ext uri="{FF2B5EF4-FFF2-40B4-BE49-F238E27FC236}">
                  <a16:creationId xmlns:a16="http://schemas.microsoft.com/office/drawing/2014/main" id="{82A7DFFD-0BF9-4398-A6D9-2FD0FE63C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588957" y="3238272"/>
              <a:ext cx="914400" cy="91440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46DD388-F845-43B0-B2A4-D1F514779660}"/>
                </a:ext>
              </a:extLst>
            </p:cNvPr>
            <p:cNvSpPr/>
            <p:nvPr/>
          </p:nvSpPr>
          <p:spPr>
            <a:xfrm>
              <a:off x="-1602037" y="3998784"/>
              <a:ext cx="914400" cy="30777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US" sz="1400" b="1" cap="none" spc="0" dirty="0">
                  <a:ln/>
                  <a:solidFill>
                    <a:srgbClr val="FF0000"/>
                  </a:solidFill>
                  <a:effectLst/>
                  <a:latin typeface="Abadi Extra Light" panose="020B0604020202020204" pitchFamily="34" charset="0"/>
                </a:rPr>
                <a:t>Click me!</a:t>
              </a:r>
            </a:p>
          </p:txBody>
        </p:sp>
      </p:grpSp>
      <p:sp>
        <p:nvSpPr>
          <p:cNvPr id="580" name="Google Shape;580;p31"/>
          <p:cNvSpPr txBox="1">
            <a:spLocks noGrp="1"/>
          </p:cNvSpPr>
          <p:nvPr>
            <p:ph type="title"/>
          </p:nvPr>
        </p:nvSpPr>
        <p:spPr>
          <a:xfrm>
            <a:off x="-1" y="0"/>
            <a:ext cx="11617377" cy="46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Distribution Network Outage Data Analysis and Repair Time Prediction Using Deep Learning</a:t>
            </a:r>
          </a:p>
        </p:txBody>
      </p:sp>
      <p:sp>
        <p:nvSpPr>
          <p:cNvPr id="581" name="Google Shape;581;p31"/>
          <p:cNvSpPr txBox="1">
            <a:spLocks noGrp="1"/>
          </p:cNvSpPr>
          <p:nvPr>
            <p:ph type="body" idx="4294967295"/>
          </p:nvPr>
        </p:nvSpPr>
        <p:spPr>
          <a:xfrm>
            <a:off x="0" y="319788"/>
            <a:ext cx="11407775" cy="231616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US" sz="4000" dirty="0" err="1">
                <a:solidFill>
                  <a:srgbClr val="FF0000"/>
                </a:solidFill>
              </a:rPr>
              <a:t>DNN</a:t>
            </a:r>
            <a:r>
              <a:rPr lang="en-US" sz="4000" dirty="0">
                <a:solidFill>
                  <a:srgbClr val="FF0000"/>
                </a:solidFill>
              </a:rPr>
              <a:t> Prediction Data Set (6</a:t>
            </a:r>
            <a:r>
              <a:rPr lang="en-US" sz="4000" baseline="30000" dirty="0">
                <a:solidFill>
                  <a:srgbClr val="FF0000"/>
                </a:solidFill>
              </a:rPr>
              <a:t>th</a:t>
            </a:r>
            <a:r>
              <a:rPr lang="en-US" sz="4000" dirty="0">
                <a:solidFill>
                  <a:srgbClr val="FF0000"/>
                </a:solidFill>
              </a:rPr>
              <a:t> year)</a:t>
            </a:r>
          </a:p>
          <a:p>
            <a:pPr marL="571500" indent="-571500"/>
            <a:r>
              <a:rPr lang="en-US" dirty="0">
                <a:solidFill>
                  <a:schemeClr val="tx1"/>
                </a:solidFill>
              </a:rPr>
              <a:t>MAE is 0.32 hours and 2.2 hours for the repair time and restoration times.</a:t>
            </a:r>
          </a:p>
          <a:p>
            <a:pPr marL="571500" indent="-571500"/>
            <a:r>
              <a:rPr lang="en-US" dirty="0" err="1">
                <a:solidFill>
                  <a:schemeClr val="tx1"/>
                </a:solidFill>
              </a:rPr>
              <a:t>DNN</a:t>
            </a:r>
            <a:r>
              <a:rPr lang="en-US" dirty="0">
                <a:solidFill>
                  <a:schemeClr val="tx1"/>
                </a:solidFill>
              </a:rPr>
              <a:t> to predict repair time outperforms the restoration time due to less STD.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4A4D28-967C-4BEF-95BF-D8F83745D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859" y="3192380"/>
            <a:ext cx="5920261" cy="3465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211A28-63ED-4D88-BB3E-E065433B392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3522"/>
          <a:stretch/>
        </p:blipFill>
        <p:spPr>
          <a:xfrm>
            <a:off x="6287753" y="3199470"/>
            <a:ext cx="5904247" cy="346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97770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80;p31">
            <a:extLst>
              <a:ext uri="{FF2B5EF4-FFF2-40B4-BE49-F238E27FC236}">
                <a16:creationId xmlns:a16="http://schemas.microsoft.com/office/drawing/2014/main" id="{29D840D7-A299-47A2-A3C9-25598D0583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" y="0"/>
            <a:ext cx="11617377" cy="46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20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graphicFrame>
        <p:nvGraphicFramePr>
          <p:cNvPr id="6" name="Google Shape;581;p31">
            <a:extLst>
              <a:ext uri="{FF2B5EF4-FFF2-40B4-BE49-F238E27FC236}">
                <a16:creationId xmlns:a16="http://schemas.microsoft.com/office/drawing/2014/main" id="{3EE9FBAA-B44E-2C83-BEE4-4F1FBC7EFC53}"/>
              </a:ext>
            </a:extLst>
          </p:cNvPr>
          <p:cNvGraphicFramePr/>
          <p:nvPr/>
        </p:nvGraphicFramePr>
        <p:xfrm>
          <a:off x="1145513" y="1856711"/>
          <a:ext cx="9487125" cy="3144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5308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8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FE62004-DCB7-4D10-9895-7670D05E590A}"/>
              </a:ext>
            </a:extLst>
          </p:cNvPr>
          <p:cNvGrpSpPr/>
          <p:nvPr/>
        </p:nvGrpSpPr>
        <p:grpSpPr>
          <a:xfrm>
            <a:off x="1672833" y="2077034"/>
            <a:ext cx="1044316" cy="2730269"/>
            <a:chOff x="1014333" y="2708279"/>
            <a:chExt cx="1044316" cy="273026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C83F6C-A5E0-4AA7-8DCD-7BC82DFAD272}"/>
                </a:ext>
              </a:extLst>
            </p:cNvPr>
            <p:cNvSpPr/>
            <p:nvPr/>
          </p:nvSpPr>
          <p:spPr>
            <a:xfrm>
              <a:off x="1014333" y="2708279"/>
              <a:ext cx="1044316" cy="273026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5400FC-AC42-49BA-A268-0CA672628F93}"/>
                </a:ext>
              </a:extLst>
            </p:cNvPr>
            <p:cNvSpPr/>
            <p:nvPr/>
          </p:nvSpPr>
          <p:spPr>
            <a:xfrm>
              <a:off x="1218634" y="2869785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C63C45A-0DCC-4123-85FB-05596329D064}"/>
                </a:ext>
              </a:extLst>
            </p:cNvPr>
            <p:cNvSpPr/>
            <p:nvPr/>
          </p:nvSpPr>
          <p:spPr>
            <a:xfrm>
              <a:off x="1218634" y="3708607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5F3FDBA-F486-4C7D-8C66-A77DB528CF92}"/>
                </a:ext>
              </a:extLst>
            </p:cNvPr>
            <p:cNvSpPr/>
            <p:nvPr/>
          </p:nvSpPr>
          <p:spPr>
            <a:xfrm>
              <a:off x="1218634" y="4547429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48CA78-1617-4BF3-BA5A-97A886C92A65}"/>
              </a:ext>
            </a:extLst>
          </p:cNvPr>
          <p:cNvGrpSpPr/>
          <p:nvPr/>
        </p:nvGrpSpPr>
        <p:grpSpPr>
          <a:xfrm>
            <a:off x="9792708" y="2123188"/>
            <a:ext cx="1044316" cy="2156310"/>
            <a:chOff x="10655509" y="3580927"/>
            <a:chExt cx="1044316" cy="21563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86F054-1A7C-466E-B619-D7F8B77A84A8}"/>
                </a:ext>
              </a:extLst>
            </p:cNvPr>
            <p:cNvSpPr/>
            <p:nvPr/>
          </p:nvSpPr>
          <p:spPr>
            <a:xfrm>
              <a:off x="10655509" y="3580927"/>
              <a:ext cx="1044316" cy="215631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ED28E18-0B22-4648-ABFC-0CC63D60BAFA}"/>
                </a:ext>
              </a:extLst>
            </p:cNvPr>
            <p:cNvSpPr/>
            <p:nvPr/>
          </p:nvSpPr>
          <p:spPr>
            <a:xfrm>
              <a:off x="10881273" y="3919782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2C8813D-DCF1-48E8-B72E-93BB35D2493E}"/>
                </a:ext>
              </a:extLst>
            </p:cNvPr>
            <p:cNvSpPr/>
            <p:nvPr/>
          </p:nvSpPr>
          <p:spPr>
            <a:xfrm>
              <a:off x="10881273" y="4758604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F56135-B24C-4DBA-8AD2-075DCA53A1A5}"/>
              </a:ext>
            </a:extLst>
          </p:cNvPr>
          <p:cNvGrpSpPr/>
          <p:nvPr/>
        </p:nvGrpSpPr>
        <p:grpSpPr>
          <a:xfrm>
            <a:off x="4138731" y="2028335"/>
            <a:ext cx="1044316" cy="2730269"/>
            <a:chOff x="1014333" y="2708279"/>
            <a:chExt cx="1044316" cy="273026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ED5D87-3453-431E-A7FD-B2D42EC2BF80}"/>
                </a:ext>
              </a:extLst>
            </p:cNvPr>
            <p:cNvSpPr/>
            <p:nvPr/>
          </p:nvSpPr>
          <p:spPr>
            <a:xfrm>
              <a:off x="1014333" y="2708279"/>
              <a:ext cx="1044316" cy="273026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D6A22C8-2F51-4214-8673-CC1848AD8812}"/>
                </a:ext>
              </a:extLst>
            </p:cNvPr>
            <p:cNvSpPr/>
            <p:nvPr/>
          </p:nvSpPr>
          <p:spPr>
            <a:xfrm>
              <a:off x="1218634" y="2839805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1A7328A-A4FF-46FF-9A54-9C1881C6CB9C}"/>
                </a:ext>
              </a:extLst>
            </p:cNvPr>
            <p:cNvSpPr/>
            <p:nvPr/>
          </p:nvSpPr>
          <p:spPr>
            <a:xfrm>
              <a:off x="1218634" y="3708607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0F511E6-C143-4D4C-AF1B-C406CCC38AAB}"/>
                </a:ext>
              </a:extLst>
            </p:cNvPr>
            <p:cNvSpPr/>
            <p:nvPr/>
          </p:nvSpPr>
          <p:spPr>
            <a:xfrm>
              <a:off x="1218634" y="4577409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</p:grpSp>
      <p:sp>
        <p:nvSpPr>
          <p:cNvPr id="4" name="Google Shape;581;p31">
            <a:extLst>
              <a:ext uri="{FF2B5EF4-FFF2-40B4-BE49-F238E27FC236}">
                <a16:creationId xmlns:a16="http://schemas.microsoft.com/office/drawing/2014/main" id="{2B407C98-F9DE-4DB5-802E-23615E8FAB19}"/>
              </a:ext>
            </a:extLst>
          </p:cNvPr>
          <p:cNvSpPr txBox="1">
            <a:spLocks/>
          </p:cNvSpPr>
          <p:nvPr/>
        </p:nvSpPr>
        <p:spPr>
          <a:xfrm>
            <a:off x="467580" y="585199"/>
            <a:ext cx="11182013" cy="11448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defTabSz="914400">
              <a:spcAft>
                <a:spcPts val="2133"/>
              </a:spcAft>
              <a:buNone/>
            </a:pPr>
            <a:r>
              <a:rPr lang="en-US" b="0" i="0" dirty="0">
                <a:solidFill>
                  <a:srgbClr val="7030A0"/>
                </a:solidFill>
                <a:effectLst/>
                <a:latin typeface="Open Sans" panose="020B0606030504020204" pitchFamily="34" charset="0"/>
              </a:rPr>
              <a:t>Deep neural network has multiple hidden layers. ‘Deep’ </a:t>
            </a:r>
            <a:r>
              <a:rPr lang="en-US" dirty="0">
                <a:solidFill>
                  <a:srgbClr val="7030A0"/>
                </a:solidFill>
                <a:latin typeface="Open Sans" panose="020B0606030504020204" pitchFamily="34" charset="0"/>
              </a:rPr>
              <a:t>means </a:t>
            </a:r>
            <a:r>
              <a:rPr lang="en-US" b="0" i="0" dirty="0">
                <a:solidFill>
                  <a:srgbClr val="7030A0"/>
                </a:solidFill>
                <a:effectLst/>
                <a:latin typeface="Open Sans" panose="020B0606030504020204" pitchFamily="34" charset="0"/>
              </a:rPr>
              <a:t>multiple layers deep.</a:t>
            </a:r>
            <a:endParaRPr lang="en-US" kern="0" dirty="0">
              <a:solidFill>
                <a:srgbClr val="7030A0"/>
              </a:solidFill>
            </a:endParaRPr>
          </a:p>
        </p:txBody>
      </p:sp>
      <p:sp>
        <p:nvSpPr>
          <p:cNvPr id="5" name="Google Shape;580;p31">
            <a:extLst>
              <a:ext uri="{FF2B5EF4-FFF2-40B4-BE49-F238E27FC236}">
                <a16:creationId xmlns:a16="http://schemas.microsoft.com/office/drawing/2014/main" id="{788AF672-AC17-4BF4-83A0-2025DF4F8DAB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5D149-AFFD-4A98-9511-A8F1709FB24B}"/>
              </a:ext>
            </a:extLst>
          </p:cNvPr>
          <p:cNvSpPr txBox="1"/>
          <p:nvPr/>
        </p:nvSpPr>
        <p:spPr>
          <a:xfrm>
            <a:off x="1920974" y="2238540"/>
            <a:ext cx="734518" cy="213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X1</a:t>
            </a:r>
          </a:p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X2</a:t>
            </a:r>
          </a:p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X3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195E71-1502-4846-898E-0BAAABEC5779}"/>
              </a:ext>
            </a:extLst>
          </p:cNvPr>
          <p:cNvSpPr txBox="1"/>
          <p:nvPr/>
        </p:nvSpPr>
        <p:spPr>
          <a:xfrm>
            <a:off x="10102506" y="2563327"/>
            <a:ext cx="734518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b="1" dirty="0">
                <a:latin typeface="Modern Love Grunge" panose="020B0604020202020204" pitchFamily="82" charset="0"/>
                <a:ea typeface="Adobe Ming Std L" panose="02020300000000000000" pitchFamily="18" charset="-128"/>
              </a:rPr>
              <a:t>Y1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Modern Love Grunge" panose="020B0604020202020204" pitchFamily="82" charset="0"/>
                <a:ea typeface="Adobe Ming Std L" panose="02020300000000000000" pitchFamily="18" charset="-128"/>
              </a:rPr>
              <a:t>Y2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44EF3C-F1F3-4416-A5BC-C6C507AE2E40}"/>
                  </a:ext>
                </a:extLst>
              </p:cNvPr>
              <p:cNvSpPr txBox="1"/>
              <p:nvPr/>
            </p:nvSpPr>
            <p:spPr>
              <a:xfrm>
                <a:off x="4309332" y="1843009"/>
                <a:ext cx="734518" cy="284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𝟐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p>
                      </m:sSubSup>
                      <m:r>
                        <a:rPr lang="en-US" sz="2800" b="1" i="1" smtClean="0">
                          <a:latin typeface="Cambria Math" panose="02040503050406030204" pitchFamily="18" charset="0"/>
                          <a:ea typeface="Adobe Gothic Std B" panose="020B0800000000000000" pitchFamily="34" charset="-128"/>
                        </a:rPr>
                        <m:t> 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𝟑</m:t>
                          </m:r>
                        </m:sub>
                        <m:sup>
                          <m:r>
                            <a:rPr lang="en-US" sz="2800" b="1" i="1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44EF3C-F1F3-4416-A5BC-C6C507AE2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332" y="1843009"/>
                <a:ext cx="734518" cy="28487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750CE0F6-5C54-4518-B203-68306034F515}"/>
              </a:ext>
            </a:extLst>
          </p:cNvPr>
          <p:cNvGrpSpPr/>
          <p:nvPr/>
        </p:nvGrpSpPr>
        <p:grpSpPr>
          <a:xfrm>
            <a:off x="6604867" y="2002317"/>
            <a:ext cx="1044316" cy="2730269"/>
            <a:chOff x="1014333" y="2708279"/>
            <a:chExt cx="1044316" cy="273026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AAC882D-6E24-4BAA-A8CF-9213433AD34B}"/>
                </a:ext>
              </a:extLst>
            </p:cNvPr>
            <p:cNvSpPr/>
            <p:nvPr/>
          </p:nvSpPr>
          <p:spPr>
            <a:xfrm>
              <a:off x="1014333" y="2708279"/>
              <a:ext cx="1044316" cy="273026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6C3DAA9-8C65-49B2-8978-718CEABDAD11}"/>
                </a:ext>
              </a:extLst>
            </p:cNvPr>
            <p:cNvSpPr/>
            <p:nvPr/>
          </p:nvSpPr>
          <p:spPr>
            <a:xfrm>
              <a:off x="1218634" y="2839805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E3AC73A-B1DC-4924-BA8C-41DE3E1B2AD2}"/>
                </a:ext>
              </a:extLst>
            </p:cNvPr>
            <p:cNvSpPr/>
            <p:nvPr/>
          </p:nvSpPr>
          <p:spPr>
            <a:xfrm>
              <a:off x="1218634" y="3708607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41A4D71-87D0-4F1B-A434-E2AF9075030D}"/>
                </a:ext>
              </a:extLst>
            </p:cNvPr>
            <p:cNvSpPr/>
            <p:nvPr/>
          </p:nvSpPr>
          <p:spPr>
            <a:xfrm>
              <a:off x="1218634" y="4577409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9502B40-330D-4D61-A114-2BDAB8C4C0B7}"/>
                  </a:ext>
                </a:extLst>
              </p:cNvPr>
              <p:cNvSpPr txBox="1"/>
              <p:nvPr/>
            </p:nvSpPr>
            <p:spPr>
              <a:xfrm>
                <a:off x="6762605" y="1785700"/>
                <a:ext cx="734518" cy="2902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𝟐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𝟐</m:t>
                          </m:r>
                        </m:sup>
                      </m:sSubSup>
                      <m:r>
                        <a:rPr lang="en-US" sz="2800" b="1" i="1" smtClean="0">
                          <a:latin typeface="Cambria Math" panose="02040503050406030204" pitchFamily="18" charset="0"/>
                          <a:ea typeface="Adobe Gothic Std B" panose="020B0800000000000000" pitchFamily="34" charset="-128"/>
                        </a:rPr>
                        <m:t> 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𝟑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9502B40-330D-4D61-A114-2BDAB8C4C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605" y="1785700"/>
                <a:ext cx="734518" cy="2902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CB51ABB1-160F-46B2-BBCE-0C692C0EF9CA}"/>
              </a:ext>
            </a:extLst>
          </p:cNvPr>
          <p:cNvGrpSpPr/>
          <p:nvPr/>
        </p:nvGrpSpPr>
        <p:grpSpPr>
          <a:xfrm>
            <a:off x="8439467" y="4257205"/>
            <a:ext cx="559631" cy="136164"/>
            <a:chOff x="8859187" y="3297836"/>
            <a:chExt cx="559631" cy="13616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EF10C3F-78C7-4A06-A5FB-E72690D47728}"/>
                </a:ext>
              </a:extLst>
            </p:cNvPr>
            <p:cNvSpPr/>
            <p:nvPr/>
          </p:nvSpPr>
          <p:spPr>
            <a:xfrm>
              <a:off x="8859187" y="3297836"/>
              <a:ext cx="104931" cy="1311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52878A-2D2B-4DC2-85F1-E9C8ABF3DD05}"/>
                </a:ext>
              </a:extLst>
            </p:cNvPr>
            <p:cNvSpPr/>
            <p:nvPr/>
          </p:nvSpPr>
          <p:spPr>
            <a:xfrm>
              <a:off x="9086537" y="3300336"/>
              <a:ext cx="104931" cy="1311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B2FB830-8624-4540-9D6D-7F4F4FE14A72}"/>
                </a:ext>
              </a:extLst>
            </p:cNvPr>
            <p:cNvSpPr/>
            <p:nvPr/>
          </p:nvSpPr>
          <p:spPr>
            <a:xfrm>
              <a:off x="9313887" y="3302835"/>
              <a:ext cx="104931" cy="1311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24B2709-A780-40FE-AD35-18AB4F905072}"/>
              </a:ext>
            </a:extLst>
          </p:cNvPr>
          <p:cNvCxnSpPr>
            <a:cxnSpLocks/>
          </p:cNvCxnSpPr>
          <p:nvPr/>
        </p:nvCxnSpPr>
        <p:spPr>
          <a:xfrm flipV="1">
            <a:off x="2491731" y="2537118"/>
            <a:ext cx="1861741" cy="152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99064F7-655C-4A39-A3D3-5C17957B2E8C}"/>
              </a:ext>
            </a:extLst>
          </p:cNvPr>
          <p:cNvCxnSpPr>
            <a:cxnSpLocks/>
          </p:cNvCxnSpPr>
          <p:nvPr/>
        </p:nvCxnSpPr>
        <p:spPr>
          <a:xfrm>
            <a:off x="2524304" y="2544740"/>
            <a:ext cx="1817601" cy="17459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02173B4-EA1B-406B-B25F-6C4BDE3C8309}"/>
              </a:ext>
            </a:extLst>
          </p:cNvPr>
          <p:cNvCxnSpPr>
            <a:cxnSpLocks/>
          </p:cNvCxnSpPr>
          <p:nvPr/>
        </p:nvCxnSpPr>
        <p:spPr>
          <a:xfrm flipV="1">
            <a:off x="2471977" y="2532114"/>
            <a:ext cx="1881495" cy="8808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3AB3729-0408-421A-A8E0-D4556C5DADB5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2491731" y="2544740"/>
            <a:ext cx="1817601" cy="7226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46F137D-DF4C-4C69-86DC-DFCF0CA7EBB1}"/>
              </a:ext>
            </a:extLst>
          </p:cNvPr>
          <p:cNvCxnSpPr>
            <a:cxnSpLocks/>
          </p:cNvCxnSpPr>
          <p:nvPr/>
        </p:nvCxnSpPr>
        <p:spPr>
          <a:xfrm flipV="1">
            <a:off x="2450946" y="3394402"/>
            <a:ext cx="1842138" cy="3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42BEA70-22D7-4007-986B-AA66F295361A}"/>
              </a:ext>
            </a:extLst>
          </p:cNvPr>
          <p:cNvCxnSpPr>
            <a:cxnSpLocks/>
          </p:cNvCxnSpPr>
          <p:nvPr/>
        </p:nvCxnSpPr>
        <p:spPr>
          <a:xfrm>
            <a:off x="2524304" y="3417706"/>
            <a:ext cx="1801353" cy="8713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B62180-DD9E-46AB-B191-95AF67E61D4D}"/>
              </a:ext>
            </a:extLst>
          </p:cNvPr>
          <p:cNvCxnSpPr>
            <a:cxnSpLocks/>
          </p:cNvCxnSpPr>
          <p:nvPr/>
        </p:nvCxnSpPr>
        <p:spPr>
          <a:xfrm flipV="1">
            <a:off x="2476813" y="2530527"/>
            <a:ext cx="1848844" cy="17445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8F78E97-AC70-4B67-8F53-4BC6171F5F1E}"/>
              </a:ext>
            </a:extLst>
          </p:cNvPr>
          <p:cNvCxnSpPr>
            <a:cxnSpLocks/>
          </p:cNvCxnSpPr>
          <p:nvPr/>
        </p:nvCxnSpPr>
        <p:spPr>
          <a:xfrm>
            <a:off x="2459438" y="4258344"/>
            <a:ext cx="1894034" cy="538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89AED61-2354-4F05-8B26-720268E6D303}"/>
              </a:ext>
            </a:extLst>
          </p:cNvPr>
          <p:cNvCxnSpPr>
            <a:cxnSpLocks/>
          </p:cNvCxnSpPr>
          <p:nvPr/>
        </p:nvCxnSpPr>
        <p:spPr>
          <a:xfrm flipV="1">
            <a:off x="2491731" y="3445050"/>
            <a:ext cx="1908304" cy="808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BFF62D1-B9AE-4614-AC9B-894410BC770B}"/>
              </a:ext>
            </a:extLst>
          </p:cNvPr>
          <p:cNvCxnSpPr>
            <a:cxnSpLocks/>
          </p:cNvCxnSpPr>
          <p:nvPr/>
        </p:nvCxnSpPr>
        <p:spPr>
          <a:xfrm flipV="1">
            <a:off x="4960845" y="2468634"/>
            <a:ext cx="1861741" cy="152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24E3953-5EA4-48DE-90E5-CB2A64BCE5E1}"/>
              </a:ext>
            </a:extLst>
          </p:cNvPr>
          <p:cNvCxnSpPr>
            <a:cxnSpLocks/>
          </p:cNvCxnSpPr>
          <p:nvPr/>
        </p:nvCxnSpPr>
        <p:spPr>
          <a:xfrm>
            <a:off x="4993418" y="2476256"/>
            <a:ext cx="1817601" cy="17459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D690C08-304C-4512-A550-CFDD16727763}"/>
              </a:ext>
            </a:extLst>
          </p:cNvPr>
          <p:cNvCxnSpPr>
            <a:cxnSpLocks/>
          </p:cNvCxnSpPr>
          <p:nvPr/>
        </p:nvCxnSpPr>
        <p:spPr>
          <a:xfrm flipV="1">
            <a:off x="4941091" y="2463630"/>
            <a:ext cx="1881495" cy="8808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D001E6C-00CF-4AAB-A346-55AC0360AE3C}"/>
              </a:ext>
            </a:extLst>
          </p:cNvPr>
          <p:cNvCxnSpPr>
            <a:cxnSpLocks/>
          </p:cNvCxnSpPr>
          <p:nvPr/>
        </p:nvCxnSpPr>
        <p:spPr>
          <a:xfrm>
            <a:off x="4960845" y="2476256"/>
            <a:ext cx="1817601" cy="7226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EC83E84-42C8-421C-8131-779AFDADE2DA}"/>
              </a:ext>
            </a:extLst>
          </p:cNvPr>
          <p:cNvCxnSpPr>
            <a:cxnSpLocks/>
          </p:cNvCxnSpPr>
          <p:nvPr/>
        </p:nvCxnSpPr>
        <p:spPr>
          <a:xfrm flipV="1">
            <a:off x="4920060" y="3325918"/>
            <a:ext cx="1842138" cy="3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38E5700-2F96-4C5E-9F68-5C8302AAC636}"/>
              </a:ext>
            </a:extLst>
          </p:cNvPr>
          <p:cNvCxnSpPr>
            <a:cxnSpLocks/>
          </p:cNvCxnSpPr>
          <p:nvPr/>
        </p:nvCxnSpPr>
        <p:spPr>
          <a:xfrm>
            <a:off x="4993418" y="3349222"/>
            <a:ext cx="1801353" cy="8713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9326222-A039-4CF9-8E1F-A833C84703CE}"/>
              </a:ext>
            </a:extLst>
          </p:cNvPr>
          <p:cNvCxnSpPr>
            <a:cxnSpLocks/>
          </p:cNvCxnSpPr>
          <p:nvPr/>
        </p:nvCxnSpPr>
        <p:spPr>
          <a:xfrm flipV="1">
            <a:off x="4945927" y="2462043"/>
            <a:ext cx="1848844" cy="17445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D3CBF9B-1760-49C1-9DDC-A8BC87BBE2F1}"/>
              </a:ext>
            </a:extLst>
          </p:cNvPr>
          <p:cNvCxnSpPr>
            <a:cxnSpLocks/>
          </p:cNvCxnSpPr>
          <p:nvPr/>
        </p:nvCxnSpPr>
        <p:spPr>
          <a:xfrm>
            <a:off x="4928552" y="4189860"/>
            <a:ext cx="1894034" cy="538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E5C262-9548-404B-9954-EB5C21767D45}"/>
              </a:ext>
            </a:extLst>
          </p:cNvPr>
          <p:cNvCxnSpPr>
            <a:cxnSpLocks/>
          </p:cNvCxnSpPr>
          <p:nvPr/>
        </p:nvCxnSpPr>
        <p:spPr>
          <a:xfrm flipV="1">
            <a:off x="4960845" y="3376566"/>
            <a:ext cx="1908304" cy="808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0E4DBEB-DBF5-4D15-909D-00C9CF2676DC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7375175" y="2483879"/>
            <a:ext cx="2643297" cy="2919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16BD0D5-82C9-4398-B19D-EBD79DB83162}"/>
              </a:ext>
            </a:extLst>
          </p:cNvPr>
          <p:cNvCxnSpPr>
            <a:cxnSpLocks/>
          </p:cNvCxnSpPr>
          <p:nvPr/>
        </p:nvCxnSpPr>
        <p:spPr>
          <a:xfrm flipV="1">
            <a:off x="7355421" y="2800169"/>
            <a:ext cx="2582873" cy="5442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8C5FFE2-08BE-4D1A-970E-C5F44EDC0172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375175" y="2476256"/>
            <a:ext cx="2643297" cy="11384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19AE201-DF02-458D-B1C3-82B5E7BD577C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407748" y="3349222"/>
            <a:ext cx="2610724" cy="2654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FC83A55-6A93-42FC-8C6E-EB1D6CE5BEFC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7360257" y="2775867"/>
            <a:ext cx="2658215" cy="1430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D08F1B0-1516-411E-9AE4-1A5B5F3EC960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7375175" y="3614689"/>
            <a:ext cx="2643297" cy="5704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1C3108D-5291-4E55-B53E-01DCF6A73647}"/>
                  </a:ext>
                </a:extLst>
              </p:cNvPr>
              <p:cNvSpPr txBox="1"/>
              <p:nvPr/>
            </p:nvSpPr>
            <p:spPr>
              <a:xfrm>
                <a:off x="840653" y="5031087"/>
                <a:ext cx="10543584" cy="71577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2060"/>
                    </a:solidFill>
                  </a:rPr>
                  <a:t>Input layer X: 0                 </a:t>
                </a:r>
                <a:r>
                  <a:rPr lang="en-US" b="1" dirty="0">
                    <a:solidFill>
                      <a:srgbClr val="002060"/>
                    </a:solidFill>
                    <a:highlight>
                      <a:srgbClr val="FFFF00"/>
                    </a:highlight>
                  </a:rPr>
                  <a:t>hidden layer: 1                             hidden layer: j=2,…n  </a:t>
                </a:r>
                <a:r>
                  <a:rPr lang="en-US" b="1" dirty="0">
                    <a:solidFill>
                      <a:srgbClr val="002060"/>
                    </a:solidFill>
                  </a:rPr>
                  <a:t>                  Output Layer Y: n+1</a:t>
                </a:r>
              </a:p>
              <a:p>
                <a:r>
                  <a:rPr lang="en-US" b="1" dirty="0">
                    <a:solidFill>
                      <a:srgbClr val="002060"/>
                    </a:solidFill>
                  </a:rPr>
                  <a:t>					      with neutrons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                     with neutrons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	 </a:t>
                </a: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1C3108D-5291-4E55-B53E-01DCF6A73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53" y="5031087"/>
                <a:ext cx="10543584" cy="715773"/>
              </a:xfrm>
              <a:prstGeom prst="rect">
                <a:avLst/>
              </a:prstGeom>
              <a:blipFill>
                <a:blip r:embed="rId4"/>
                <a:stretch>
                  <a:fillRect l="-520" t="-4202" b="-9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47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FE62004-DCB7-4D10-9895-7670D05E590A}"/>
              </a:ext>
            </a:extLst>
          </p:cNvPr>
          <p:cNvGrpSpPr/>
          <p:nvPr/>
        </p:nvGrpSpPr>
        <p:grpSpPr>
          <a:xfrm>
            <a:off x="1672833" y="2297163"/>
            <a:ext cx="1044316" cy="2730269"/>
            <a:chOff x="1014333" y="2708279"/>
            <a:chExt cx="1044316" cy="273026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C83F6C-A5E0-4AA7-8DCD-7BC82DFAD272}"/>
                </a:ext>
              </a:extLst>
            </p:cNvPr>
            <p:cNvSpPr/>
            <p:nvPr/>
          </p:nvSpPr>
          <p:spPr>
            <a:xfrm>
              <a:off x="1014333" y="2708279"/>
              <a:ext cx="1044316" cy="273026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5400FC-AC42-49BA-A268-0CA672628F93}"/>
                </a:ext>
              </a:extLst>
            </p:cNvPr>
            <p:cNvSpPr/>
            <p:nvPr/>
          </p:nvSpPr>
          <p:spPr>
            <a:xfrm>
              <a:off x="1218634" y="2869785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C63C45A-0DCC-4123-85FB-05596329D064}"/>
                </a:ext>
              </a:extLst>
            </p:cNvPr>
            <p:cNvSpPr/>
            <p:nvPr/>
          </p:nvSpPr>
          <p:spPr>
            <a:xfrm>
              <a:off x="1218634" y="3708607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5F3FDBA-F486-4C7D-8C66-A77DB528CF92}"/>
                </a:ext>
              </a:extLst>
            </p:cNvPr>
            <p:cNvSpPr/>
            <p:nvPr/>
          </p:nvSpPr>
          <p:spPr>
            <a:xfrm>
              <a:off x="1218634" y="4547429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48CA78-1617-4BF3-BA5A-97A886C92A65}"/>
              </a:ext>
            </a:extLst>
          </p:cNvPr>
          <p:cNvGrpSpPr/>
          <p:nvPr/>
        </p:nvGrpSpPr>
        <p:grpSpPr>
          <a:xfrm>
            <a:off x="9792708" y="2343317"/>
            <a:ext cx="1044316" cy="2156310"/>
            <a:chOff x="10655509" y="3580927"/>
            <a:chExt cx="1044316" cy="21563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86F054-1A7C-466E-B619-D7F8B77A84A8}"/>
                </a:ext>
              </a:extLst>
            </p:cNvPr>
            <p:cNvSpPr/>
            <p:nvPr/>
          </p:nvSpPr>
          <p:spPr>
            <a:xfrm>
              <a:off x="10655509" y="3580927"/>
              <a:ext cx="1044316" cy="215631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ED28E18-0B22-4648-ABFC-0CC63D60BAFA}"/>
                </a:ext>
              </a:extLst>
            </p:cNvPr>
            <p:cNvSpPr/>
            <p:nvPr/>
          </p:nvSpPr>
          <p:spPr>
            <a:xfrm>
              <a:off x="10881273" y="3919782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2C8813D-DCF1-48E8-B72E-93BB35D2493E}"/>
                </a:ext>
              </a:extLst>
            </p:cNvPr>
            <p:cNvSpPr/>
            <p:nvPr/>
          </p:nvSpPr>
          <p:spPr>
            <a:xfrm>
              <a:off x="10881273" y="4758604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F56135-B24C-4DBA-8AD2-075DCA53A1A5}"/>
              </a:ext>
            </a:extLst>
          </p:cNvPr>
          <p:cNvGrpSpPr/>
          <p:nvPr/>
        </p:nvGrpSpPr>
        <p:grpSpPr>
          <a:xfrm>
            <a:off x="4138731" y="2248464"/>
            <a:ext cx="1044316" cy="2730269"/>
            <a:chOff x="1014333" y="2708279"/>
            <a:chExt cx="1044316" cy="273026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ED5D87-3453-431E-A7FD-B2D42EC2BF80}"/>
                </a:ext>
              </a:extLst>
            </p:cNvPr>
            <p:cNvSpPr/>
            <p:nvPr/>
          </p:nvSpPr>
          <p:spPr>
            <a:xfrm>
              <a:off x="1014333" y="2708279"/>
              <a:ext cx="1044316" cy="273026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D6A22C8-2F51-4214-8673-CC1848AD8812}"/>
                </a:ext>
              </a:extLst>
            </p:cNvPr>
            <p:cNvSpPr/>
            <p:nvPr/>
          </p:nvSpPr>
          <p:spPr>
            <a:xfrm>
              <a:off x="1218634" y="2839805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1A7328A-A4FF-46FF-9A54-9C1881C6CB9C}"/>
                </a:ext>
              </a:extLst>
            </p:cNvPr>
            <p:cNvSpPr/>
            <p:nvPr/>
          </p:nvSpPr>
          <p:spPr>
            <a:xfrm>
              <a:off x="1218634" y="3708607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0F511E6-C143-4D4C-AF1B-C406CCC38AAB}"/>
                </a:ext>
              </a:extLst>
            </p:cNvPr>
            <p:cNvSpPr/>
            <p:nvPr/>
          </p:nvSpPr>
          <p:spPr>
            <a:xfrm>
              <a:off x="1218634" y="4577409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</p:grpSp>
      <p:sp>
        <p:nvSpPr>
          <p:cNvPr id="4" name="Google Shape;581;p31">
            <a:extLst>
              <a:ext uri="{FF2B5EF4-FFF2-40B4-BE49-F238E27FC236}">
                <a16:creationId xmlns:a16="http://schemas.microsoft.com/office/drawing/2014/main" id="{2B407C98-F9DE-4DB5-802E-23615E8FAB19}"/>
              </a:ext>
            </a:extLst>
          </p:cNvPr>
          <p:cNvSpPr txBox="1">
            <a:spLocks/>
          </p:cNvSpPr>
          <p:nvPr/>
        </p:nvSpPr>
        <p:spPr>
          <a:xfrm>
            <a:off x="467580" y="585199"/>
            <a:ext cx="11030153" cy="10019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571500" marR="0" lvl="0" indent="-57150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DNN has multiple neutrons in each layer. Each hidden layer has activation functions to capture (1) non-linear effects (2) interaction effects.</a:t>
            </a:r>
          </a:p>
        </p:txBody>
      </p:sp>
      <p:sp>
        <p:nvSpPr>
          <p:cNvPr id="5" name="Google Shape;580;p31">
            <a:extLst>
              <a:ext uri="{FF2B5EF4-FFF2-40B4-BE49-F238E27FC236}">
                <a16:creationId xmlns:a16="http://schemas.microsoft.com/office/drawing/2014/main" id="{788AF672-AC17-4BF4-83A0-2025DF4F8DAB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5D149-AFFD-4A98-9511-A8F1709FB24B}"/>
              </a:ext>
            </a:extLst>
          </p:cNvPr>
          <p:cNvSpPr txBox="1"/>
          <p:nvPr/>
        </p:nvSpPr>
        <p:spPr>
          <a:xfrm>
            <a:off x="1920974" y="2458669"/>
            <a:ext cx="734518" cy="213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X1</a:t>
            </a:r>
          </a:p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X2</a:t>
            </a:r>
          </a:p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X3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195E71-1502-4846-898E-0BAAABEC5779}"/>
              </a:ext>
            </a:extLst>
          </p:cNvPr>
          <p:cNvSpPr txBox="1"/>
          <p:nvPr/>
        </p:nvSpPr>
        <p:spPr>
          <a:xfrm>
            <a:off x="10102506" y="2783456"/>
            <a:ext cx="734518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b="1" dirty="0">
                <a:latin typeface="Modern Love Grunge" panose="020B0604020202020204" pitchFamily="82" charset="0"/>
                <a:ea typeface="Adobe Ming Std L" panose="02020300000000000000" pitchFamily="18" charset="-128"/>
              </a:rPr>
              <a:t>Y1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Modern Love Grunge" panose="020B0604020202020204" pitchFamily="82" charset="0"/>
                <a:ea typeface="Adobe Ming Std L" panose="02020300000000000000" pitchFamily="18" charset="-128"/>
              </a:rPr>
              <a:t>Y2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50CE0F6-5C54-4518-B203-68306034F515}"/>
              </a:ext>
            </a:extLst>
          </p:cNvPr>
          <p:cNvGrpSpPr/>
          <p:nvPr/>
        </p:nvGrpSpPr>
        <p:grpSpPr>
          <a:xfrm>
            <a:off x="6604867" y="2222446"/>
            <a:ext cx="1044316" cy="2730269"/>
            <a:chOff x="1014333" y="2708279"/>
            <a:chExt cx="1044316" cy="273026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AAC882D-6E24-4BAA-A8CF-9213433AD34B}"/>
                </a:ext>
              </a:extLst>
            </p:cNvPr>
            <p:cNvSpPr/>
            <p:nvPr/>
          </p:nvSpPr>
          <p:spPr>
            <a:xfrm>
              <a:off x="1014333" y="2708279"/>
              <a:ext cx="1044316" cy="273026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6C3DAA9-8C65-49B2-8978-718CEABDAD11}"/>
                </a:ext>
              </a:extLst>
            </p:cNvPr>
            <p:cNvSpPr/>
            <p:nvPr/>
          </p:nvSpPr>
          <p:spPr>
            <a:xfrm>
              <a:off x="1218634" y="2839805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E3AC73A-B1DC-4924-BA8C-41DE3E1B2AD2}"/>
                </a:ext>
              </a:extLst>
            </p:cNvPr>
            <p:cNvSpPr/>
            <p:nvPr/>
          </p:nvSpPr>
          <p:spPr>
            <a:xfrm>
              <a:off x="1218634" y="3708607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41A4D71-87D0-4F1B-A434-E2AF9075030D}"/>
                </a:ext>
              </a:extLst>
            </p:cNvPr>
            <p:cNvSpPr/>
            <p:nvPr/>
          </p:nvSpPr>
          <p:spPr>
            <a:xfrm>
              <a:off x="1218634" y="4577409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B51ABB1-160F-46B2-BBCE-0C692C0EF9CA}"/>
              </a:ext>
            </a:extLst>
          </p:cNvPr>
          <p:cNvGrpSpPr/>
          <p:nvPr/>
        </p:nvGrpSpPr>
        <p:grpSpPr>
          <a:xfrm>
            <a:off x="8439467" y="4477334"/>
            <a:ext cx="559631" cy="136164"/>
            <a:chOff x="8859187" y="3297836"/>
            <a:chExt cx="559631" cy="13616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EF10C3F-78C7-4A06-A5FB-E72690D47728}"/>
                </a:ext>
              </a:extLst>
            </p:cNvPr>
            <p:cNvSpPr/>
            <p:nvPr/>
          </p:nvSpPr>
          <p:spPr>
            <a:xfrm>
              <a:off x="8859187" y="3297836"/>
              <a:ext cx="104931" cy="1311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52878A-2D2B-4DC2-85F1-E9C8ABF3DD05}"/>
                </a:ext>
              </a:extLst>
            </p:cNvPr>
            <p:cNvSpPr/>
            <p:nvPr/>
          </p:nvSpPr>
          <p:spPr>
            <a:xfrm>
              <a:off x="9086537" y="3300336"/>
              <a:ext cx="104931" cy="1311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B2FB830-8624-4540-9D6D-7F4F4FE14A72}"/>
                </a:ext>
              </a:extLst>
            </p:cNvPr>
            <p:cNvSpPr/>
            <p:nvPr/>
          </p:nvSpPr>
          <p:spPr>
            <a:xfrm>
              <a:off x="9313887" y="3302835"/>
              <a:ext cx="104931" cy="1311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24B2709-A780-40FE-AD35-18AB4F905072}"/>
              </a:ext>
            </a:extLst>
          </p:cNvPr>
          <p:cNvCxnSpPr>
            <a:cxnSpLocks/>
          </p:cNvCxnSpPr>
          <p:nvPr/>
        </p:nvCxnSpPr>
        <p:spPr>
          <a:xfrm flipV="1">
            <a:off x="2491731" y="2757247"/>
            <a:ext cx="1861741" cy="152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99064F7-655C-4A39-A3D3-5C17957B2E8C}"/>
              </a:ext>
            </a:extLst>
          </p:cNvPr>
          <p:cNvCxnSpPr>
            <a:cxnSpLocks/>
          </p:cNvCxnSpPr>
          <p:nvPr/>
        </p:nvCxnSpPr>
        <p:spPr>
          <a:xfrm>
            <a:off x="2524304" y="2764869"/>
            <a:ext cx="1817601" cy="17459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02173B4-EA1B-406B-B25F-6C4BDE3C8309}"/>
              </a:ext>
            </a:extLst>
          </p:cNvPr>
          <p:cNvCxnSpPr>
            <a:cxnSpLocks/>
          </p:cNvCxnSpPr>
          <p:nvPr/>
        </p:nvCxnSpPr>
        <p:spPr>
          <a:xfrm flipV="1">
            <a:off x="2471977" y="2752243"/>
            <a:ext cx="1881495" cy="8808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3AB3729-0408-421A-A8E0-D4556C5DADB5}"/>
              </a:ext>
            </a:extLst>
          </p:cNvPr>
          <p:cNvCxnSpPr>
            <a:cxnSpLocks/>
          </p:cNvCxnSpPr>
          <p:nvPr/>
        </p:nvCxnSpPr>
        <p:spPr>
          <a:xfrm>
            <a:off x="2491731" y="2764869"/>
            <a:ext cx="1817601" cy="7226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46F137D-DF4C-4C69-86DC-DFCF0CA7EBB1}"/>
              </a:ext>
            </a:extLst>
          </p:cNvPr>
          <p:cNvCxnSpPr>
            <a:cxnSpLocks/>
          </p:cNvCxnSpPr>
          <p:nvPr/>
        </p:nvCxnSpPr>
        <p:spPr>
          <a:xfrm flipV="1">
            <a:off x="2450946" y="3614531"/>
            <a:ext cx="1842138" cy="3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42BEA70-22D7-4007-986B-AA66F295361A}"/>
              </a:ext>
            </a:extLst>
          </p:cNvPr>
          <p:cNvCxnSpPr>
            <a:cxnSpLocks/>
          </p:cNvCxnSpPr>
          <p:nvPr/>
        </p:nvCxnSpPr>
        <p:spPr>
          <a:xfrm>
            <a:off x="2524304" y="3637835"/>
            <a:ext cx="1801353" cy="8713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B62180-DD9E-46AB-B191-95AF67E61D4D}"/>
              </a:ext>
            </a:extLst>
          </p:cNvPr>
          <p:cNvCxnSpPr>
            <a:cxnSpLocks/>
          </p:cNvCxnSpPr>
          <p:nvPr/>
        </p:nvCxnSpPr>
        <p:spPr>
          <a:xfrm flipV="1">
            <a:off x="2476813" y="2750656"/>
            <a:ext cx="1848844" cy="17445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8F78E97-AC70-4B67-8F53-4BC6171F5F1E}"/>
              </a:ext>
            </a:extLst>
          </p:cNvPr>
          <p:cNvCxnSpPr>
            <a:cxnSpLocks/>
          </p:cNvCxnSpPr>
          <p:nvPr/>
        </p:nvCxnSpPr>
        <p:spPr>
          <a:xfrm>
            <a:off x="2459438" y="4478473"/>
            <a:ext cx="1894034" cy="538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89AED61-2354-4F05-8B26-720268E6D303}"/>
              </a:ext>
            </a:extLst>
          </p:cNvPr>
          <p:cNvCxnSpPr>
            <a:cxnSpLocks/>
          </p:cNvCxnSpPr>
          <p:nvPr/>
        </p:nvCxnSpPr>
        <p:spPr>
          <a:xfrm flipV="1">
            <a:off x="2491731" y="3665179"/>
            <a:ext cx="1908304" cy="808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BFF62D1-B9AE-4614-AC9B-894410BC770B}"/>
              </a:ext>
            </a:extLst>
          </p:cNvPr>
          <p:cNvCxnSpPr>
            <a:cxnSpLocks/>
          </p:cNvCxnSpPr>
          <p:nvPr/>
        </p:nvCxnSpPr>
        <p:spPr>
          <a:xfrm flipV="1">
            <a:off x="4960845" y="2688763"/>
            <a:ext cx="1861741" cy="152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24E3953-5EA4-48DE-90E5-CB2A64BCE5E1}"/>
              </a:ext>
            </a:extLst>
          </p:cNvPr>
          <p:cNvCxnSpPr>
            <a:cxnSpLocks/>
          </p:cNvCxnSpPr>
          <p:nvPr/>
        </p:nvCxnSpPr>
        <p:spPr>
          <a:xfrm>
            <a:off x="4993418" y="2696385"/>
            <a:ext cx="1817601" cy="17459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D690C08-304C-4512-A550-CFDD16727763}"/>
              </a:ext>
            </a:extLst>
          </p:cNvPr>
          <p:cNvCxnSpPr>
            <a:cxnSpLocks/>
          </p:cNvCxnSpPr>
          <p:nvPr/>
        </p:nvCxnSpPr>
        <p:spPr>
          <a:xfrm flipV="1">
            <a:off x="4941091" y="2683759"/>
            <a:ext cx="1881495" cy="8808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D001E6C-00CF-4AAB-A346-55AC0360AE3C}"/>
              </a:ext>
            </a:extLst>
          </p:cNvPr>
          <p:cNvCxnSpPr>
            <a:cxnSpLocks/>
          </p:cNvCxnSpPr>
          <p:nvPr/>
        </p:nvCxnSpPr>
        <p:spPr>
          <a:xfrm>
            <a:off x="4960845" y="2696385"/>
            <a:ext cx="1817601" cy="7226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EC83E84-42C8-421C-8131-779AFDADE2DA}"/>
              </a:ext>
            </a:extLst>
          </p:cNvPr>
          <p:cNvCxnSpPr>
            <a:cxnSpLocks/>
          </p:cNvCxnSpPr>
          <p:nvPr/>
        </p:nvCxnSpPr>
        <p:spPr>
          <a:xfrm flipV="1">
            <a:off x="4920060" y="3546047"/>
            <a:ext cx="1842138" cy="3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38E5700-2F96-4C5E-9F68-5C8302AAC636}"/>
              </a:ext>
            </a:extLst>
          </p:cNvPr>
          <p:cNvCxnSpPr>
            <a:cxnSpLocks/>
          </p:cNvCxnSpPr>
          <p:nvPr/>
        </p:nvCxnSpPr>
        <p:spPr>
          <a:xfrm>
            <a:off x="4993418" y="3569351"/>
            <a:ext cx="1801353" cy="8713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9326222-A039-4CF9-8E1F-A833C84703CE}"/>
              </a:ext>
            </a:extLst>
          </p:cNvPr>
          <p:cNvCxnSpPr>
            <a:cxnSpLocks/>
          </p:cNvCxnSpPr>
          <p:nvPr/>
        </p:nvCxnSpPr>
        <p:spPr>
          <a:xfrm flipV="1">
            <a:off x="4945927" y="2682172"/>
            <a:ext cx="1848844" cy="17445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D3CBF9B-1760-49C1-9DDC-A8BC87BBE2F1}"/>
              </a:ext>
            </a:extLst>
          </p:cNvPr>
          <p:cNvCxnSpPr>
            <a:cxnSpLocks/>
          </p:cNvCxnSpPr>
          <p:nvPr/>
        </p:nvCxnSpPr>
        <p:spPr>
          <a:xfrm>
            <a:off x="4928552" y="4409989"/>
            <a:ext cx="1894034" cy="538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E5C262-9548-404B-9954-EB5C21767D45}"/>
              </a:ext>
            </a:extLst>
          </p:cNvPr>
          <p:cNvCxnSpPr>
            <a:cxnSpLocks/>
          </p:cNvCxnSpPr>
          <p:nvPr/>
        </p:nvCxnSpPr>
        <p:spPr>
          <a:xfrm flipV="1">
            <a:off x="4960845" y="3596695"/>
            <a:ext cx="1908304" cy="808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0E4DBEB-DBF5-4D15-909D-00C9CF2676DC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7375175" y="2704008"/>
            <a:ext cx="2643297" cy="2919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16BD0D5-82C9-4398-B19D-EBD79DB83162}"/>
              </a:ext>
            </a:extLst>
          </p:cNvPr>
          <p:cNvCxnSpPr>
            <a:cxnSpLocks/>
          </p:cNvCxnSpPr>
          <p:nvPr/>
        </p:nvCxnSpPr>
        <p:spPr>
          <a:xfrm flipV="1">
            <a:off x="7355421" y="3020298"/>
            <a:ext cx="2582873" cy="5442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8C5FFE2-08BE-4D1A-970E-C5F44EDC0172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375175" y="2696385"/>
            <a:ext cx="2643297" cy="11384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19AE201-DF02-458D-B1C3-82B5E7BD577C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407748" y="3569351"/>
            <a:ext cx="2610724" cy="2654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FC83A55-6A93-42FC-8C6E-EB1D6CE5BEFC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7360257" y="2995996"/>
            <a:ext cx="2658215" cy="1430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D08F1B0-1516-411E-9AE4-1A5B5F3EC960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7375175" y="3834818"/>
            <a:ext cx="2643297" cy="5704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1BBAB68-35D9-4720-91F9-A9D12B975ACE}"/>
              </a:ext>
            </a:extLst>
          </p:cNvPr>
          <p:cNvGrpSpPr/>
          <p:nvPr/>
        </p:nvGrpSpPr>
        <p:grpSpPr>
          <a:xfrm>
            <a:off x="4460988" y="2490010"/>
            <a:ext cx="407294" cy="394415"/>
            <a:chOff x="4686300" y="1320085"/>
            <a:chExt cx="407294" cy="394415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BA45141-3B6A-41ED-B6D1-DD912D0F7AA9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00" y="1320085"/>
              <a:ext cx="0" cy="39441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66F802E-A31A-44E8-9A2E-8ED192E44DFF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00" y="1714500"/>
              <a:ext cx="407294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BD44D81-3D2D-4515-B2AE-49BA2D02E3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300" y="1329888"/>
              <a:ext cx="407294" cy="38461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9E8DDDC-A35F-44C6-A376-F964C89D76F3}"/>
              </a:ext>
            </a:extLst>
          </p:cNvPr>
          <p:cNvGrpSpPr/>
          <p:nvPr/>
        </p:nvGrpSpPr>
        <p:grpSpPr>
          <a:xfrm>
            <a:off x="4462896" y="3357218"/>
            <a:ext cx="407294" cy="394415"/>
            <a:chOff x="4686300" y="1320085"/>
            <a:chExt cx="407294" cy="394415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6213CAD-1CD6-49D7-B415-722986A33C41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00" y="1320085"/>
              <a:ext cx="0" cy="39441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1486C7C-CBCB-4353-A77F-46B6B7BC342A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00" y="1714500"/>
              <a:ext cx="407294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D6FFF43-332A-4796-9186-029169C4BD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300" y="1329888"/>
              <a:ext cx="407294" cy="38461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9185ABE-1969-4AB7-BEEB-E759FD2B69CA}"/>
              </a:ext>
            </a:extLst>
          </p:cNvPr>
          <p:cNvGrpSpPr/>
          <p:nvPr/>
        </p:nvGrpSpPr>
        <p:grpSpPr>
          <a:xfrm>
            <a:off x="4460988" y="4208026"/>
            <a:ext cx="407294" cy="394415"/>
            <a:chOff x="4686300" y="1320085"/>
            <a:chExt cx="407294" cy="394415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CFE86EA-5F49-4B60-9DC1-4DEF5BC7723B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00" y="1320085"/>
              <a:ext cx="0" cy="39441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7AC46AC-7CC1-43DD-A2BC-207032E3A1A2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00" y="1714500"/>
              <a:ext cx="407294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59F6C5D-097F-49F5-9F79-D7673C4CDC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300" y="1329888"/>
              <a:ext cx="407294" cy="38461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Connector: Curved 2061">
            <a:extLst>
              <a:ext uri="{FF2B5EF4-FFF2-40B4-BE49-F238E27FC236}">
                <a16:creationId xmlns:a16="http://schemas.microsoft.com/office/drawing/2014/main" id="{9A91CE33-169C-4773-841A-EB1E46E9A090}"/>
              </a:ext>
            </a:extLst>
          </p:cNvPr>
          <p:cNvCxnSpPr>
            <a:cxnSpLocks/>
          </p:cNvCxnSpPr>
          <p:nvPr/>
        </p:nvCxnSpPr>
        <p:spPr>
          <a:xfrm flipH="1">
            <a:off x="6848286" y="2389168"/>
            <a:ext cx="582084" cy="568873"/>
          </a:xfrm>
          <a:prstGeom prst="curvedConnector3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Curved 110">
            <a:extLst>
              <a:ext uri="{FF2B5EF4-FFF2-40B4-BE49-F238E27FC236}">
                <a16:creationId xmlns:a16="http://schemas.microsoft.com/office/drawing/2014/main" id="{99E6634D-2BFA-485E-A544-3D75AEA46D20}"/>
              </a:ext>
            </a:extLst>
          </p:cNvPr>
          <p:cNvCxnSpPr>
            <a:cxnSpLocks/>
          </p:cNvCxnSpPr>
          <p:nvPr/>
        </p:nvCxnSpPr>
        <p:spPr>
          <a:xfrm flipH="1">
            <a:off x="6835007" y="3230732"/>
            <a:ext cx="582084" cy="568873"/>
          </a:xfrm>
          <a:prstGeom prst="curvedConnector3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Curved 111">
            <a:extLst>
              <a:ext uri="{FF2B5EF4-FFF2-40B4-BE49-F238E27FC236}">
                <a16:creationId xmlns:a16="http://schemas.microsoft.com/office/drawing/2014/main" id="{A851C318-281E-406A-835B-B90AF4B3A1C4}"/>
              </a:ext>
            </a:extLst>
          </p:cNvPr>
          <p:cNvCxnSpPr>
            <a:cxnSpLocks/>
          </p:cNvCxnSpPr>
          <p:nvPr/>
        </p:nvCxnSpPr>
        <p:spPr>
          <a:xfrm flipH="1">
            <a:off x="6806163" y="4087775"/>
            <a:ext cx="582084" cy="568873"/>
          </a:xfrm>
          <a:prstGeom prst="curvedConnector3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8" name="TextBox 2067">
            <a:extLst>
              <a:ext uri="{FF2B5EF4-FFF2-40B4-BE49-F238E27FC236}">
                <a16:creationId xmlns:a16="http://schemas.microsoft.com/office/drawing/2014/main" id="{EEBC2029-6B97-41F9-97D3-BF18F6608FBB}"/>
              </a:ext>
            </a:extLst>
          </p:cNvPr>
          <p:cNvSpPr txBox="1"/>
          <p:nvPr/>
        </p:nvSpPr>
        <p:spPr>
          <a:xfrm>
            <a:off x="732501" y="5759698"/>
            <a:ext cx="3969295" cy="830997"/>
          </a:xfrm>
          <a:prstGeom prst="rect">
            <a:avLst/>
          </a:prstGeom>
          <a:solidFill>
            <a:srgbClr val="AFB656"/>
          </a:solidFill>
          <a:ln>
            <a:solidFill>
              <a:srgbClr val="AFB65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i="0" dirty="0">
                <a:solidFill>
                  <a:srgbClr val="202124"/>
                </a:solidFill>
                <a:effectLst/>
                <a:highlight>
                  <a:srgbClr val="FFFF00"/>
                </a:highlight>
                <a:latin typeface="zeitung"/>
              </a:rPr>
              <a:t>Rectified Linear Units (</a:t>
            </a:r>
            <a:r>
              <a:rPr lang="en-US" sz="2400" b="1" i="0" dirty="0" err="1">
                <a:solidFill>
                  <a:srgbClr val="202124"/>
                </a:solidFill>
                <a:effectLst/>
                <a:highlight>
                  <a:srgbClr val="FFFF00"/>
                </a:highlight>
                <a:latin typeface="zeitung"/>
              </a:rPr>
              <a:t>ReLU</a:t>
            </a:r>
            <a:r>
              <a:rPr lang="en-US" sz="2400" b="1" i="0" dirty="0">
                <a:solidFill>
                  <a:srgbClr val="202124"/>
                </a:solidFill>
                <a:effectLst/>
                <a:highlight>
                  <a:srgbClr val="FFFF00"/>
                </a:highlight>
                <a:latin typeface="zeitung"/>
              </a:rPr>
              <a:t>) </a:t>
            </a:r>
            <a:r>
              <a:rPr lang="en-US" sz="2400" b="1" i="0" dirty="0">
                <a:solidFill>
                  <a:srgbClr val="202124"/>
                </a:solidFill>
                <a:effectLst/>
                <a:latin typeface="zeitung"/>
              </a:rPr>
              <a:t>function:  f(x)=max(0,x)</a:t>
            </a:r>
            <a:endParaRPr lang="en-US" sz="2400" dirty="0"/>
          </a:p>
        </p:txBody>
      </p:sp>
      <p:sp>
        <p:nvSpPr>
          <p:cNvPr id="2071" name="Arrow: Down 2070">
            <a:extLst>
              <a:ext uri="{FF2B5EF4-FFF2-40B4-BE49-F238E27FC236}">
                <a16:creationId xmlns:a16="http://schemas.microsoft.com/office/drawing/2014/main" id="{0A2959EA-1684-4385-A993-D66BD0A29034}"/>
              </a:ext>
            </a:extLst>
          </p:cNvPr>
          <p:cNvSpPr/>
          <p:nvPr/>
        </p:nvSpPr>
        <p:spPr>
          <a:xfrm rot="2495293">
            <a:off x="3815929" y="4520864"/>
            <a:ext cx="407677" cy="1417003"/>
          </a:xfrm>
          <a:prstGeom prst="downArrow">
            <a:avLst>
              <a:gd name="adj1" fmla="val 46580"/>
              <a:gd name="adj2" fmla="val 50000"/>
            </a:avLst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457E410-D42D-471A-B8ED-D985A0017445}"/>
              </a:ext>
            </a:extLst>
          </p:cNvPr>
          <p:cNvSpPr txBox="1"/>
          <p:nvPr/>
        </p:nvSpPr>
        <p:spPr>
          <a:xfrm>
            <a:off x="7992534" y="5733662"/>
            <a:ext cx="2458650" cy="830997"/>
          </a:xfrm>
          <a:prstGeom prst="rect">
            <a:avLst/>
          </a:prstGeom>
          <a:solidFill>
            <a:srgbClr val="AFB656"/>
          </a:solidFill>
          <a:ln>
            <a:solidFill>
              <a:srgbClr val="AFB65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i="0" dirty="0">
                <a:solidFill>
                  <a:srgbClr val="202124"/>
                </a:solidFill>
                <a:effectLst/>
                <a:highlight>
                  <a:srgbClr val="FFFF00"/>
                </a:highlight>
                <a:latin typeface="zeitung"/>
              </a:rPr>
              <a:t>Sigmoid function:  </a:t>
            </a:r>
          </a:p>
          <a:p>
            <a:r>
              <a:rPr lang="en-US" sz="2400" b="1" i="0" dirty="0">
                <a:solidFill>
                  <a:srgbClr val="202124"/>
                </a:solidFill>
                <a:effectLst/>
                <a:latin typeface="zeitung"/>
              </a:rPr>
              <a:t>f(x)=sigmoid(x)=</a:t>
            </a:r>
            <a:endParaRPr lang="en-US" sz="2400" dirty="0"/>
          </a:p>
        </p:txBody>
      </p:sp>
      <p:sp>
        <p:nvSpPr>
          <p:cNvPr id="121" name="Arrow: Down 120">
            <a:extLst>
              <a:ext uri="{FF2B5EF4-FFF2-40B4-BE49-F238E27FC236}">
                <a16:creationId xmlns:a16="http://schemas.microsoft.com/office/drawing/2014/main" id="{45008DFE-2242-4A33-BEE2-9FD1ACBDA052}"/>
              </a:ext>
            </a:extLst>
          </p:cNvPr>
          <p:cNvSpPr/>
          <p:nvPr/>
        </p:nvSpPr>
        <p:spPr>
          <a:xfrm rot="19323729">
            <a:off x="7636646" y="4489002"/>
            <a:ext cx="360938" cy="1459911"/>
          </a:xfrm>
          <a:prstGeom prst="downArrow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4AB70BC-2461-40EC-AE44-18162EE52544}"/>
              </a:ext>
            </a:extLst>
          </p:cNvPr>
          <p:cNvSpPr txBox="1"/>
          <p:nvPr/>
        </p:nvSpPr>
        <p:spPr>
          <a:xfrm>
            <a:off x="1166260" y="1711904"/>
            <a:ext cx="10877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Input layer: 0                    </a:t>
            </a:r>
            <a:r>
              <a:rPr lang="en-US" b="1" dirty="0">
                <a:solidFill>
                  <a:srgbClr val="002060"/>
                </a:solidFill>
                <a:highlight>
                  <a:srgbClr val="FFFF00"/>
                </a:highlight>
              </a:rPr>
              <a:t>hidden layer: 1                       hidden layer: 2,…, n  </a:t>
            </a:r>
            <a:r>
              <a:rPr lang="en-US" b="1" dirty="0">
                <a:solidFill>
                  <a:srgbClr val="002060"/>
                </a:solidFill>
              </a:rPr>
              <a:t>                                 Output Layer</a:t>
            </a:r>
          </a:p>
        </p:txBody>
      </p:sp>
      <p:pic>
        <p:nvPicPr>
          <p:cNvPr id="2076" name="Picture 2075">
            <a:extLst>
              <a:ext uri="{FF2B5EF4-FFF2-40B4-BE49-F238E27FC236}">
                <a16:creationId xmlns:a16="http://schemas.microsoft.com/office/drawing/2014/main" id="{3E357943-8A5F-41DC-96D0-FF9CB3543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2672" y="5743294"/>
            <a:ext cx="1310087" cy="835745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9D817941-A5C8-4834-BBA0-5D37337412C5}"/>
              </a:ext>
            </a:extLst>
          </p:cNvPr>
          <p:cNvSpPr txBox="1"/>
          <p:nvPr/>
        </p:nvSpPr>
        <p:spPr>
          <a:xfrm>
            <a:off x="10837024" y="2992144"/>
            <a:ext cx="14919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  <a:latin typeface="Modern Love Grunge" panose="04070805081005020601" pitchFamily="82" charset="0"/>
              </a:rPr>
              <a:t>Y </a:t>
            </a:r>
            <a:r>
              <a:rPr lang="en-US" sz="2800" baseline="-25000" dirty="0">
                <a:highlight>
                  <a:srgbClr val="FFFF00"/>
                </a:highlight>
                <a:latin typeface="Broadway" panose="04040905080B02020502" pitchFamily="82" charset="0"/>
              </a:rPr>
              <a:t>1</a:t>
            </a:r>
            <a:r>
              <a:rPr lang="en-US" sz="2800" dirty="0">
                <a:highlight>
                  <a:srgbClr val="FFFF00"/>
                </a:highlight>
                <a:latin typeface="Broadway" panose="04040905080B02020502" pitchFamily="82" charset="0"/>
              </a:rPr>
              <a:t> =0</a:t>
            </a:r>
          </a:p>
          <a:p>
            <a:r>
              <a:rPr lang="en-US" sz="2800" dirty="0">
                <a:highlight>
                  <a:srgbClr val="FFFF00"/>
                </a:highlight>
                <a:latin typeface="Modern Love Grunge" panose="04070805081005020601" pitchFamily="82" charset="0"/>
              </a:rPr>
              <a:t>Y </a:t>
            </a:r>
            <a:r>
              <a:rPr lang="en-US" sz="2800" baseline="-25000" dirty="0">
                <a:highlight>
                  <a:srgbClr val="FFFF00"/>
                </a:highlight>
                <a:latin typeface="Broadway" panose="04040905080B02020502" pitchFamily="82" charset="0"/>
              </a:rPr>
              <a:t>2</a:t>
            </a:r>
            <a:r>
              <a:rPr lang="en-US" sz="2800" dirty="0">
                <a:highlight>
                  <a:srgbClr val="FFFF00"/>
                </a:highlight>
                <a:latin typeface="Broadway" panose="04040905080B02020502" pitchFamily="82" charset="0"/>
              </a:rPr>
              <a:t> =1</a:t>
            </a:r>
          </a:p>
        </p:txBody>
      </p:sp>
    </p:spTree>
    <p:extLst>
      <p:ext uri="{BB962C8B-B14F-4D97-AF65-F5344CB8AC3E}">
        <p14:creationId xmlns:p14="http://schemas.microsoft.com/office/powerpoint/2010/main" val="1091101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FE62004-DCB7-4D10-9895-7670D05E590A}"/>
              </a:ext>
            </a:extLst>
          </p:cNvPr>
          <p:cNvGrpSpPr/>
          <p:nvPr/>
        </p:nvGrpSpPr>
        <p:grpSpPr>
          <a:xfrm>
            <a:off x="1672833" y="3068935"/>
            <a:ext cx="1044316" cy="2730269"/>
            <a:chOff x="1014333" y="2708279"/>
            <a:chExt cx="1044316" cy="273026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C83F6C-A5E0-4AA7-8DCD-7BC82DFAD272}"/>
                </a:ext>
              </a:extLst>
            </p:cNvPr>
            <p:cNvSpPr/>
            <p:nvPr/>
          </p:nvSpPr>
          <p:spPr>
            <a:xfrm>
              <a:off x="1014333" y="2708279"/>
              <a:ext cx="1044316" cy="273026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5400FC-AC42-49BA-A268-0CA672628F93}"/>
                </a:ext>
              </a:extLst>
            </p:cNvPr>
            <p:cNvSpPr/>
            <p:nvPr/>
          </p:nvSpPr>
          <p:spPr>
            <a:xfrm>
              <a:off x="1218634" y="2869785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C63C45A-0DCC-4123-85FB-05596329D064}"/>
                </a:ext>
              </a:extLst>
            </p:cNvPr>
            <p:cNvSpPr/>
            <p:nvPr/>
          </p:nvSpPr>
          <p:spPr>
            <a:xfrm>
              <a:off x="1218634" y="3708607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5F3FDBA-F486-4C7D-8C66-A77DB528CF92}"/>
                </a:ext>
              </a:extLst>
            </p:cNvPr>
            <p:cNvSpPr/>
            <p:nvPr/>
          </p:nvSpPr>
          <p:spPr>
            <a:xfrm>
              <a:off x="1218634" y="4547429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48CA78-1617-4BF3-BA5A-97A886C92A65}"/>
              </a:ext>
            </a:extLst>
          </p:cNvPr>
          <p:cNvGrpSpPr/>
          <p:nvPr/>
        </p:nvGrpSpPr>
        <p:grpSpPr>
          <a:xfrm>
            <a:off x="9792708" y="3115089"/>
            <a:ext cx="1044316" cy="2156310"/>
            <a:chOff x="10655509" y="3580927"/>
            <a:chExt cx="1044316" cy="21563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86F054-1A7C-466E-B619-D7F8B77A84A8}"/>
                </a:ext>
              </a:extLst>
            </p:cNvPr>
            <p:cNvSpPr/>
            <p:nvPr/>
          </p:nvSpPr>
          <p:spPr>
            <a:xfrm>
              <a:off x="10655509" y="3580927"/>
              <a:ext cx="1044316" cy="215631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ED28E18-0B22-4648-ABFC-0CC63D60BAFA}"/>
                </a:ext>
              </a:extLst>
            </p:cNvPr>
            <p:cNvSpPr/>
            <p:nvPr/>
          </p:nvSpPr>
          <p:spPr>
            <a:xfrm>
              <a:off x="10881273" y="3919782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2C8813D-DCF1-48E8-B72E-93BB35D2493E}"/>
                </a:ext>
              </a:extLst>
            </p:cNvPr>
            <p:cNvSpPr/>
            <p:nvPr/>
          </p:nvSpPr>
          <p:spPr>
            <a:xfrm>
              <a:off x="10881273" y="4758604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F56135-B24C-4DBA-8AD2-075DCA53A1A5}"/>
              </a:ext>
            </a:extLst>
          </p:cNvPr>
          <p:cNvGrpSpPr/>
          <p:nvPr/>
        </p:nvGrpSpPr>
        <p:grpSpPr>
          <a:xfrm>
            <a:off x="4138731" y="3020236"/>
            <a:ext cx="1044316" cy="2730269"/>
            <a:chOff x="1014333" y="2708279"/>
            <a:chExt cx="1044316" cy="273026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ED5D87-3453-431E-A7FD-B2D42EC2BF80}"/>
                </a:ext>
              </a:extLst>
            </p:cNvPr>
            <p:cNvSpPr/>
            <p:nvPr/>
          </p:nvSpPr>
          <p:spPr>
            <a:xfrm>
              <a:off x="1014333" y="2708279"/>
              <a:ext cx="1044316" cy="273026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D6A22C8-2F51-4214-8673-CC1848AD8812}"/>
                </a:ext>
              </a:extLst>
            </p:cNvPr>
            <p:cNvSpPr/>
            <p:nvPr/>
          </p:nvSpPr>
          <p:spPr>
            <a:xfrm>
              <a:off x="1218634" y="2839805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1A7328A-A4FF-46FF-9A54-9C1881C6CB9C}"/>
                </a:ext>
              </a:extLst>
            </p:cNvPr>
            <p:cNvSpPr/>
            <p:nvPr/>
          </p:nvSpPr>
          <p:spPr>
            <a:xfrm>
              <a:off x="1218634" y="3708607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0F511E6-C143-4D4C-AF1B-C406CCC38AAB}"/>
                </a:ext>
              </a:extLst>
            </p:cNvPr>
            <p:cNvSpPr/>
            <p:nvPr/>
          </p:nvSpPr>
          <p:spPr>
            <a:xfrm>
              <a:off x="1218634" y="4577409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581;p31">
                <a:extLst>
                  <a:ext uri="{FF2B5EF4-FFF2-40B4-BE49-F238E27FC236}">
                    <a16:creationId xmlns:a16="http://schemas.microsoft.com/office/drawing/2014/main" id="{2B407C98-F9DE-4DB5-802E-23615E8FAB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9731" y="418065"/>
                <a:ext cx="11042575" cy="1248903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vert="horz" wrap="square" lIns="121900" tIns="121900" rIns="121900" bIns="121900" rtlCol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 lang="en-US"/>
                </a:defPPr>
                <a:lvl1pPr marL="571500" marR="0" lvl="0" indent="-571500" defTabSz="914400">
                  <a:lnSpc>
                    <a:spcPct val="115000"/>
                  </a:lnSpc>
                  <a:spcBef>
                    <a:spcPts val="0"/>
                  </a:spcBef>
                  <a:spcAft>
                    <a:spcPts val="2133"/>
                  </a:spcAft>
                  <a:buClr>
                    <a:schemeClr val="dk1"/>
                  </a:buClr>
                  <a:buSzPts val="2400"/>
                  <a:buFont typeface="Arial"/>
                  <a:buChar char="●"/>
                  <a:defRPr sz="2400" b="0" i="0" u="none" strike="noStrike" cap="none">
                    <a:solidFill>
                      <a:srgbClr val="7030A0"/>
                    </a:solidFill>
                    <a:effectLst/>
                    <a:latin typeface="Open Sans" panose="020B0606030504020204" pitchFamily="34" charset="0"/>
                    <a:ea typeface="Arial"/>
                    <a:cs typeface="Arial"/>
                  </a:defRPr>
                </a:lvl1pPr>
                <a:lvl2pPr marL="914400" marR="0" lvl="1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○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2pPr>
                <a:lvl3pPr marL="1371600" marR="0" lvl="2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■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3pPr>
                <a:lvl4pPr marL="1828800" marR="0" lvl="3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●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4pPr>
                <a:lvl5pPr marL="2286000" marR="0" lvl="4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○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5pPr>
                <a:lvl6pPr marL="2743200" marR="0" lvl="5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■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6pPr>
                <a:lvl7pPr marL="3200400" marR="0" lvl="6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●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7pPr>
                <a:lvl8pPr marL="3657600" marR="0" lvl="7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○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8pPr>
                <a:lvl9pPr marL="4114800" marR="0" lvl="8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■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Forward Training Parameter Matrix: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bSup>
                  </m:oMath>
                </a14:m>
                <a:r>
                  <a:rPr lang="en-US" dirty="0"/>
                  <a:t> is weight factor from neutron </a:t>
                </a:r>
                <a:r>
                  <a:rPr lang="en-US" dirty="0" err="1"/>
                  <a:t>i</a:t>
                </a:r>
                <a:r>
                  <a:rPr lang="en-US" dirty="0"/>
                  <a:t> at layer k to neutron j at layer k+1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bSup>
                  </m:oMath>
                </a14:m>
                <a:r>
                  <a:rPr lang="en-US" dirty="0"/>
                  <a:t> is bias for each node </a:t>
                </a:r>
                <a:r>
                  <a:rPr lang="en-US" dirty="0" err="1"/>
                  <a:t>i</a:t>
                </a:r>
                <a:r>
                  <a:rPr lang="en-US" dirty="0"/>
                  <a:t> in each layer k</a:t>
                </a:r>
              </a:p>
            </p:txBody>
          </p:sp>
        </mc:Choice>
        <mc:Fallback xmlns="">
          <p:sp>
            <p:nvSpPr>
              <p:cNvPr id="4" name="Google Shape;581;p31">
                <a:extLst>
                  <a:ext uri="{FF2B5EF4-FFF2-40B4-BE49-F238E27FC236}">
                    <a16:creationId xmlns:a16="http://schemas.microsoft.com/office/drawing/2014/main" id="{2B407C98-F9DE-4DB5-802E-23615E8FA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31" y="418065"/>
                <a:ext cx="11042575" cy="1248903"/>
              </a:xfrm>
              <a:prstGeom prst="rect">
                <a:avLst/>
              </a:prstGeom>
              <a:blipFill>
                <a:blip r:embed="rId2"/>
                <a:stretch>
                  <a:fillRect l="-607" b="-19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580;p31">
            <a:extLst>
              <a:ext uri="{FF2B5EF4-FFF2-40B4-BE49-F238E27FC236}">
                <a16:creationId xmlns:a16="http://schemas.microsoft.com/office/drawing/2014/main" id="{788AF672-AC17-4BF4-83A0-2025DF4F8DAB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5D149-AFFD-4A98-9511-A8F1709FB24B}"/>
              </a:ext>
            </a:extLst>
          </p:cNvPr>
          <p:cNvSpPr txBox="1"/>
          <p:nvPr/>
        </p:nvSpPr>
        <p:spPr>
          <a:xfrm>
            <a:off x="1920974" y="3230441"/>
            <a:ext cx="734518" cy="213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X1</a:t>
            </a:r>
          </a:p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X2</a:t>
            </a:r>
          </a:p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X3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195E71-1502-4846-898E-0BAAABEC5779}"/>
              </a:ext>
            </a:extLst>
          </p:cNvPr>
          <p:cNvSpPr txBox="1"/>
          <p:nvPr/>
        </p:nvSpPr>
        <p:spPr>
          <a:xfrm>
            <a:off x="10102506" y="3555228"/>
            <a:ext cx="734518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b="1" dirty="0">
                <a:latin typeface="Modern Love Grunge" panose="020B0604020202020204" pitchFamily="82" charset="0"/>
                <a:ea typeface="Adobe Ming Std L" panose="02020300000000000000" pitchFamily="18" charset="-128"/>
              </a:rPr>
              <a:t>Y1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Modern Love Grunge" panose="020B0604020202020204" pitchFamily="82" charset="0"/>
                <a:ea typeface="Adobe Ming Std L" panose="02020300000000000000" pitchFamily="18" charset="-128"/>
              </a:rPr>
              <a:t>Y2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44EF3C-F1F3-4416-A5BC-C6C507AE2E40}"/>
                  </a:ext>
                </a:extLst>
              </p:cNvPr>
              <p:cNvSpPr txBox="1"/>
              <p:nvPr/>
            </p:nvSpPr>
            <p:spPr>
              <a:xfrm>
                <a:off x="4309332" y="2834910"/>
                <a:ext cx="734518" cy="284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𝟐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p>
                      </m:sSubSup>
                      <m:r>
                        <a:rPr lang="en-US" sz="2800" b="1" i="1" smtClean="0">
                          <a:latin typeface="Cambria Math" panose="02040503050406030204" pitchFamily="18" charset="0"/>
                          <a:ea typeface="Adobe Gothic Std B" panose="020B0800000000000000" pitchFamily="34" charset="-128"/>
                        </a:rPr>
                        <m:t> 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𝟑</m:t>
                          </m:r>
                        </m:sub>
                        <m:sup>
                          <m:r>
                            <a:rPr lang="en-US" sz="2800" b="1" i="1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44EF3C-F1F3-4416-A5BC-C6C507AE2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332" y="2834910"/>
                <a:ext cx="734518" cy="28487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750CE0F6-5C54-4518-B203-68306034F515}"/>
              </a:ext>
            </a:extLst>
          </p:cNvPr>
          <p:cNvGrpSpPr/>
          <p:nvPr/>
        </p:nvGrpSpPr>
        <p:grpSpPr>
          <a:xfrm>
            <a:off x="6604867" y="2994218"/>
            <a:ext cx="1044316" cy="2730269"/>
            <a:chOff x="1014333" y="2708279"/>
            <a:chExt cx="1044316" cy="273026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AAC882D-6E24-4BAA-A8CF-9213433AD34B}"/>
                </a:ext>
              </a:extLst>
            </p:cNvPr>
            <p:cNvSpPr/>
            <p:nvPr/>
          </p:nvSpPr>
          <p:spPr>
            <a:xfrm>
              <a:off x="1014333" y="2708279"/>
              <a:ext cx="1044316" cy="273026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6C3DAA9-8C65-49B2-8978-718CEABDAD11}"/>
                </a:ext>
              </a:extLst>
            </p:cNvPr>
            <p:cNvSpPr/>
            <p:nvPr/>
          </p:nvSpPr>
          <p:spPr>
            <a:xfrm>
              <a:off x="1218634" y="2839805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E3AC73A-B1DC-4924-BA8C-41DE3E1B2AD2}"/>
                </a:ext>
              </a:extLst>
            </p:cNvPr>
            <p:cNvSpPr/>
            <p:nvPr/>
          </p:nvSpPr>
          <p:spPr>
            <a:xfrm>
              <a:off x="1218634" y="3708607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41A4D71-87D0-4F1B-A434-E2AF9075030D}"/>
                </a:ext>
              </a:extLst>
            </p:cNvPr>
            <p:cNvSpPr/>
            <p:nvPr/>
          </p:nvSpPr>
          <p:spPr>
            <a:xfrm>
              <a:off x="1218634" y="4577409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Baguet Script" panose="00000500000000000000" pitchFamily="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9502B40-330D-4D61-A114-2BDAB8C4C0B7}"/>
                  </a:ext>
                </a:extLst>
              </p:cNvPr>
              <p:cNvSpPr txBox="1"/>
              <p:nvPr/>
            </p:nvSpPr>
            <p:spPr>
              <a:xfrm>
                <a:off x="6762605" y="2777601"/>
                <a:ext cx="734518" cy="2902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𝟐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𝟐</m:t>
                          </m:r>
                        </m:sup>
                      </m:sSubSup>
                      <m:r>
                        <a:rPr lang="en-US" sz="2800" b="1" i="1" smtClean="0">
                          <a:latin typeface="Cambria Math" panose="02040503050406030204" pitchFamily="18" charset="0"/>
                          <a:ea typeface="Adobe Gothic Std B" panose="020B0800000000000000" pitchFamily="34" charset="-128"/>
                        </a:rPr>
                        <m:t> 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𝟑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9502B40-330D-4D61-A114-2BDAB8C4C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605" y="2777601"/>
                <a:ext cx="734518" cy="29029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CB51ABB1-160F-46B2-BBCE-0C692C0EF9CA}"/>
              </a:ext>
            </a:extLst>
          </p:cNvPr>
          <p:cNvGrpSpPr/>
          <p:nvPr/>
        </p:nvGrpSpPr>
        <p:grpSpPr>
          <a:xfrm>
            <a:off x="8439467" y="5249106"/>
            <a:ext cx="559631" cy="136164"/>
            <a:chOff x="8859187" y="3297836"/>
            <a:chExt cx="559631" cy="13616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EF10C3F-78C7-4A06-A5FB-E72690D47728}"/>
                </a:ext>
              </a:extLst>
            </p:cNvPr>
            <p:cNvSpPr/>
            <p:nvPr/>
          </p:nvSpPr>
          <p:spPr>
            <a:xfrm>
              <a:off x="8859187" y="3297836"/>
              <a:ext cx="104931" cy="1311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52878A-2D2B-4DC2-85F1-E9C8ABF3DD05}"/>
                </a:ext>
              </a:extLst>
            </p:cNvPr>
            <p:cNvSpPr/>
            <p:nvPr/>
          </p:nvSpPr>
          <p:spPr>
            <a:xfrm>
              <a:off x="9086537" y="3300336"/>
              <a:ext cx="104931" cy="1311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B2FB830-8624-4540-9D6D-7F4F4FE14A72}"/>
                </a:ext>
              </a:extLst>
            </p:cNvPr>
            <p:cNvSpPr/>
            <p:nvPr/>
          </p:nvSpPr>
          <p:spPr>
            <a:xfrm>
              <a:off x="9313887" y="3302835"/>
              <a:ext cx="104931" cy="1311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66309F2-D3B5-4848-ADEE-BD418E959A59}"/>
              </a:ext>
            </a:extLst>
          </p:cNvPr>
          <p:cNvSpPr txBox="1"/>
          <p:nvPr/>
        </p:nvSpPr>
        <p:spPr>
          <a:xfrm>
            <a:off x="1057456" y="6223979"/>
            <a:ext cx="10877213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Input layer: 0                    </a:t>
            </a:r>
            <a:r>
              <a:rPr lang="en-US" b="1" dirty="0">
                <a:solidFill>
                  <a:srgbClr val="002060"/>
                </a:solidFill>
                <a:highlight>
                  <a:srgbClr val="FFFF00"/>
                </a:highlight>
              </a:rPr>
              <a:t>hidden layer: 1               hidden layer: 2, … , n  </a:t>
            </a:r>
            <a:r>
              <a:rPr lang="en-US" b="1" dirty="0">
                <a:solidFill>
                  <a:srgbClr val="002060"/>
                </a:solidFill>
              </a:rPr>
              <a:t>                             Output Layer n+1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24B2709-A780-40FE-AD35-18AB4F905072}"/>
              </a:ext>
            </a:extLst>
          </p:cNvPr>
          <p:cNvCxnSpPr>
            <a:cxnSpLocks/>
          </p:cNvCxnSpPr>
          <p:nvPr/>
        </p:nvCxnSpPr>
        <p:spPr>
          <a:xfrm flipV="1">
            <a:off x="2491731" y="3529019"/>
            <a:ext cx="1861741" cy="152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99064F7-655C-4A39-A3D3-5C17957B2E8C}"/>
              </a:ext>
            </a:extLst>
          </p:cNvPr>
          <p:cNvCxnSpPr>
            <a:cxnSpLocks/>
          </p:cNvCxnSpPr>
          <p:nvPr/>
        </p:nvCxnSpPr>
        <p:spPr>
          <a:xfrm>
            <a:off x="2524304" y="3536641"/>
            <a:ext cx="1817601" cy="17459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02173B4-EA1B-406B-B25F-6C4BDE3C8309}"/>
              </a:ext>
            </a:extLst>
          </p:cNvPr>
          <p:cNvCxnSpPr>
            <a:cxnSpLocks/>
          </p:cNvCxnSpPr>
          <p:nvPr/>
        </p:nvCxnSpPr>
        <p:spPr>
          <a:xfrm flipV="1">
            <a:off x="2471977" y="3524015"/>
            <a:ext cx="1881495" cy="8808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3AB3729-0408-421A-A8E0-D4556C5DADB5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2491731" y="3536641"/>
            <a:ext cx="1817601" cy="7226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46F137D-DF4C-4C69-86DC-DFCF0CA7EBB1}"/>
              </a:ext>
            </a:extLst>
          </p:cNvPr>
          <p:cNvCxnSpPr>
            <a:cxnSpLocks/>
          </p:cNvCxnSpPr>
          <p:nvPr/>
        </p:nvCxnSpPr>
        <p:spPr>
          <a:xfrm flipV="1">
            <a:off x="2450946" y="4386303"/>
            <a:ext cx="1842138" cy="3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42BEA70-22D7-4007-986B-AA66F295361A}"/>
              </a:ext>
            </a:extLst>
          </p:cNvPr>
          <p:cNvCxnSpPr>
            <a:cxnSpLocks/>
          </p:cNvCxnSpPr>
          <p:nvPr/>
        </p:nvCxnSpPr>
        <p:spPr>
          <a:xfrm>
            <a:off x="2524304" y="4409607"/>
            <a:ext cx="1801353" cy="8713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B62180-DD9E-46AB-B191-95AF67E61D4D}"/>
              </a:ext>
            </a:extLst>
          </p:cNvPr>
          <p:cNvCxnSpPr>
            <a:cxnSpLocks/>
          </p:cNvCxnSpPr>
          <p:nvPr/>
        </p:nvCxnSpPr>
        <p:spPr>
          <a:xfrm flipV="1">
            <a:off x="2476813" y="3522428"/>
            <a:ext cx="1848844" cy="17445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8F78E97-AC70-4B67-8F53-4BC6171F5F1E}"/>
              </a:ext>
            </a:extLst>
          </p:cNvPr>
          <p:cNvCxnSpPr>
            <a:cxnSpLocks/>
          </p:cNvCxnSpPr>
          <p:nvPr/>
        </p:nvCxnSpPr>
        <p:spPr>
          <a:xfrm>
            <a:off x="2459438" y="5250245"/>
            <a:ext cx="1894034" cy="538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89AED61-2354-4F05-8B26-720268E6D303}"/>
              </a:ext>
            </a:extLst>
          </p:cNvPr>
          <p:cNvCxnSpPr>
            <a:cxnSpLocks/>
          </p:cNvCxnSpPr>
          <p:nvPr/>
        </p:nvCxnSpPr>
        <p:spPr>
          <a:xfrm flipV="1">
            <a:off x="2491731" y="4436951"/>
            <a:ext cx="1908304" cy="808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BFF62D1-B9AE-4614-AC9B-894410BC770B}"/>
              </a:ext>
            </a:extLst>
          </p:cNvPr>
          <p:cNvCxnSpPr>
            <a:cxnSpLocks/>
          </p:cNvCxnSpPr>
          <p:nvPr/>
        </p:nvCxnSpPr>
        <p:spPr>
          <a:xfrm flipV="1">
            <a:off x="4960845" y="3460535"/>
            <a:ext cx="1861741" cy="152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24E3953-5EA4-48DE-90E5-CB2A64BCE5E1}"/>
              </a:ext>
            </a:extLst>
          </p:cNvPr>
          <p:cNvCxnSpPr>
            <a:cxnSpLocks/>
          </p:cNvCxnSpPr>
          <p:nvPr/>
        </p:nvCxnSpPr>
        <p:spPr>
          <a:xfrm>
            <a:off x="4993418" y="3468157"/>
            <a:ext cx="1817601" cy="17459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D690C08-304C-4512-A550-CFDD16727763}"/>
              </a:ext>
            </a:extLst>
          </p:cNvPr>
          <p:cNvCxnSpPr>
            <a:cxnSpLocks/>
          </p:cNvCxnSpPr>
          <p:nvPr/>
        </p:nvCxnSpPr>
        <p:spPr>
          <a:xfrm flipV="1">
            <a:off x="4941091" y="3455531"/>
            <a:ext cx="1881495" cy="8808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D001E6C-00CF-4AAB-A346-55AC0360AE3C}"/>
              </a:ext>
            </a:extLst>
          </p:cNvPr>
          <p:cNvCxnSpPr>
            <a:cxnSpLocks/>
          </p:cNvCxnSpPr>
          <p:nvPr/>
        </p:nvCxnSpPr>
        <p:spPr>
          <a:xfrm>
            <a:off x="4960845" y="3468157"/>
            <a:ext cx="1817601" cy="7226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EC83E84-42C8-421C-8131-779AFDADE2DA}"/>
              </a:ext>
            </a:extLst>
          </p:cNvPr>
          <p:cNvCxnSpPr>
            <a:cxnSpLocks/>
          </p:cNvCxnSpPr>
          <p:nvPr/>
        </p:nvCxnSpPr>
        <p:spPr>
          <a:xfrm flipV="1">
            <a:off x="4920060" y="4317819"/>
            <a:ext cx="1842138" cy="3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38E5700-2F96-4C5E-9F68-5C8302AAC636}"/>
              </a:ext>
            </a:extLst>
          </p:cNvPr>
          <p:cNvCxnSpPr>
            <a:cxnSpLocks/>
          </p:cNvCxnSpPr>
          <p:nvPr/>
        </p:nvCxnSpPr>
        <p:spPr>
          <a:xfrm>
            <a:off x="4993418" y="4341123"/>
            <a:ext cx="1801353" cy="8713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9326222-A039-4CF9-8E1F-A833C84703CE}"/>
              </a:ext>
            </a:extLst>
          </p:cNvPr>
          <p:cNvCxnSpPr>
            <a:cxnSpLocks/>
          </p:cNvCxnSpPr>
          <p:nvPr/>
        </p:nvCxnSpPr>
        <p:spPr>
          <a:xfrm flipV="1">
            <a:off x="4945927" y="3453944"/>
            <a:ext cx="1848844" cy="17445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D3CBF9B-1760-49C1-9DDC-A8BC87BBE2F1}"/>
              </a:ext>
            </a:extLst>
          </p:cNvPr>
          <p:cNvCxnSpPr>
            <a:cxnSpLocks/>
          </p:cNvCxnSpPr>
          <p:nvPr/>
        </p:nvCxnSpPr>
        <p:spPr>
          <a:xfrm>
            <a:off x="4928552" y="5181761"/>
            <a:ext cx="1894034" cy="538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E5C262-9548-404B-9954-EB5C21767D45}"/>
              </a:ext>
            </a:extLst>
          </p:cNvPr>
          <p:cNvCxnSpPr>
            <a:cxnSpLocks/>
          </p:cNvCxnSpPr>
          <p:nvPr/>
        </p:nvCxnSpPr>
        <p:spPr>
          <a:xfrm flipV="1">
            <a:off x="4960845" y="4368467"/>
            <a:ext cx="1908304" cy="808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0E4DBEB-DBF5-4D15-909D-00C9CF2676DC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7375175" y="3475780"/>
            <a:ext cx="2643297" cy="2919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16BD0D5-82C9-4398-B19D-EBD79DB83162}"/>
              </a:ext>
            </a:extLst>
          </p:cNvPr>
          <p:cNvCxnSpPr>
            <a:cxnSpLocks/>
          </p:cNvCxnSpPr>
          <p:nvPr/>
        </p:nvCxnSpPr>
        <p:spPr>
          <a:xfrm flipV="1">
            <a:off x="7355421" y="3792070"/>
            <a:ext cx="2582873" cy="5442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8C5FFE2-08BE-4D1A-970E-C5F44EDC0172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375175" y="3468157"/>
            <a:ext cx="2643297" cy="11384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19AE201-DF02-458D-B1C3-82B5E7BD577C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407748" y="4341123"/>
            <a:ext cx="2610724" cy="2654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FC83A55-6A93-42FC-8C6E-EB1D6CE5BEFC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7360257" y="3767768"/>
            <a:ext cx="2658215" cy="1430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D08F1B0-1516-411E-9AE4-1A5B5F3EC960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7375175" y="4606590"/>
            <a:ext cx="2643297" cy="5704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56197C9-E094-439D-9554-0B62392DEA59}"/>
              </a:ext>
            </a:extLst>
          </p:cNvPr>
          <p:cNvSpPr txBox="1"/>
          <p:nvPr/>
        </p:nvSpPr>
        <p:spPr>
          <a:xfrm>
            <a:off x="3121690" y="2516622"/>
            <a:ext cx="7281015" cy="94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3200" dirty="0">
                <a:latin typeface="Baguet Script" panose="00000500000000000000" pitchFamily="2" charset="0"/>
              </a:rPr>
              <a:t>W</a:t>
            </a:r>
            <a:r>
              <a:rPr lang="en-US" sz="3200" baseline="30000" dirty="0">
                <a:latin typeface="Baguet Script" panose="00000500000000000000" pitchFamily="2" charset="0"/>
              </a:rPr>
              <a:t>0</a:t>
            </a:r>
            <a:r>
              <a:rPr lang="en-US" sz="3200" dirty="0">
                <a:latin typeface="Baguet Script" panose="00000500000000000000" pitchFamily="2" charset="0"/>
              </a:rPr>
              <a:t>                         W</a:t>
            </a:r>
            <a:r>
              <a:rPr lang="en-US" sz="3200" baseline="30000" dirty="0">
                <a:latin typeface="Baguet Script" panose="00000500000000000000" pitchFamily="2" charset="0"/>
              </a:rPr>
              <a:t>1</a:t>
            </a:r>
            <a:r>
              <a:rPr lang="en-US" sz="3200" dirty="0">
                <a:latin typeface="Baguet Script" panose="00000500000000000000" pitchFamily="2" charset="0"/>
              </a:rPr>
              <a:t>                      W</a:t>
            </a:r>
            <a:r>
              <a:rPr lang="en-US" sz="3200" baseline="30000" dirty="0">
                <a:latin typeface="Baguet Script" panose="00000500000000000000" pitchFamily="2" charset="0"/>
              </a:rPr>
              <a:t>2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A922420-9047-4E14-9DF9-0BEEA47260D9}"/>
              </a:ext>
            </a:extLst>
          </p:cNvPr>
          <p:cNvGrpSpPr/>
          <p:nvPr/>
        </p:nvGrpSpPr>
        <p:grpSpPr>
          <a:xfrm>
            <a:off x="4362472" y="2483747"/>
            <a:ext cx="407294" cy="394415"/>
            <a:chOff x="4686300" y="1320085"/>
            <a:chExt cx="407294" cy="394415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0A2CE31-1DEC-4492-87FB-C4CBA36B8CFB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00" y="1320085"/>
              <a:ext cx="0" cy="39441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ABA37602-F2D9-4DBC-AD2F-341CCA28A6AF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00" y="1714500"/>
              <a:ext cx="407294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39ABB97-75BC-469B-9F0A-AAF1738EE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300" y="1329888"/>
              <a:ext cx="407294" cy="38461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Connector: Curved 88">
            <a:extLst>
              <a:ext uri="{FF2B5EF4-FFF2-40B4-BE49-F238E27FC236}">
                <a16:creationId xmlns:a16="http://schemas.microsoft.com/office/drawing/2014/main" id="{46BD2DA3-D900-4AF2-9EFA-87DD2645EC07}"/>
              </a:ext>
            </a:extLst>
          </p:cNvPr>
          <p:cNvCxnSpPr>
            <a:cxnSpLocks/>
          </p:cNvCxnSpPr>
          <p:nvPr/>
        </p:nvCxnSpPr>
        <p:spPr>
          <a:xfrm flipH="1">
            <a:off x="6876475" y="2359543"/>
            <a:ext cx="582084" cy="568873"/>
          </a:xfrm>
          <a:prstGeom prst="curvedConnector3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Arrow: Down 89">
            <a:extLst>
              <a:ext uri="{FF2B5EF4-FFF2-40B4-BE49-F238E27FC236}">
                <a16:creationId xmlns:a16="http://schemas.microsoft.com/office/drawing/2014/main" id="{08AA2866-3DB1-41C7-94F0-429E73E71B33}"/>
              </a:ext>
            </a:extLst>
          </p:cNvPr>
          <p:cNvSpPr/>
          <p:nvPr/>
        </p:nvSpPr>
        <p:spPr>
          <a:xfrm rot="8061105">
            <a:off x="3742518" y="2508578"/>
            <a:ext cx="428928" cy="669362"/>
          </a:xfrm>
          <a:prstGeom prst="downArrow">
            <a:avLst>
              <a:gd name="adj1" fmla="val 46580"/>
              <a:gd name="adj2" fmla="val 50000"/>
            </a:avLst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D819A7D-5B74-4AFC-80D8-1E53F48C2E47}"/>
              </a:ext>
            </a:extLst>
          </p:cNvPr>
          <p:cNvSpPr txBox="1"/>
          <p:nvPr/>
        </p:nvSpPr>
        <p:spPr>
          <a:xfrm>
            <a:off x="10839011" y="3717913"/>
            <a:ext cx="14919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  <a:latin typeface="Modern Love Grunge" panose="04070805081005020601" pitchFamily="82" charset="0"/>
              </a:rPr>
              <a:t>Y </a:t>
            </a:r>
            <a:r>
              <a:rPr lang="en-US" sz="2800" baseline="-25000" dirty="0">
                <a:highlight>
                  <a:srgbClr val="FFFF00"/>
                </a:highlight>
                <a:latin typeface="Broadway" panose="04040905080B02020502" pitchFamily="82" charset="0"/>
              </a:rPr>
              <a:t>1</a:t>
            </a:r>
            <a:r>
              <a:rPr lang="en-US" sz="2800" dirty="0">
                <a:highlight>
                  <a:srgbClr val="FFFF00"/>
                </a:highlight>
                <a:latin typeface="Broadway" panose="04040905080B02020502" pitchFamily="82" charset="0"/>
              </a:rPr>
              <a:t> =0</a:t>
            </a:r>
          </a:p>
          <a:p>
            <a:r>
              <a:rPr lang="en-US" sz="2800" dirty="0">
                <a:highlight>
                  <a:srgbClr val="FFFF00"/>
                </a:highlight>
                <a:latin typeface="Modern Love Grunge" panose="04070805081005020601" pitchFamily="82" charset="0"/>
              </a:rPr>
              <a:t>Y </a:t>
            </a:r>
            <a:r>
              <a:rPr lang="en-US" sz="2800" baseline="-25000" dirty="0">
                <a:highlight>
                  <a:srgbClr val="FFFF00"/>
                </a:highlight>
                <a:latin typeface="Broadway" panose="04040905080B02020502" pitchFamily="82" charset="0"/>
              </a:rPr>
              <a:t>2</a:t>
            </a:r>
            <a:r>
              <a:rPr lang="en-US" sz="2800" dirty="0">
                <a:highlight>
                  <a:srgbClr val="FFFF00"/>
                </a:highlight>
                <a:latin typeface="Broadway" panose="04040905080B02020502" pitchFamily="82" charset="0"/>
              </a:rPr>
              <a:t> 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9FE65E2-96A1-4C7C-8E4A-032AA0C9CD31}"/>
                  </a:ext>
                </a:extLst>
              </p:cNvPr>
              <p:cNvSpPr txBox="1"/>
              <p:nvPr/>
            </p:nvSpPr>
            <p:spPr>
              <a:xfrm>
                <a:off x="189835" y="1760187"/>
                <a:ext cx="10212870" cy="542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sz="2400" b="1" dirty="0"/>
                  <a:t>=</a:t>
                </a:r>
                <a:r>
                  <a:rPr lang="en-US" sz="2400" b="1" i="1" dirty="0" err="1"/>
                  <a:t>Relu</a:t>
                </a:r>
                <a:r>
                  <a:rPr lang="en-US" sz="2400" b="1" i="1" dirty="0"/>
                  <a:t> </a:t>
                </a:r>
                <a:r>
                  <a:rPr lang="en-US" sz="2400" b="1" dirty="0"/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4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b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b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bSup>
                    <m:r>
                      <m:rPr>
                        <m:nor/>
                      </m:rPr>
                      <a:rPr lang="en-US" sz="2400" b="1" dirty="0"/>
                      <m:t>=</m:t>
                    </m:r>
                    <m:r>
                      <m:rPr>
                        <m:nor/>
                      </m:rPr>
                      <a:rPr lang="en-US" sz="2400" b="1" i="1" dirty="0"/>
                      <m:t>sigmoid</m:t>
                    </m:r>
                    <m:r>
                      <m:rPr>
                        <m:nor/>
                      </m:rPr>
                      <a:rPr lang="en-US" sz="2400" b="1" i="1" dirty="0"/>
                      <m:t> </m:t>
                    </m:r>
                    <m:r>
                      <m:rPr>
                        <m:nor/>
                      </m:rPr>
                      <a:rPr lang="en-US" sz="2400" b="1" dirty="0"/>
                      <m:t>(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4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9FE65E2-96A1-4C7C-8E4A-032AA0C9C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35" y="1760187"/>
                <a:ext cx="10212870" cy="542969"/>
              </a:xfrm>
              <a:prstGeom prst="rect">
                <a:avLst/>
              </a:prstGeom>
              <a:blipFill>
                <a:blip r:embed="rId5"/>
                <a:stretch>
                  <a:fillRect t="-2247" b="-16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332B404-88B2-423D-88D0-56F1562C89F9}"/>
                  </a:ext>
                </a:extLst>
              </p:cNvPr>
              <p:cNvSpPr txBox="1"/>
              <p:nvPr/>
            </p:nvSpPr>
            <p:spPr>
              <a:xfrm>
                <a:off x="8302580" y="2337813"/>
                <a:ext cx="3889420" cy="542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/>
                  <a:t>=</a:t>
                </a:r>
                <a:r>
                  <a:rPr lang="en-US" sz="2400" b="1" i="1" dirty="0" err="1"/>
                  <a:t>Relu</a:t>
                </a:r>
                <a:r>
                  <a:rPr lang="en-US" sz="2400" b="1" i="1" dirty="0"/>
                  <a:t> </a:t>
                </a:r>
                <a:r>
                  <a:rPr lang="en-US" sz="2400" b="1" dirty="0"/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4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332B404-88B2-423D-88D0-56F1562C8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580" y="2337813"/>
                <a:ext cx="3889420" cy="542969"/>
              </a:xfrm>
              <a:prstGeom prst="rect">
                <a:avLst/>
              </a:prstGeom>
              <a:blipFill>
                <a:blip r:embed="rId6"/>
                <a:stretch>
                  <a:fillRect t="-2222" b="-1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Arrow: Down 81">
            <a:extLst>
              <a:ext uri="{FF2B5EF4-FFF2-40B4-BE49-F238E27FC236}">
                <a16:creationId xmlns:a16="http://schemas.microsoft.com/office/drawing/2014/main" id="{3E7625AA-20FE-42F9-A542-A1F41BEE1B6B}"/>
              </a:ext>
            </a:extLst>
          </p:cNvPr>
          <p:cNvSpPr/>
          <p:nvPr/>
        </p:nvSpPr>
        <p:spPr>
          <a:xfrm rot="8564754">
            <a:off x="9544677" y="2785834"/>
            <a:ext cx="428928" cy="669362"/>
          </a:xfrm>
          <a:prstGeom prst="downArrow">
            <a:avLst>
              <a:gd name="adj1" fmla="val 46580"/>
              <a:gd name="adj2" fmla="val 50000"/>
            </a:avLst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Arrow: Down 83">
            <a:extLst>
              <a:ext uri="{FF2B5EF4-FFF2-40B4-BE49-F238E27FC236}">
                <a16:creationId xmlns:a16="http://schemas.microsoft.com/office/drawing/2014/main" id="{48D69E1A-7A11-431A-932E-25205A37D4C2}"/>
              </a:ext>
            </a:extLst>
          </p:cNvPr>
          <p:cNvSpPr/>
          <p:nvPr/>
        </p:nvSpPr>
        <p:spPr>
          <a:xfrm rot="8564754">
            <a:off x="6221197" y="2474886"/>
            <a:ext cx="428928" cy="669362"/>
          </a:xfrm>
          <a:prstGeom prst="downArrow">
            <a:avLst>
              <a:gd name="adj1" fmla="val 46580"/>
              <a:gd name="adj2" fmla="val 50000"/>
            </a:avLst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05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76AE91-79D5-4A96-9374-00129E42B0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70" t="25569" r="36471" b="20628"/>
          <a:stretch/>
        </p:blipFill>
        <p:spPr>
          <a:xfrm>
            <a:off x="0" y="7132319"/>
            <a:ext cx="6895652" cy="3689873"/>
          </a:xfrm>
          <a:prstGeom prst="rect">
            <a:avLst/>
          </a:prstGeom>
        </p:spPr>
      </p:pic>
      <p:pic>
        <p:nvPicPr>
          <p:cNvPr id="1026" name="Picture 2" descr="Neural Networks Activation Functions">
            <a:extLst>
              <a:ext uri="{FF2B5EF4-FFF2-40B4-BE49-F238E27FC236}">
                <a16:creationId xmlns:a16="http://schemas.microsoft.com/office/drawing/2014/main" id="{42B5FC17-3109-4690-A17B-F7ED4F3D19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4" t="6598" r="5854" b="7587"/>
          <a:stretch/>
        </p:blipFill>
        <p:spPr bwMode="auto">
          <a:xfrm>
            <a:off x="5529431" y="860611"/>
            <a:ext cx="6250193" cy="565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580;p31">
            <a:extLst>
              <a:ext uri="{FF2B5EF4-FFF2-40B4-BE49-F238E27FC236}">
                <a16:creationId xmlns:a16="http://schemas.microsoft.com/office/drawing/2014/main" id="{E557D491-D65E-4E6E-BA43-6611D82CD33B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sp>
        <p:nvSpPr>
          <p:cNvPr id="7" name="Google Shape;581;p31">
            <a:extLst>
              <a:ext uri="{FF2B5EF4-FFF2-40B4-BE49-F238E27FC236}">
                <a16:creationId xmlns:a16="http://schemas.microsoft.com/office/drawing/2014/main" id="{423060B2-9B73-47A5-B537-148EA91F8C67}"/>
              </a:ext>
            </a:extLst>
          </p:cNvPr>
          <p:cNvSpPr txBox="1">
            <a:spLocks/>
          </p:cNvSpPr>
          <p:nvPr/>
        </p:nvSpPr>
        <p:spPr>
          <a:xfrm>
            <a:off x="751450" y="672319"/>
            <a:ext cx="4365605" cy="586440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571500" marR="0" lvl="0" indent="-57150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buNone/>
            </a:pPr>
            <a:r>
              <a:rPr lang="en-US" dirty="0"/>
              <a:t>How to choose activation function: </a:t>
            </a:r>
          </a:p>
          <a:p>
            <a:pPr marL="0" indent="0" algn="l">
              <a:buNone/>
            </a:pPr>
            <a:r>
              <a:rPr lang="en-US" sz="1800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1. Use leaky </a:t>
            </a:r>
            <a:r>
              <a:rPr lang="en-US" sz="1800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ReLu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function in hidden layers to avoid dead neurons.</a:t>
            </a:r>
          </a:p>
          <a:p>
            <a:pPr marL="0" indent="0" algn="l">
              <a:buNone/>
            </a:pPr>
            <a:r>
              <a:rPr lang="en-US" sz="1800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2. In binary classification use the Sigmoid function in the output layer</a:t>
            </a:r>
          </a:p>
          <a:p>
            <a:pPr marL="0" indent="0" algn="l">
              <a:buNone/>
            </a:pPr>
            <a:r>
              <a:rPr lang="en-US" sz="1800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3. In multi-class classification problem use </a:t>
            </a:r>
            <a:r>
              <a:rPr lang="en-US" sz="1800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Softmax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function in the output layer</a:t>
            </a:r>
          </a:p>
          <a:p>
            <a:pPr marL="0" indent="0" algn="l">
              <a:buNone/>
            </a:pPr>
            <a:r>
              <a:rPr lang="en-US" sz="1800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4. Due to the vanishing gradient at both ends, ‘Sigmoid’ and ‘Tanh’ activation functions are avoided sometimes in deep neural network architectures.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1766B6-562A-4FD0-A0B4-07D4DAD35297}"/>
              </a:ext>
            </a:extLst>
          </p:cNvPr>
          <p:cNvSpPr txBox="1"/>
          <p:nvPr/>
        </p:nvSpPr>
        <p:spPr>
          <a:xfrm>
            <a:off x="5411096" y="6488668"/>
            <a:ext cx="6662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https://www.v7labs.com/blog/neural-networks-activation-functions</a:t>
            </a:r>
          </a:p>
        </p:txBody>
      </p:sp>
    </p:spTree>
    <p:extLst>
      <p:ext uri="{BB962C8B-B14F-4D97-AF65-F5344CB8AC3E}">
        <p14:creationId xmlns:p14="http://schemas.microsoft.com/office/powerpoint/2010/main" val="787229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80;p31">
            <a:extLst>
              <a:ext uri="{FF2B5EF4-FFF2-40B4-BE49-F238E27FC236}">
                <a16:creationId xmlns:a16="http://schemas.microsoft.com/office/drawing/2014/main" id="{788AF672-AC17-4BF4-83A0-2025DF4F8DAB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sp>
        <p:nvSpPr>
          <p:cNvPr id="6" name="Google Shape;581;p31">
            <a:extLst>
              <a:ext uri="{FF2B5EF4-FFF2-40B4-BE49-F238E27FC236}">
                <a16:creationId xmlns:a16="http://schemas.microsoft.com/office/drawing/2014/main" id="{015459EE-0395-49F1-9C77-8525E4D8B31F}"/>
              </a:ext>
            </a:extLst>
          </p:cNvPr>
          <p:cNvSpPr txBox="1">
            <a:spLocks/>
          </p:cNvSpPr>
          <p:nvPr/>
        </p:nvSpPr>
        <p:spPr>
          <a:xfrm>
            <a:off x="810785" y="538170"/>
            <a:ext cx="10845354" cy="7624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DNN training: the ﬁrst-order gradient-based: </a:t>
            </a:r>
            <a:r>
              <a:rPr lang="en-US" b="1" dirty="0">
                <a:solidFill>
                  <a:srgbClr val="FF0000"/>
                </a:solidFill>
              </a:rPr>
              <a:t>activation function f</a:t>
            </a:r>
          </a:p>
        </p:txBody>
      </p:sp>
      <p:sp>
        <p:nvSpPr>
          <p:cNvPr id="2" name="AutoShape 4" descr="learning rate">
            <a:extLst>
              <a:ext uri="{FF2B5EF4-FFF2-40B4-BE49-F238E27FC236}">
                <a16:creationId xmlns:a16="http://schemas.microsoft.com/office/drawing/2014/main" id="{DB25E489-65DF-4910-94ED-FC8CE811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90439" y="325402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88045-4937-4D9B-840B-783755542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57" y="1496429"/>
            <a:ext cx="6381750" cy="704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8B58D8-5484-4800-89A7-4E8D6C5E9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57" y="2139112"/>
            <a:ext cx="6381750" cy="8667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0E1F5C1-9442-41B2-A8CB-A601B78B8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32" y="2956866"/>
            <a:ext cx="6391275" cy="160972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1B35C9B4-233E-46C2-91AC-877248C33464}"/>
              </a:ext>
            </a:extLst>
          </p:cNvPr>
          <p:cNvGrpSpPr/>
          <p:nvPr/>
        </p:nvGrpSpPr>
        <p:grpSpPr>
          <a:xfrm>
            <a:off x="1195004" y="3244338"/>
            <a:ext cx="1086388" cy="986333"/>
            <a:chOff x="4686300" y="1320085"/>
            <a:chExt cx="407294" cy="39441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6AA0764-00A9-4E46-8DF5-6B0969CFB5A2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00" y="1320085"/>
              <a:ext cx="0" cy="39441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FFF5366-1215-42BD-83AE-F5E5BB904CB2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00" y="1714500"/>
              <a:ext cx="407294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3D387ED-8467-4D7A-9AF3-B4E9274EC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300" y="1329888"/>
              <a:ext cx="407294" cy="38461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90FB5D89-A94E-4F27-A834-27F31CF46C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12859" y="2218849"/>
            <a:ext cx="818058" cy="642683"/>
          </a:xfrm>
          <a:prstGeom prst="curvedConnector3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">
                <a:extLst>
                  <a:ext uri="{FF2B5EF4-FFF2-40B4-BE49-F238E27FC236}">
                    <a16:creationId xmlns:a16="http://schemas.microsoft.com/office/drawing/2014/main" id="{91A42C9C-0609-4632-B74E-8633CE532D19}"/>
                  </a:ext>
                </a:extLst>
              </p:cNvPr>
              <p:cNvSpPr txBox="1"/>
              <p:nvPr/>
            </p:nvSpPr>
            <p:spPr>
              <a:xfrm>
                <a:off x="6669147" y="1502725"/>
                <a:ext cx="4986992" cy="267791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dirty="0"/>
                  <a:t> is 1</a:t>
                </a:r>
                <a:r>
                  <a:rPr lang="en-US" sz="2400" baseline="30000" dirty="0"/>
                  <a:t>st</a:t>
                </a:r>
                <a:r>
                  <a:rPr lang="en-US" sz="2400" dirty="0"/>
                  <a:t> derivative of act. function: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In this training sample, we will use Leaky </a:t>
                </a:r>
                <a:r>
                  <a:rPr lang="en-US" sz="2400" dirty="0" err="1"/>
                  <a:t>ReLU</a:t>
                </a:r>
                <a:r>
                  <a:rPr lang="en-US" sz="2400" dirty="0"/>
                  <a:t>.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Leaky </a:t>
                </a:r>
                <a:r>
                  <a:rPr lang="en-US" sz="2400" dirty="0" err="1"/>
                  <a:t>ReLUs</a:t>
                </a:r>
                <a:r>
                  <a:rPr lang="en-US" sz="2400" dirty="0"/>
                  <a:t> attempt to fix the “dying </a:t>
                </a:r>
                <a:r>
                  <a:rPr lang="en-US" sz="2400" dirty="0" err="1"/>
                  <a:t>ReLU</a:t>
                </a:r>
                <a:r>
                  <a:rPr lang="en-US" sz="2400" dirty="0"/>
                  <a:t>” problem.</a:t>
                </a:r>
              </a:p>
            </p:txBody>
          </p:sp>
        </mc:Choice>
        <mc:Fallback xmlns="">
          <p:sp>
            <p:nvSpPr>
              <p:cNvPr id="32" name="TextBox 3">
                <a:extLst>
                  <a:ext uri="{FF2B5EF4-FFF2-40B4-BE49-F238E27FC236}">
                    <a16:creationId xmlns:a16="http://schemas.microsoft.com/office/drawing/2014/main" id="{91A42C9C-0609-4632-B74E-8633CE532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147" y="1502725"/>
                <a:ext cx="4986992" cy="26779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allout: Line 26">
            <a:extLst>
              <a:ext uri="{FF2B5EF4-FFF2-40B4-BE49-F238E27FC236}">
                <a16:creationId xmlns:a16="http://schemas.microsoft.com/office/drawing/2014/main" id="{86564749-2419-4196-BA1C-E62695FC12B1}"/>
              </a:ext>
            </a:extLst>
          </p:cNvPr>
          <p:cNvSpPr/>
          <p:nvPr/>
        </p:nvSpPr>
        <p:spPr>
          <a:xfrm>
            <a:off x="3901489" y="2801349"/>
            <a:ext cx="1278895" cy="584914"/>
          </a:xfrm>
          <a:prstGeom prst="borderCallout1">
            <a:avLst>
              <a:gd name="adj1" fmla="val 16820"/>
              <a:gd name="adj2" fmla="val 101123"/>
              <a:gd name="adj3" fmla="val 127305"/>
              <a:gd name="adj4" fmla="val 11353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Change to 0.05</a:t>
            </a:r>
          </a:p>
        </p:txBody>
      </p:sp>
      <p:sp>
        <p:nvSpPr>
          <p:cNvPr id="34" name="TextBox 3">
            <a:extLst>
              <a:ext uri="{FF2B5EF4-FFF2-40B4-BE49-F238E27FC236}">
                <a16:creationId xmlns:a16="http://schemas.microsoft.com/office/drawing/2014/main" id="{4A1B30FA-8F8D-4DAF-A3E3-45FE7C8C6AE8}"/>
              </a:ext>
            </a:extLst>
          </p:cNvPr>
          <p:cNvSpPr txBox="1"/>
          <p:nvPr/>
        </p:nvSpPr>
        <p:spPr>
          <a:xfrm>
            <a:off x="6669147" y="4395295"/>
            <a:ext cx="4900995" cy="15696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Instead of being 0 when x&lt;0, </a:t>
            </a:r>
          </a:p>
          <a:p>
            <a:r>
              <a:rPr lang="en-US" sz="2400" dirty="0"/>
              <a:t>a leaky </a:t>
            </a:r>
            <a:r>
              <a:rPr lang="en-US" sz="2400" dirty="0" err="1"/>
              <a:t>ReLU</a:t>
            </a:r>
            <a:r>
              <a:rPr lang="en-US" sz="2400" dirty="0"/>
              <a:t> allows a small positive value.</a:t>
            </a:r>
          </a:p>
          <a:p>
            <a:endParaRPr lang="en-US" sz="2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BB56764-DD9C-42DB-8905-0844A3B656C5}"/>
              </a:ext>
            </a:extLst>
          </p:cNvPr>
          <p:cNvCxnSpPr>
            <a:cxnSpLocks/>
          </p:cNvCxnSpPr>
          <p:nvPr/>
        </p:nvCxnSpPr>
        <p:spPr>
          <a:xfrm>
            <a:off x="6186505" y="3668357"/>
            <a:ext cx="482642" cy="7269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FA838D-C4FE-4F95-9A9C-22A15A8044C1}"/>
              </a:ext>
            </a:extLst>
          </p:cNvPr>
          <p:cNvCxnSpPr/>
          <p:nvPr/>
        </p:nvCxnSpPr>
        <p:spPr>
          <a:xfrm>
            <a:off x="5269372" y="3668357"/>
            <a:ext cx="91713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6B0B112-B9F0-4F18-B3CE-E470EADB1E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257" y="5384345"/>
            <a:ext cx="4561837" cy="880355"/>
          </a:xfrm>
          <a:prstGeom prst="rect">
            <a:avLst/>
          </a:prstGeom>
        </p:spPr>
      </p:pic>
      <p:sp>
        <p:nvSpPr>
          <p:cNvPr id="24" name="TextBox 3">
            <a:extLst>
              <a:ext uri="{FF2B5EF4-FFF2-40B4-BE49-F238E27FC236}">
                <a16:creationId xmlns:a16="http://schemas.microsoft.com/office/drawing/2014/main" id="{B733A5B2-4365-4E73-8B75-5E6B24427EE3}"/>
              </a:ext>
            </a:extLst>
          </p:cNvPr>
          <p:cNvSpPr txBox="1"/>
          <p:nvPr/>
        </p:nvSpPr>
        <p:spPr>
          <a:xfrm>
            <a:off x="381058" y="4730824"/>
            <a:ext cx="6046768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Leaky </a:t>
            </a:r>
            <a:r>
              <a:rPr lang="en-US" sz="2400" dirty="0" err="1"/>
              <a:t>ReLU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a= 0.05 when x&lt;0 in this example.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2362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1;p31">
            <a:extLst>
              <a:ext uri="{FF2B5EF4-FFF2-40B4-BE49-F238E27FC236}">
                <a16:creationId xmlns:a16="http://schemas.microsoft.com/office/drawing/2014/main" id="{2B407C98-F9DE-4DB5-802E-23615E8FAB19}"/>
              </a:ext>
            </a:extLst>
          </p:cNvPr>
          <p:cNvSpPr txBox="1">
            <a:spLocks/>
          </p:cNvSpPr>
          <p:nvPr/>
        </p:nvSpPr>
        <p:spPr>
          <a:xfrm>
            <a:off x="571508" y="587680"/>
            <a:ext cx="11048983" cy="105247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571500" marR="0" lvl="0" indent="-57150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DNN performance/error function is used to evaluate the training process, which measures the error between the expected and true output.</a:t>
            </a:r>
          </a:p>
        </p:txBody>
      </p:sp>
      <p:sp>
        <p:nvSpPr>
          <p:cNvPr id="5" name="Google Shape;580;p31">
            <a:extLst>
              <a:ext uri="{FF2B5EF4-FFF2-40B4-BE49-F238E27FC236}">
                <a16:creationId xmlns:a16="http://schemas.microsoft.com/office/drawing/2014/main" id="{788AF672-AC17-4BF4-83A0-2025DF4F8DAB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2FFEF2-40B3-448D-A866-98AB510E4C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92" t="-5316" r="-3266" b="15053"/>
          <a:stretch/>
        </p:blipFill>
        <p:spPr bwMode="auto">
          <a:xfrm>
            <a:off x="193524" y="2863737"/>
            <a:ext cx="4260394" cy="401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D3EF05-7C73-4E07-8111-B6F69DD82EE5}"/>
                  </a:ext>
                </a:extLst>
              </p:cNvPr>
              <p:cNvSpPr txBox="1"/>
              <p:nvPr/>
            </p:nvSpPr>
            <p:spPr>
              <a:xfrm>
                <a:off x="4359766" y="2426283"/>
                <a:ext cx="7158911" cy="4016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d>
                                <m:dPr>
                                  <m:ctrlPr>
                                    <a:rPr lang="pt-B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𝑒𝑥𝑝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𝑜𝑢𝑡𝑝𝑢𝑡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𝐷𝑁𝑁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𝑡𝑒𝑠𝑡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/>
                          </m:sSup>
                        </m:e>
                      </m:nary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𝑒𝑥𝑝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𝑜𝑢𝑡𝑝𝑢𝑡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𝐷𝑁𝑁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𝑡𝑒𝑠𝑡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i="1" dirty="0"/>
                  <a:t>M </a:t>
                </a:r>
                <a:r>
                  <a:rPr lang="en-US" sz="2400" dirty="0"/>
                  <a:t>= training sets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D3EF05-7C73-4E07-8111-B6F69DD82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766" y="2426283"/>
                <a:ext cx="7158911" cy="4016612"/>
              </a:xfrm>
              <a:prstGeom prst="rect">
                <a:avLst/>
              </a:prstGeom>
              <a:blipFill>
                <a:blip r:embed="rId3"/>
                <a:stretch>
                  <a:fillRect l="-1277" b="-2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D57B806-8C45-4D32-B27C-3D7BFCE5A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574" y="3467564"/>
            <a:ext cx="737288" cy="720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8174BB-391E-4EFF-980C-1684424FC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1957" y="2244279"/>
            <a:ext cx="737288" cy="7313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3D22CC-763A-4281-828F-848B9EA8696A}"/>
              </a:ext>
            </a:extLst>
          </p:cNvPr>
          <p:cNvSpPr txBox="1"/>
          <p:nvPr/>
        </p:nvSpPr>
        <p:spPr>
          <a:xfrm>
            <a:off x="1385233" y="2143844"/>
            <a:ext cx="13126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0000"/>
                </a:solidFill>
              </a:rPr>
              <a:t>Output from </a:t>
            </a:r>
            <a:r>
              <a:rPr lang="en-US" b="1" dirty="0" err="1">
                <a:solidFill>
                  <a:srgbClr val="FF0000"/>
                </a:solidFill>
              </a:rPr>
              <a:t>DNN</a:t>
            </a:r>
            <a:r>
              <a:rPr lang="en-US" b="1" dirty="0">
                <a:solidFill>
                  <a:srgbClr val="FF0000"/>
                </a:solidFill>
              </a:rPr>
              <a:t> test 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C4FB08-C901-4F8C-9E80-3D1B28465EC0}"/>
              </a:ext>
            </a:extLst>
          </p:cNvPr>
          <p:cNvSpPr txBox="1"/>
          <p:nvPr/>
        </p:nvSpPr>
        <p:spPr>
          <a:xfrm>
            <a:off x="1324038" y="3467661"/>
            <a:ext cx="1312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0000"/>
                </a:solidFill>
              </a:rPr>
              <a:t>Expected output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AD2498-F141-4E4E-9F50-15898B04B749}"/>
              </a:ext>
            </a:extLst>
          </p:cNvPr>
          <p:cNvSpPr txBox="1"/>
          <p:nvPr/>
        </p:nvSpPr>
        <p:spPr>
          <a:xfrm flipH="1">
            <a:off x="2783118" y="4684765"/>
            <a:ext cx="1018671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b="1" dirty="0">
                <a:latin typeface="Modern Love Grunge" panose="020B0604020202020204" pitchFamily="82" charset="0"/>
                <a:ea typeface="Adobe Ming Std L" panose="02020300000000000000" pitchFamily="18" charset="-128"/>
              </a:rPr>
              <a:t>Y1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1D455D-C1AA-4F38-975F-06BCA5185B84}"/>
                  </a:ext>
                </a:extLst>
              </p:cNvPr>
              <p:cNvSpPr txBox="1"/>
              <p:nvPr/>
            </p:nvSpPr>
            <p:spPr>
              <a:xfrm>
                <a:off x="421421" y="3115004"/>
                <a:ext cx="891188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𝟐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𝒏</m:t>
                          </m:r>
                        </m:sup>
                      </m:sSubSup>
                      <m:r>
                        <a:rPr lang="en-US" sz="2800" b="1" i="1" smtClean="0">
                          <a:latin typeface="Cambria Math" panose="02040503050406030204" pitchFamily="18" charset="0"/>
                          <a:ea typeface="Adobe Gothic Std B" panose="020B0800000000000000" pitchFamily="34" charset="-128"/>
                        </a:rPr>
                        <m:t> 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𝟑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𝟒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1D455D-C1AA-4F38-975F-06BCA5185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21" y="3115004"/>
                <a:ext cx="891188" cy="35394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581;p31">
            <a:extLst>
              <a:ext uri="{FF2B5EF4-FFF2-40B4-BE49-F238E27FC236}">
                <a16:creationId xmlns:a16="http://schemas.microsoft.com/office/drawing/2014/main" id="{4BA8C457-7F18-48A7-B8EB-19FE2EDBC64A}"/>
              </a:ext>
            </a:extLst>
          </p:cNvPr>
          <p:cNvSpPr txBox="1">
            <a:spLocks/>
          </p:cNvSpPr>
          <p:nvPr/>
        </p:nvSpPr>
        <p:spPr>
          <a:xfrm>
            <a:off x="4298571" y="3923240"/>
            <a:ext cx="6569391" cy="5681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571500" marR="0" lvl="0" indent="-57150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error function E= mean square error (MSE)</a:t>
            </a:r>
          </a:p>
        </p:txBody>
      </p:sp>
      <p:sp>
        <p:nvSpPr>
          <p:cNvPr id="16" name="Google Shape;581;p31">
            <a:extLst>
              <a:ext uri="{FF2B5EF4-FFF2-40B4-BE49-F238E27FC236}">
                <a16:creationId xmlns:a16="http://schemas.microsoft.com/office/drawing/2014/main" id="{34B9E77A-7868-4312-8527-28B1F09096A6}"/>
              </a:ext>
            </a:extLst>
          </p:cNvPr>
          <p:cNvSpPr txBox="1">
            <a:spLocks/>
          </p:cNvSpPr>
          <p:nvPr/>
        </p:nvSpPr>
        <p:spPr>
          <a:xfrm>
            <a:off x="4197222" y="1851672"/>
            <a:ext cx="6819281" cy="597483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571500" marR="0" lvl="0" indent="-57150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error function E= mean absolute error (MAE)  </a:t>
            </a:r>
          </a:p>
        </p:txBody>
      </p:sp>
    </p:spTree>
    <p:extLst>
      <p:ext uri="{BB962C8B-B14F-4D97-AF65-F5344CB8AC3E}">
        <p14:creationId xmlns:p14="http://schemas.microsoft.com/office/powerpoint/2010/main" val="376326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80;p31">
            <a:extLst>
              <a:ext uri="{FF2B5EF4-FFF2-40B4-BE49-F238E27FC236}">
                <a16:creationId xmlns:a16="http://schemas.microsoft.com/office/drawing/2014/main" id="{788AF672-AC17-4BF4-83A0-2025DF4F8DAB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sp>
        <p:nvSpPr>
          <p:cNvPr id="6" name="Google Shape;581;p31">
            <a:extLst>
              <a:ext uri="{FF2B5EF4-FFF2-40B4-BE49-F238E27FC236}">
                <a16:creationId xmlns:a16="http://schemas.microsoft.com/office/drawing/2014/main" id="{015459EE-0395-49F1-9C77-8525E4D8B31F}"/>
              </a:ext>
            </a:extLst>
          </p:cNvPr>
          <p:cNvSpPr txBox="1">
            <a:spLocks/>
          </p:cNvSpPr>
          <p:nvPr/>
        </p:nvSpPr>
        <p:spPr>
          <a:xfrm>
            <a:off x="810785" y="538170"/>
            <a:ext cx="10845354" cy="156219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Use the ﬁrst-order gradient-based optimization to update the parameter matrix (weights and bias for each layer) in order to minimize the performance/error function Error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7F0434A8-C05B-4E5D-8BB4-550D25CBFF8F}"/>
              </a:ext>
            </a:extLst>
          </p:cNvPr>
          <p:cNvSpPr txBox="1"/>
          <p:nvPr/>
        </p:nvSpPr>
        <p:spPr>
          <a:xfrm>
            <a:off x="850917" y="2582958"/>
            <a:ext cx="3601415" cy="35469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Find the direction of steepest descend to a local minimum.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Due to complexity in DNN and derivatives of many weights and bias parameters involved in the cost error function, even with intensive training, global min. is not guaranteed.</a:t>
            </a:r>
          </a:p>
          <a:p>
            <a:pPr algn="l"/>
            <a:r>
              <a:rPr lang="en-US" dirty="0"/>
              <a:t>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Training process details are shown in next slides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B20467-2903-4D57-92D4-B0F36404EEB4}"/>
              </a:ext>
            </a:extLst>
          </p:cNvPr>
          <p:cNvGrpSpPr/>
          <p:nvPr/>
        </p:nvGrpSpPr>
        <p:grpSpPr>
          <a:xfrm>
            <a:off x="4896463" y="2140643"/>
            <a:ext cx="6759676" cy="4681552"/>
            <a:chOff x="4896463" y="2140643"/>
            <a:chExt cx="6759676" cy="4681552"/>
          </a:xfrm>
        </p:grpSpPr>
        <p:sp>
          <p:nvSpPr>
            <p:cNvPr id="2" name="AutoShape 4" descr="learning rate">
              <a:extLst>
                <a:ext uri="{FF2B5EF4-FFF2-40B4-BE49-F238E27FC236}">
                  <a16:creationId xmlns:a16="http://schemas.microsoft.com/office/drawing/2014/main" id="{DB25E489-65DF-4910-94ED-FC8CE8111BC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9F07C4D-2C0C-4842-9A65-37D759348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96463" y="2140643"/>
              <a:ext cx="6759676" cy="443158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27DBD45-B24C-4C9C-AF47-5F981E8013A8}"/>
                </a:ext>
              </a:extLst>
            </p:cNvPr>
            <p:cNvSpPr txBox="1"/>
            <p:nvPr/>
          </p:nvSpPr>
          <p:spPr>
            <a:xfrm>
              <a:off x="5427953" y="5175936"/>
              <a:ext cx="1168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  <a:highlight>
                    <a:srgbClr val="FFFF00"/>
                  </a:highlight>
                </a:rPr>
                <a:t>Global </a:t>
              </a:r>
            </a:p>
            <a:p>
              <a:r>
                <a:rPr lang="en-US" b="1" dirty="0">
                  <a:solidFill>
                    <a:srgbClr val="002060"/>
                  </a:solidFill>
                  <a:highlight>
                    <a:srgbClr val="FFFF00"/>
                  </a:highlight>
                </a:rPr>
                <a:t>Minima</a:t>
              </a:r>
              <a:endParaRPr lang="en-US" b="1" dirty="0">
                <a:solidFill>
                  <a:srgbClr val="002060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A65372-9EEA-4A4B-A6A5-B2BB4C245331}"/>
                </a:ext>
              </a:extLst>
            </p:cNvPr>
            <p:cNvSpPr txBox="1"/>
            <p:nvPr/>
          </p:nvSpPr>
          <p:spPr>
            <a:xfrm>
              <a:off x="7753504" y="6175864"/>
              <a:ext cx="10311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  <a:highlight>
                    <a:srgbClr val="FFFF00"/>
                  </a:highlight>
                </a:rPr>
                <a:t>Local min. #1</a:t>
              </a:r>
              <a:endParaRPr lang="en-US" b="1" dirty="0">
                <a:solidFill>
                  <a:srgbClr val="00206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96906CB-E08F-4A59-9E24-8DDA5BAC366F}"/>
                </a:ext>
              </a:extLst>
            </p:cNvPr>
            <p:cNvSpPr txBox="1"/>
            <p:nvPr/>
          </p:nvSpPr>
          <p:spPr>
            <a:xfrm>
              <a:off x="9189255" y="6175864"/>
              <a:ext cx="10311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  <a:highlight>
                    <a:srgbClr val="FFFF00"/>
                  </a:highlight>
                </a:rPr>
                <a:t>Local min. #2</a:t>
              </a:r>
              <a:endParaRPr lang="en-US" b="1" dirty="0">
                <a:solidFill>
                  <a:srgbClr val="002060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C6EEB74-F8F6-4205-BEBD-AEF0CD132796}"/>
                </a:ext>
              </a:extLst>
            </p:cNvPr>
            <p:cNvSpPr/>
            <p:nvPr/>
          </p:nvSpPr>
          <p:spPr>
            <a:xfrm>
              <a:off x="5744104" y="5842405"/>
              <a:ext cx="169513" cy="206327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FC1AFFD-306A-4B40-897F-5EEDCA10B555}"/>
                </a:ext>
              </a:extLst>
            </p:cNvPr>
            <p:cNvSpPr/>
            <p:nvPr/>
          </p:nvSpPr>
          <p:spPr>
            <a:xfrm>
              <a:off x="7976143" y="5511568"/>
              <a:ext cx="169513" cy="206327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95B31A5-25BD-4806-8EE4-7564F0EA9122}"/>
                </a:ext>
              </a:extLst>
            </p:cNvPr>
            <p:cNvSpPr/>
            <p:nvPr/>
          </p:nvSpPr>
          <p:spPr>
            <a:xfrm>
              <a:off x="9620066" y="5305241"/>
              <a:ext cx="169513" cy="206327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05C0810B-29DE-4488-B9E9-2FB3CFF84C4C}"/>
                </a:ext>
              </a:extLst>
            </p:cNvPr>
            <p:cNvSpPr txBox="1"/>
            <p:nvPr/>
          </p:nvSpPr>
          <p:spPr>
            <a:xfrm>
              <a:off x="9789579" y="2879307"/>
              <a:ext cx="1857282" cy="36933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solidFill>
                    <a:srgbClr val="FF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Error Function </a:t>
              </a:r>
            </a:p>
          </p:txBody>
        </p: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69B1305F-5D53-4459-8430-419FF98EB54F}"/>
                </a:ext>
              </a:extLst>
            </p:cNvPr>
            <p:cNvSpPr txBox="1"/>
            <p:nvPr/>
          </p:nvSpPr>
          <p:spPr>
            <a:xfrm>
              <a:off x="5943600" y="6203733"/>
              <a:ext cx="1857282" cy="36933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solidFill>
                    <a:srgbClr val="FF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weight matrix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8236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80;p31">
            <a:extLst>
              <a:ext uri="{FF2B5EF4-FFF2-40B4-BE49-F238E27FC236}">
                <a16:creationId xmlns:a16="http://schemas.microsoft.com/office/drawing/2014/main" id="{788AF672-AC17-4BF4-83A0-2025DF4F8DAB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sp>
        <p:nvSpPr>
          <p:cNvPr id="2" name="AutoShape 4" descr="learning rate">
            <a:extLst>
              <a:ext uri="{FF2B5EF4-FFF2-40B4-BE49-F238E27FC236}">
                <a16:creationId xmlns:a16="http://schemas.microsoft.com/office/drawing/2014/main" id="{DB25E489-65DF-4910-94ED-FC8CE811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0E0623-4C70-44AA-A759-D163638CB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683" y="1668166"/>
            <a:ext cx="4972060" cy="2323057"/>
          </a:xfrm>
          <a:prstGeom prst="rect">
            <a:avLst/>
          </a:prstGeom>
        </p:spPr>
      </p:pic>
      <p:sp>
        <p:nvSpPr>
          <p:cNvPr id="26" name="TextBox 3">
            <a:extLst>
              <a:ext uri="{FF2B5EF4-FFF2-40B4-BE49-F238E27FC236}">
                <a16:creationId xmlns:a16="http://schemas.microsoft.com/office/drawing/2014/main" id="{A68422B3-EBB6-4BDF-9A14-C666CB845462}"/>
              </a:ext>
            </a:extLst>
          </p:cNvPr>
          <p:cNvSpPr txBox="1"/>
          <p:nvPr/>
        </p:nvSpPr>
        <p:spPr>
          <a:xfrm>
            <a:off x="788355" y="4983813"/>
            <a:ext cx="10812388" cy="15696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defTabSz="914400">
              <a:defRPr sz="2400">
                <a:solidFill>
                  <a:schemeClr val="tx1"/>
                </a:solidFill>
              </a:defRPr>
            </a:lvl1pPr>
            <a:lvl2pPr defTabSz="914400">
              <a:defRPr>
                <a:solidFill>
                  <a:schemeClr val="tx1"/>
                </a:solidFill>
              </a:defRPr>
            </a:lvl2pPr>
            <a:lvl3pPr defTabSz="914400">
              <a:defRPr>
                <a:solidFill>
                  <a:schemeClr val="tx1"/>
                </a:solidFill>
              </a:defRPr>
            </a:lvl3pPr>
            <a:lvl4pPr defTabSz="914400">
              <a:defRPr>
                <a:solidFill>
                  <a:schemeClr val="tx1"/>
                </a:solidFill>
              </a:defRPr>
            </a:lvl4pPr>
            <a:lvl5pPr defTabSz="914400">
              <a:defRPr>
                <a:solidFill>
                  <a:schemeClr val="tx1"/>
                </a:solidFill>
              </a:defRPr>
            </a:lvl5pPr>
            <a:lvl6pPr defTabSz="914400">
              <a:defRPr>
                <a:solidFill>
                  <a:schemeClr val="tx1"/>
                </a:solidFill>
              </a:defRPr>
            </a:lvl6pPr>
            <a:lvl7pPr defTabSz="914400">
              <a:defRPr>
                <a:solidFill>
                  <a:schemeClr val="tx1"/>
                </a:solidFill>
              </a:defRPr>
            </a:lvl7pPr>
            <a:lvl8pPr defTabSz="914400">
              <a:defRPr>
                <a:solidFill>
                  <a:schemeClr val="tx1"/>
                </a:solidFill>
              </a:defRPr>
            </a:lvl8pPr>
            <a:lvl9pPr defTabSz="914400"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New weights are calculated by minimizing the error function, where a = [ 0, 1 ] is the learning rate.</a:t>
            </a:r>
          </a:p>
          <a:p>
            <a:r>
              <a:rPr lang="en-US" dirty="0"/>
              <a:t>Learning rate gives additional control on how fast to move on the curve to reach a minima. This training sample, learning rate a=0.25.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A3BF96-782A-4DAB-A18E-711CCEF79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31" y="1294312"/>
            <a:ext cx="5657143" cy="3647619"/>
          </a:xfrm>
          <a:prstGeom prst="rect">
            <a:avLst/>
          </a:prstGeom>
        </p:spPr>
      </p:pic>
      <p:sp>
        <p:nvSpPr>
          <p:cNvPr id="27" name="Google Shape;581;p31">
            <a:extLst>
              <a:ext uri="{FF2B5EF4-FFF2-40B4-BE49-F238E27FC236}">
                <a16:creationId xmlns:a16="http://schemas.microsoft.com/office/drawing/2014/main" id="{B9C337BE-88D5-47B4-ADE8-B83CE44C900A}"/>
              </a:ext>
            </a:extLst>
          </p:cNvPr>
          <p:cNvSpPr txBox="1">
            <a:spLocks/>
          </p:cNvSpPr>
          <p:nvPr/>
        </p:nvSpPr>
        <p:spPr>
          <a:xfrm>
            <a:off x="810785" y="538170"/>
            <a:ext cx="10845354" cy="7624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DNN training: the ﬁrst-order gradient-based: </a:t>
            </a:r>
            <a:r>
              <a:rPr lang="en-US" b="1" dirty="0">
                <a:solidFill>
                  <a:srgbClr val="FF0000"/>
                </a:solidFill>
              </a:rPr>
              <a:t>weight updates </a:t>
            </a:r>
            <a:r>
              <a:rPr lang="el-GR" b="1" dirty="0">
                <a:solidFill>
                  <a:srgbClr val="FF0000"/>
                </a:solidFill>
              </a:rPr>
              <a:t>Δ</a:t>
            </a:r>
            <a:r>
              <a:rPr lang="en-US" b="1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8B1230-9932-42B1-9493-E4320DA31E52}"/>
              </a:ext>
            </a:extLst>
          </p:cNvPr>
          <p:cNvSpPr txBox="1"/>
          <p:nvPr/>
        </p:nvSpPr>
        <p:spPr>
          <a:xfrm>
            <a:off x="9142110" y="4155520"/>
            <a:ext cx="2458633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very small rate will cause slow converge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ACD65F-3248-4366-9633-900372A7E0E8}"/>
              </a:ext>
            </a:extLst>
          </p:cNvPr>
          <p:cNvSpPr txBox="1"/>
          <p:nvPr/>
        </p:nvSpPr>
        <p:spPr>
          <a:xfrm>
            <a:off x="6933848" y="4150745"/>
            <a:ext cx="1845840" cy="65110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very large rate will miss minima</a:t>
            </a:r>
          </a:p>
        </p:txBody>
      </p:sp>
      <p:sp>
        <p:nvSpPr>
          <p:cNvPr id="30" name="Callout: Line 29">
            <a:extLst>
              <a:ext uri="{FF2B5EF4-FFF2-40B4-BE49-F238E27FC236}">
                <a16:creationId xmlns:a16="http://schemas.microsoft.com/office/drawing/2014/main" id="{E420B8BD-6382-4F34-AC05-4A925D45C778}"/>
              </a:ext>
            </a:extLst>
          </p:cNvPr>
          <p:cNvSpPr/>
          <p:nvPr/>
        </p:nvSpPr>
        <p:spPr>
          <a:xfrm>
            <a:off x="4313285" y="4150744"/>
            <a:ext cx="1278895" cy="388056"/>
          </a:xfrm>
          <a:prstGeom prst="borderCallout1">
            <a:avLst>
              <a:gd name="adj1" fmla="val 24540"/>
              <a:gd name="adj2" fmla="val -5685"/>
              <a:gd name="adj3" fmla="val -222701"/>
              <a:gd name="adj4" fmla="val -3443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 = 0.25</a:t>
            </a:r>
          </a:p>
        </p:txBody>
      </p:sp>
    </p:spTree>
    <p:extLst>
      <p:ext uri="{BB962C8B-B14F-4D97-AF65-F5344CB8AC3E}">
        <p14:creationId xmlns:p14="http://schemas.microsoft.com/office/powerpoint/2010/main" val="1528141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80;p31">
            <a:extLst>
              <a:ext uri="{FF2B5EF4-FFF2-40B4-BE49-F238E27FC236}">
                <a16:creationId xmlns:a16="http://schemas.microsoft.com/office/drawing/2014/main" id="{788AF672-AC17-4BF4-83A0-2025DF4F8DAB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 Prediction Non-Trivial Examples</a:t>
            </a:r>
          </a:p>
        </p:txBody>
      </p:sp>
      <p:sp>
        <p:nvSpPr>
          <p:cNvPr id="24" name="Google Shape;581;p31">
            <a:extLst>
              <a:ext uri="{FF2B5EF4-FFF2-40B4-BE49-F238E27FC236}">
                <a16:creationId xmlns:a16="http://schemas.microsoft.com/office/drawing/2014/main" id="{3DA1B94D-DAA4-4E6F-AE0C-D8BC6E50F4E0}"/>
              </a:ext>
            </a:extLst>
          </p:cNvPr>
          <p:cNvSpPr txBox="1">
            <a:spLocks/>
          </p:cNvSpPr>
          <p:nvPr/>
        </p:nvSpPr>
        <p:spPr>
          <a:xfrm>
            <a:off x="723767" y="541604"/>
            <a:ext cx="10744466" cy="604207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3 steps in each iteration of deep neural architectures: Forward Propagation, Backward Propagation, and Optimization.</a:t>
            </a:r>
          </a:p>
          <a:p>
            <a:r>
              <a:rPr lang="en-US" dirty="0"/>
              <a:t>1. Forward Propagation: In this step input data is fed in the forward direction through each layer of the neural network. In this step and the activation function is applied.</a:t>
            </a:r>
          </a:p>
          <a:p>
            <a:r>
              <a:rPr lang="en-US" dirty="0"/>
              <a:t>2. Back Propagation: In this step all the derivatives on weights/biases are calculated for Optimization or updating the parameters.</a:t>
            </a:r>
          </a:p>
          <a:p>
            <a:r>
              <a:rPr lang="en-US" dirty="0"/>
              <a:t>3.  Iteration &amp; Optimization: This step is the convergence of the loss function by continuously updating the parameters in each iteration. Optimization algorithms are as follows: </a:t>
            </a:r>
            <a:r>
              <a:rPr lang="en-US" b="1" u="sng" dirty="0"/>
              <a:t>Gradient Descent</a:t>
            </a:r>
            <a:r>
              <a:rPr lang="en-US" dirty="0"/>
              <a:t>, Momentum, Adam, </a:t>
            </a:r>
            <a:r>
              <a:rPr lang="en-US" dirty="0" err="1"/>
              <a:t>AdaGrad</a:t>
            </a:r>
            <a:r>
              <a:rPr lang="en-US" dirty="0"/>
              <a:t>, </a:t>
            </a:r>
            <a:r>
              <a:rPr lang="en-US" dirty="0" err="1"/>
              <a:t>RMSProp</a:t>
            </a:r>
            <a:r>
              <a:rPr lang="en-US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906547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1;p31">
            <a:extLst>
              <a:ext uri="{FF2B5EF4-FFF2-40B4-BE49-F238E27FC236}">
                <a16:creationId xmlns:a16="http://schemas.microsoft.com/office/drawing/2014/main" id="{2B407C98-F9DE-4DB5-802E-23615E8FAB19}"/>
              </a:ext>
            </a:extLst>
          </p:cNvPr>
          <p:cNvSpPr txBox="1">
            <a:spLocks/>
          </p:cNvSpPr>
          <p:nvPr/>
        </p:nvSpPr>
        <p:spPr>
          <a:xfrm>
            <a:off x="523039" y="658429"/>
            <a:ext cx="11145922" cy="7072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DNN training sample Topology: Leaky </a:t>
            </a:r>
            <a:r>
              <a:rPr lang="en-US" dirty="0" err="1"/>
              <a:t>Relu</a:t>
            </a:r>
            <a:r>
              <a:rPr lang="en-US" dirty="0"/>
              <a:t> &amp; two outputs target as 0 – 1.</a:t>
            </a:r>
          </a:p>
        </p:txBody>
      </p:sp>
      <p:sp>
        <p:nvSpPr>
          <p:cNvPr id="5" name="Google Shape;580;p31">
            <a:extLst>
              <a:ext uri="{FF2B5EF4-FFF2-40B4-BE49-F238E27FC236}">
                <a16:creationId xmlns:a16="http://schemas.microsoft.com/office/drawing/2014/main" id="{788AF672-AC17-4BF4-83A0-2025DF4F8DAB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A511B5-9E24-47A2-BE67-15504529E883}"/>
              </a:ext>
            </a:extLst>
          </p:cNvPr>
          <p:cNvSpPr/>
          <p:nvPr/>
        </p:nvSpPr>
        <p:spPr>
          <a:xfrm>
            <a:off x="2117314" y="2150215"/>
            <a:ext cx="1044316" cy="27302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6A91BA6-CB62-4F04-B40D-9CC52DC23D9A}"/>
              </a:ext>
            </a:extLst>
          </p:cNvPr>
          <p:cNvSpPr/>
          <p:nvPr/>
        </p:nvSpPr>
        <p:spPr>
          <a:xfrm>
            <a:off x="2321615" y="2311721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E5DB6E-C842-45AC-A9EC-2416E68F0080}"/>
              </a:ext>
            </a:extLst>
          </p:cNvPr>
          <p:cNvSpPr/>
          <p:nvPr/>
        </p:nvSpPr>
        <p:spPr>
          <a:xfrm>
            <a:off x="2314632" y="3806624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37D5E57-8F17-4819-92FA-2D4DEF12BDE2}"/>
              </a:ext>
            </a:extLst>
          </p:cNvPr>
          <p:cNvSpPr/>
          <p:nvPr/>
        </p:nvSpPr>
        <p:spPr>
          <a:xfrm>
            <a:off x="1323620" y="2331823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1EB09B4-2D53-43DB-9C47-93A635AD3AAD}"/>
              </a:ext>
            </a:extLst>
          </p:cNvPr>
          <p:cNvSpPr/>
          <p:nvPr/>
        </p:nvSpPr>
        <p:spPr>
          <a:xfrm>
            <a:off x="1366358" y="3787876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A7CCD7-4E89-49EA-98B3-3AE934AC8DEA}"/>
              </a:ext>
            </a:extLst>
          </p:cNvPr>
          <p:cNvSpPr/>
          <p:nvPr/>
        </p:nvSpPr>
        <p:spPr>
          <a:xfrm>
            <a:off x="4583212" y="2101516"/>
            <a:ext cx="1044316" cy="27302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Baguet Script" panose="00000500000000000000" pitchFamily="2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F6FB411-5A9C-4577-A9B9-EC4245F16A03}"/>
              </a:ext>
            </a:extLst>
          </p:cNvPr>
          <p:cNvSpPr/>
          <p:nvPr/>
        </p:nvSpPr>
        <p:spPr>
          <a:xfrm>
            <a:off x="4787513" y="2233042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Baguet Script" panose="00000500000000000000" pitchFamily="2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92ADD24-550A-4A93-8417-1FC99A8C94D1}"/>
              </a:ext>
            </a:extLst>
          </p:cNvPr>
          <p:cNvSpPr/>
          <p:nvPr/>
        </p:nvSpPr>
        <p:spPr>
          <a:xfrm>
            <a:off x="4787513" y="3894230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Baguet Script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F67018-2EF6-4396-8A2A-23F4E89D966B}"/>
              </a:ext>
            </a:extLst>
          </p:cNvPr>
          <p:cNvSpPr txBox="1"/>
          <p:nvPr/>
        </p:nvSpPr>
        <p:spPr>
          <a:xfrm>
            <a:off x="2374373" y="2187992"/>
            <a:ext cx="734518" cy="213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X1</a:t>
            </a:r>
          </a:p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endParaRPr lang="en-US" dirty="0"/>
          </a:p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X2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86094E-097D-4AAB-B00A-DA02934E139C}"/>
                  </a:ext>
                </a:extLst>
              </p:cNvPr>
              <p:cNvSpPr txBox="1"/>
              <p:nvPr/>
            </p:nvSpPr>
            <p:spPr>
              <a:xfrm>
                <a:off x="4719502" y="1885432"/>
                <a:ext cx="734518" cy="3536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8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𝟐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p>
                      </m:sSubSup>
                      <m:r>
                        <a:rPr lang="en-US" sz="2800" b="1" i="1" smtClean="0">
                          <a:latin typeface="Cambria Math" panose="02040503050406030204" pitchFamily="18" charset="0"/>
                          <a:ea typeface="Adobe Gothic Std B" panose="020B0800000000000000" pitchFamily="34" charset="-128"/>
                        </a:rPr>
                        <m:t> 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86094E-097D-4AAB-B00A-DA02934E1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502" y="1885432"/>
                <a:ext cx="734518" cy="35364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7305FA-903F-487C-B2DD-6F86E9C957CD}"/>
              </a:ext>
            </a:extLst>
          </p:cNvPr>
          <p:cNvCxnSpPr>
            <a:cxnSpLocks/>
          </p:cNvCxnSpPr>
          <p:nvPr/>
        </p:nvCxnSpPr>
        <p:spPr>
          <a:xfrm flipV="1">
            <a:off x="2936212" y="2610299"/>
            <a:ext cx="1861741" cy="152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671C40C-5877-49C5-8FF9-5281C07F4A84}"/>
              </a:ext>
            </a:extLst>
          </p:cNvPr>
          <p:cNvCxnSpPr>
            <a:cxnSpLocks/>
          </p:cNvCxnSpPr>
          <p:nvPr/>
        </p:nvCxnSpPr>
        <p:spPr>
          <a:xfrm flipV="1">
            <a:off x="2926080" y="2605295"/>
            <a:ext cx="1871873" cy="14826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EDC49DA-6AC4-4BE3-8387-E612A351EF48}"/>
              </a:ext>
            </a:extLst>
          </p:cNvPr>
          <p:cNvCxnSpPr>
            <a:cxnSpLocks/>
          </p:cNvCxnSpPr>
          <p:nvPr/>
        </p:nvCxnSpPr>
        <p:spPr>
          <a:xfrm>
            <a:off x="2951130" y="2625544"/>
            <a:ext cx="1807687" cy="13826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68E3E6-EE17-4864-B515-8895907BA23D}"/>
              </a:ext>
            </a:extLst>
          </p:cNvPr>
          <p:cNvCxnSpPr>
            <a:cxnSpLocks/>
          </p:cNvCxnSpPr>
          <p:nvPr/>
        </p:nvCxnSpPr>
        <p:spPr>
          <a:xfrm flipV="1">
            <a:off x="2895427" y="4037740"/>
            <a:ext cx="1842138" cy="3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B58DB86-F664-4C58-B2FB-22A36E383AF0}"/>
              </a:ext>
            </a:extLst>
          </p:cNvPr>
          <p:cNvGrpSpPr/>
          <p:nvPr/>
        </p:nvGrpSpPr>
        <p:grpSpPr>
          <a:xfrm>
            <a:off x="7841693" y="2238558"/>
            <a:ext cx="1044316" cy="2156310"/>
            <a:chOff x="10655509" y="3580927"/>
            <a:chExt cx="1044316" cy="215631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EF4808D-C3A7-4862-BA09-C03002A1CBBD}"/>
                </a:ext>
              </a:extLst>
            </p:cNvPr>
            <p:cNvSpPr/>
            <p:nvPr/>
          </p:nvSpPr>
          <p:spPr>
            <a:xfrm>
              <a:off x="10655509" y="3580927"/>
              <a:ext cx="1044316" cy="215631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97E2C23-42C2-4989-B7E4-73FC4B243043}"/>
                </a:ext>
              </a:extLst>
            </p:cNvPr>
            <p:cNvSpPr/>
            <p:nvPr/>
          </p:nvSpPr>
          <p:spPr>
            <a:xfrm>
              <a:off x="10881273" y="3919782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32339F0-84C1-4AD8-B69D-C646EFBAC774}"/>
                </a:ext>
              </a:extLst>
            </p:cNvPr>
            <p:cNvSpPr/>
            <p:nvPr/>
          </p:nvSpPr>
          <p:spPr>
            <a:xfrm>
              <a:off x="10881273" y="4758604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7B467FE-2BE9-4DD0-BC26-E577C8FFFEE1}"/>
              </a:ext>
            </a:extLst>
          </p:cNvPr>
          <p:cNvSpPr txBox="1"/>
          <p:nvPr/>
        </p:nvSpPr>
        <p:spPr>
          <a:xfrm>
            <a:off x="8151491" y="2678697"/>
            <a:ext cx="734518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b="1" dirty="0">
                <a:latin typeface="Modern Love Grunge" panose="020B0604020202020204" pitchFamily="82" charset="0"/>
                <a:ea typeface="Adobe Ming Std L" panose="02020300000000000000" pitchFamily="18" charset="-128"/>
              </a:rPr>
              <a:t>Y1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Modern Love Grunge" panose="020B0604020202020204" pitchFamily="82" charset="0"/>
                <a:ea typeface="Adobe Ming Std L" panose="02020300000000000000" pitchFamily="18" charset="-128"/>
              </a:rPr>
              <a:t>Y2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99D043C-3565-4139-8936-1D5C8BFD9647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5424160" y="2599249"/>
            <a:ext cx="2643297" cy="2919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251F6F0-9FF9-4135-80DF-9324F6DE5129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5424160" y="2591626"/>
            <a:ext cx="2643297" cy="11384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80911A9-8C49-453A-8512-E8A6F8B6CEC1}"/>
              </a:ext>
            </a:extLst>
          </p:cNvPr>
          <p:cNvCxnSpPr>
            <a:cxnSpLocks/>
            <a:endCxn id="32" idx="2"/>
          </p:cNvCxnSpPr>
          <p:nvPr/>
        </p:nvCxnSpPr>
        <p:spPr>
          <a:xfrm flipV="1">
            <a:off x="5409242" y="2891237"/>
            <a:ext cx="2658215" cy="1430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14BB9B-6FEE-456C-BAE0-67E252525728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5424160" y="3730059"/>
            <a:ext cx="2643297" cy="5704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74D5773-48EE-4913-9119-0F1FA4316DB3}"/>
              </a:ext>
            </a:extLst>
          </p:cNvPr>
          <p:cNvSpPr txBox="1"/>
          <p:nvPr/>
        </p:nvSpPr>
        <p:spPr>
          <a:xfrm>
            <a:off x="8970043" y="2733997"/>
            <a:ext cx="14919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  <a:latin typeface="Modern Love Grunge" panose="04070805081005020601" pitchFamily="82" charset="0"/>
              </a:rPr>
              <a:t>Y </a:t>
            </a:r>
            <a:r>
              <a:rPr lang="en-US" sz="2800" baseline="-25000" dirty="0">
                <a:highlight>
                  <a:srgbClr val="FFFF00"/>
                </a:highlight>
                <a:latin typeface="Broadway" panose="04040905080B02020502" pitchFamily="82" charset="0"/>
              </a:rPr>
              <a:t>1</a:t>
            </a:r>
            <a:r>
              <a:rPr lang="en-US" sz="2800" dirty="0">
                <a:highlight>
                  <a:srgbClr val="FFFF00"/>
                </a:highlight>
                <a:latin typeface="Broadway" panose="04040905080B02020502" pitchFamily="82" charset="0"/>
              </a:rPr>
              <a:t> =0</a:t>
            </a:r>
          </a:p>
          <a:p>
            <a:endParaRPr lang="en-US" sz="2800" dirty="0">
              <a:highlight>
                <a:srgbClr val="FFFF00"/>
              </a:highlight>
              <a:latin typeface="Broadway" panose="04040905080B02020502" pitchFamily="82" charset="0"/>
            </a:endParaRPr>
          </a:p>
          <a:p>
            <a:r>
              <a:rPr lang="en-US" sz="2800" dirty="0">
                <a:highlight>
                  <a:srgbClr val="FFFF00"/>
                </a:highlight>
                <a:latin typeface="Modern Love Grunge" panose="04070805081005020601" pitchFamily="82" charset="0"/>
              </a:rPr>
              <a:t>Y </a:t>
            </a:r>
            <a:r>
              <a:rPr lang="en-US" sz="2800" baseline="-25000" dirty="0">
                <a:highlight>
                  <a:srgbClr val="FFFF00"/>
                </a:highlight>
                <a:latin typeface="Broadway" panose="04040905080B02020502" pitchFamily="82" charset="0"/>
              </a:rPr>
              <a:t>2</a:t>
            </a:r>
            <a:r>
              <a:rPr lang="en-US" sz="2800" dirty="0">
                <a:highlight>
                  <a:srgbClr val="FFFF00"/>
                </a:highlight>
                <a:latin typeface="Broadway" panose="04040905080B02020502" pitchFamily="82" charset="0"/>
              </a:rPr>
              <a:t> =1</a:t>
            </a:r>
          </a:p>
        </p:txBody>
      </p:sp>
      <p:sp>
        <p:nvSpPr>
          <p:cNvPr id="50" name="Google Shape;581;p31">
            <a:extLst>
              <a:ext uri="{FF2B5EF4-FFF2-40B4-BE49-F238E27FC236}">
                <a16:creationId xmlns:a16="http://schemas.microsoft.com/office/drawing/2014/main" id="{BDE68DAA-BA77-4ADC-ABA7-6EEEE8B3C563}"/>
              </a:ext>
            </a:extLst>
          </p:cNvPr>
          <p:cNvSpPr txBox="1">
            <a:spLocks/>
          </p:cNvSpPr>
          <p:nvPr/>
        </p:nvSpPr>
        <p:spPr>
          <a:xfrm>
            <a:off x="693706" y="5180879"/>
            <a:ext cx="11243190" cy="66716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(Sample DNN topology has 1 hidden layer with leaky </a:t>
            </a:r>
            <a:r>
              <a:rPr lang="en-US" dirty="0" err="1"/>
              <a:t>Relu</a:t>
            </a:r>
            <a:r>
              <a:rPr lang="en-US" dirty="0"/>
              <a:t> for simplicity). 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E39D791-A787-488C-86BF-D9CA8D8E2469}"/>
              </a:ext>
            </a:extLst>
          </p:cNvPr>
          <p:cNvSpPr/>
          <p:nvPr/>
        </p:nvSpPr>
        <p:spPr>
          <a:xfrm>
            <a:off x="5910266" y="1986159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5E42E66-0EEF-40FB-B0E8-FB0262864CFE}"/>
              </a:ext>
            </a:extLst>
          </p:cNvPr>
          <p:cNvSpPr/>
          <p:nvPr/>
        </p:nvSpPr>
        <p:spPr>
          <a:xfrm>
            <a:off x="5947109" y="4199288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820B61-23BF-4025-BC5D-7FE56C7595B2}"/>
              </a:ext>
            </a:extLst>
          </p:cNvPr>
          <p:cNvSpPr txBox="1"/>
          <p:nvPr/>
        </p:nvSpPr>
        <p:spPr>
          <a:xfrm>
            <a:off x="9061374" y="2053227"/>
            <a:ext cx="1141465" cy="561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target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AC40E8C-523F-4241-81EE-D13DF46847B1}"/>
              </a:ext>
            </a:extLst>
          </p:cNvPr>
          <p:cNvSpPr txBox="1"/>
          <p:nvPr/>
        </p:nvSpPr>
        <p:spPr>
          <a:xfrm>
            <a:off x="3579262" y="2354600"/>
            <a:ext cx="4841660" cy="94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3200" dirty="0">
                <a:latin typeface="Baguet Script" panose="00000500000000000000" pitchFamily="2" charset="0"/>
              </a:rPr>
              <a:t>W</a:t>
            </a:r>
            <a:r>
              <a:rPr lang="en-US" sz="3200" baseline="30000" dirty="0">
                <a:latin typeface="Baguet Script" panose="00000500000000000000" pitchFamily="2" charset="0"/>
              </a:rPr>
              <a:t>0</a:t>
            </a:r>
            <a:r>
              <a:rPr lang="en-US" sz="3200" dirty="0">
                <a:latin typeface="Baguet Script" panose="00000500000000000000" pitchFamily="2" charset="0"/>
              </a:rPr>
              <a:t>                               W</a:t>
            </a:r>
            <a:r>
              <a:rPr lang="en-US" sz="3200" baseline="30000" dirty="0">
                <a:latin typeface="Baguet Script" panose="00000500000000000000" pitchFamily="2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51D03D1-C1FE-45E4-9A05-8E77CEEB3EC6}"/>
                  </a:ext>
                </a:extLst>
              </p:cNvPr>
              <p:cNvSpPr txBox="1"/>
              <p:nvPr/>
            </p:nvSpPr>
            <p:spPr>
              <a:xfrm>
                <a:off x="1286390" y="2107517"/>
                <a:ext cx="734518" cy="1036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51D03D1-C1FE-45E4-9A05-8E77CEEB3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390" y="2107517"/>
                <a:ext cx="734518" cy="10360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042E892-FF8F-4E0E-A353-EAA0F8CD7B25}"/>
                  </a:ext>
                </a:extLst>
              </p:cNvPr>
              <p:cNvSpPr txBox="1"/>
              <p:nvPr/>
            </p:nvSpPr>
            <p:spPr>
              <a:xfrm>
                <a:off x="1275319" y="3556812"/>
                <a:ext cx="734518" cy="1036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042E892-FF8F-4E0E-A353-EAA0F8CD7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319" y="3556812"/>
                <a:ext cx="734518" cy="10360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38C8752-4038-4B6B-A24A-F00372F8C89E}"/>
                  </a:ext>
                </a:extLst>
              </p:cNvPr>
              <p:cNvSpPr txBox="1"/>
              <p:nvPr/>
            </p:nvSpPr>
            <p:spPr>
              <a:xfrm>
                <a:off x="5845534" y="1782238"/>
                <a:ext cx="734518" cy="103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38C8752-4038-4B6B-A24A-F00372F8C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534" y="1782238"/>
                <a:ext cx="734518" cy="10325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F382A04-A270-4A14-96FB-7FAC8AFE2781}"/>
                  </a:ext>
                </a:extLst>
              </p:cNvPr>
              <p:cNvSpPr txBox="1"/>
              <p:nvPr/>
            </p:nvSpPr>
            <p:spPr>
              <a:xfrm>
                <a:off x="5871558" y="3952085"/>
                <a:ext cx="734518" cy="1036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F382A04-A270-4A14-96FB-7FAC8AFE2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558" y="3952085"/>
                <a:ext cx="734518" cy="10360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F3B973A-9DDE-4377-8B16-DC79FD506BB1}"/>
                  </a:ext>
                </a:extLst>
              </p:cNvPr>
              <p:cNvSpPr txBox="1"/>
              <p:nvPr/>
            </p:nvSpPr>
            <p:spPr>
              <a:xfrm>
                <a:off x="2741632" y="1470229"/>
                <a:ext cx="8450624" cy="537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sz="2400" b="1" dirty="0"/>
                  <a:t> = </a:t>
                </a:r>
                <a:r>
                  <a:rPr lang="en-US" sz="2400" b="1" i="1" dirty="0"/>
                  <a:t>Relu </a:t>
                </a:r>
                <a:r>
                  <a:rPr lang="en-US" sz="2400" b="1" dirty="0"/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4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b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b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        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/>
                  <a:t> = </a:t>
                </a:r>
                <a:r>
                  <a:rPr lang="en-US" sz="2400" b="1" i="1" dirty="0"/>
                  <a:t>Relu </a:t>
                </a:r>
                <a:r>
                  <a:rPr lang="en-US" sz="2400" b="1" dirty="0"/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4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F3B973A-9DDE-4377-8B16-DC79FD506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32" y="1470229"/>
                <a:ext cx="8450624" cy="537391"/>
              </a:xfrm>
              <a:prstGeom prst="rect">
                <a:avLst/>
              </a:prstGeom>
              <a:blipFill>
                <a:blip r:embed="rId7"/>
                <a:stretch>
                  <a:fillRect t="-3409" b="-17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7895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80;p31">
            <a:extLst>
              <a:ext uri="{FF2B5EF4-FFF2-40B4-BE49-F238E27FC236}">
                <a16:creationId xmlns:a16="http://schemas.microsoft.com/office/drawing/2014/main" id="{788AF672-AC17-4BF4-83A0-2025DF4F8DAB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 Prediction Non-Trivial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3">
                <a:extLst>
                  <a:ext uri="{FF2B5EF4-FFF2-40B4-BE49-F238E27FC236}">
                    <a16:creationId xmlns:a16="http://schemas.microsoft.com/office/drawing/2014/main" id="{E036D970-C335-4710-83FF-C1D889A0AC8C}"/>
                  </a:ext>
                </a:extLst>
              </p:cNvPr>
              <p:cNvSpPr txBox="1"/>
              <p:nvPr/>
            </p:nvSpPr>
            <p:spPr>
              <a:xfrm>
                <a:off x="989998" y="1713465"/>
                <a:ext cx="10354761" cy="5052793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ﬁrst-order gradient to update weights between hidden-output: </a:t>
                </a:r>
                <a:endParaRPr lang="en-US" i="1" dirty="0">
                  <a:solidFill>
                    <a:srgbClr val="836967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0100" defTabSz="4572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803275" indent="-233363"/>
                <a:r>
                  <a:rPr lang="en-US" dirty="0">
                    <a:ea typeface="Cambria Math" panose="02040503050406030204" pitchFamily="18" charset="0"/>
                  </a:rPr>
                  <a:t>	</a:t>
                </a:r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3275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𝑜𝑙𝑑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𝑜𝑙𝑑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- 0.25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</a:p>
              <a:p>
                <a:pPr marL="803275"/>
                <a:endParaRPr lang="en-US" dirty="0">
                  <a:ea typeface="Cambria Math" panose="02040503050406030204" pitchFamily="18" charset="0"/>
                </a:endParaRPr>
              </a:p>
              <a:p>
                <a:pPr marL="803275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𝑜𝑙𝑑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𝑜𝑙𝑑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- 0.25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803275"/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sz="2400" dirty="0" err="1"/>
                  <a:t>samewise</a:t>
                </a:r>
                <a:r>
                  <a:rPr lang="en-US" sz="2400" dirty="0"/>
                  <a:t>, to update weights between input and hidden: </a:t>
                </a:r>
              </a:p>
              <a:p>
                <a:pPr marL="800100" defTabSz="4572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803275" indent="-233363"/>
                <a:r>
                  <a:rPr lang="en-US" dirty="0">
                    <a:ea typeface="Cambria Math" panose="02040503050406030204" pitchFamily="18" charset="0"/>
                  </a:rPr>
                  <a:t>	</a:t>
                </a:r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3275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𝑜𝑙𝑑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𝑜𝑙𝑑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- 0.25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803275"/>
                <a:endParaRPr lang="en-US" dirty="0">
                  <a:ea typeface="Cambria Math" panose="02040503050406030204" pitchFamily="18" charset="0"/>
                </a:endParaRPr>
              </a:p>
              <a:p>
                <a:pPr marL="803275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𝑜𝑙𝑑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𝑜𝑙𝑑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- 0.25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/>
                    </m:sSub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6" name="TextBox 3">
                <a:extLst>
                  <a:ext uri="{FF2B5EF4-FFF2-40B4-BE49-F238E27FC236}">
                    <a16:creationId xmlns:a16="http://schemas.microsoft.com/office/drawing/2014/main" id="{E036D970-C335-4710-83FF-C1D889A0A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998" y="1713465"/>
                <a:ext cx="10354761" cy="5052793"/>
              </a:xfrm>
              <a:prstGeom prst="rect">
                <a:avLst/>
              </a:prstGeom>
              <a:blipFill>
                <a:blip r:embed="rId2"/>
                <a:stretch>
                  <a:fillRect l="-823" t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utoShape 4" descr="learning rate">
            <a:extLst>
              <a:ext uri="{FF2B5EF4-FFF2-40B4-BE49-F238E27FC236}">
                <a16:creationId xmlns:a16="http://schemas.microsoft.com/office/drawing/2014/main" id="{DB25E489-65DF-4910-94ED-FC8CE811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Google Shape;581;p31">
            <a:extLst>
              <a:ext uri="{FF2B5EF4-FFF2-40B4-BE49-F238E27FC236}">
                <a16:creationId xmlns:a16="http://schemas.microsoft.com/office/drawing/2014/main" id="{3DA1B94D-DAA4-4E6F-AE0C-D8BC6E50F4E0}"/>
              </a:ext>
            </a:extLst>
          </p:cNvPr>
          <p:cNvSpPr txBox="1">
            <a:spLocks/>
          </p:cNvSpPr>
          <p:nvPr/>
        </p:nvSpPr>
        <p:spPr>
          <a:xfrm>
            <a:off x="989998" y="510835"/>
            <a:ext cx="10199601" cy="11314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2400" dirty="0"/>
              <a:t>Gradient Descent to </a:t>
            </a:r>
            <a:r>
              <a:rPr lang="en-US" dirty="0"/>
              <a:t>update weights and biases backward: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9FF04BC-7E14-442E-BBB7-23424EC18195}"/>
                  </a:ext>
                </a:extLst>
              </p:cNvPr>
              <p:cNvSpPr txBox="1"/>
              <p:nvPr/>
            </p:nvSpPr>
            <p:spPr>
              <a:xfrm>
                <a:off x="3664109" y="3358141"/>
                <a:ext cx="822960" cy="691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9FF04BC-7E14-442E-BBB7-23424EC18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109" y="3358141"/>
                <a:ext cx="822960" cy="6914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F66D33-7B39-40B8-8F17-30F93B7047EC}"/>
                  </a:ext>
                </a:extLst>
              </p:cNvPr>
              <p:cNvSpPr txBox="1"/>
              <p:nvPr/>
            </p:nvSpPr>
            <p:spPr>
              <a:xfrm>
                <a:off x="3865587" y="2811387"/>
                <a:ext cx="822960" cy="691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F66D33-7B39-40B8-8F17-30F93B704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587" y="2811387"/>
                <a:ext cx="822960" cy="6914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3">
            <a:extLst>
              <a:ext uri="{FF2B5EF4-FFF2-40B4-BE49-F238E27FC236}">
                <a16:creationId xmlns:a16="http://schemas.microsoft.com/office/drawing/2014/main" id="{918B655D-F38A-4480-87D1-9861391EBB7D}"/>
              </a:ext>
            </a:extLst>
          </p:cNvPr>
          <p:cNvSpPr txBox="1"/>
          <p:nvPr/>
        </p:nvSpPr>
        <p:spPr>
          <a:xfrm>
            <a:off x="5327746" y="2226767"/>
            <a:ext cx="2552908" cy="40011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 Nova Cond" panose="020B0604020202020204" pitchFamily="34" charset="0"/>
              </a:rPr>
              <a:t>(if :Yi&gt;0, or else 0.05) </a:t>
            </a:r>
            <a:endParaRPr lang="en-US" sz="2400" dirty="0">
              <a:latin typeface="Arial Nova Cond" panose="020B0604020202020204" pitchFamily="34" charset="0"/>
            </a:endParaRP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D11C2546-F36D-4B7D-ACBC-0F7EAA350E11}"/>
              </a:ext>
            </a:extLst>
          </p:cNvPr>
          <p:cNvSpPr txBox="1"/>
          <p:nvPr/>
        </p:nvSpPr>
        <p:spPr>
          <a:xfrm>
            <a:off x="6846580" y="2908188"/>
            <a:ext cx="2552908" cy="40011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 Nova Cond" panose="020B0604020202020204" pitchFamily="34" charset="0"/>
              </a:rPr>
              <a:t>(if :Yi&gt;0, or else 0.05) </a:t>
            </a:r>
            <a:endParaRPr lang="en-US" sz="2400" dirty="0">
              <a:latin typeface="Arial Nova Cond" panose="020B0604020202020204" pitchFamily="34" charset="0"/>
            </a:endParaRPr>
          </a:p>
        </p:txBody>
      </p:sp>
      <p:sp>
        <p:nvSpPr>
          <p:cNvPr id="32" name="TextBox 3">
            <a:extLst>
              <a:ext uri="{FF2B5EF4-FFF2-40B4-BE49-F238E27FC236}">
                <a16:creationId xmlns:a16="http://schemas.microsoft.com/office/drawing/2014/main" id="{E697B75F-820C-44AF-A7EC-C01D9DCF919E}"/>
              </a:ext>
            </a:extLst>
          </p:cNvPr>
          <p:cNvSpPr txBox="1"/>
          <p:nvPr/>
        </p:nvSpPr>
        <p:spPr>
          <a:xfrm>
            <a:off x="6672768" y="3458713"/>
            <a:ext cx="2552908" cy="40011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 Nova Cond" panose="020B0604020202020204" pitchFamily="34" charset="0"/>
              </a:rPr>
              <a:t>(if :Yi&gt;0, or else 0.05) </a:t>
            </a:r>
            <a:endParaRPr lang="en-US" sz="2400" dirty="0">
              <a:latin typeface="Arial Nova Cond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E34C988-5858-4496-A872-FB3FAE934A42}"/>
                  </a:ext>
                </a:extLst>
              </p:cNvPr>
              <p:cNvSpPr txBox="1"/>
              <p:nvPr/>
            </p:nvSpPr>
            <p:spPr>
              <a:xfrm>
                <a:off x="3884726" y="5218790"/>
                <a:ext cx="822960" cy="716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E34C988-5858-4496-A872-FB3FAE934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726" y="5218790"/>
                <a:ext cx="822960" cy="7165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">
            <a:extLst>
              <a:ext uri="{FF2B5EF4-FFF2-40B4-BE49-F238E27FC236}">
                <a16:creationId xmlns:a16="http://schemas.microsoft.com/office/drawing/2014/main" id="{8A200BFA-E57A-4919-950C-43FEA7F5C21A}"/>
              </a:ext>
            </a:extLst>
          </p:cNvPr>
          <p:cNvSpPr txBox="1"/>
          <p:nvPr/>
        </p:nvSpPr>
        <p:spPr>
          <a:xfrm>
            <a:off x="8370460" y="5367821"/>
            <a:ext cx="2552908" cy="40011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 Nova Cond" panose="020B0604020202020204" pitchFamily="34" charset="0"/>
              </a:rPr>
              <a:t>(if :hi&gt;0, or else 0.05)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81FF794-72A4-4A43-B300-7E6D5C664150}"/>
                  </a:ext>
                </a:extLst>
              </p:cNvPr>
              <p:cNvSpPr txBox="1"/>
              <p:nvPr/>
            </p:nvSpPr>
            <p:spPr>
              <a:xfrm>
                <a:off x="3664109" y="5858158"/>
                <a:ext cx="822960" cy="716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81FF794-72A4-4A43-B300-7E6D5C664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109" y="5858158"/>
                <a:ext cx="822960" cy="7165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3">
            <a:extLst>
              <a:ext uri="{FF2B5EF4-FFF2-40B4-BE49-F238E27FC236}">
                <a16:creationId xmlns:a16="http://schemas.microsoft.com/office/drawing/2014/main" id="{007E4D09-1ACA-4E7C-86BF-8E542382B69C}"/>
              </a:ext>
            </a:extLst>
          </p:cNvPr>
          <p:cNvSpPr txBox="1"/>
          <p:nvPr/>
        </p:nvSpPr>
        <p:spPr>
          <a:xfrm>
            <a:off x="8370460" y="4617241"/>
            <a:ext cx="2552908" cy="40011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 Nova Cond" panose="020B0604020202020204" pitchFamily="34" charset="0"/>
              </a:rPr>
              <a:t>(if :hi&gt;0, or else 0.05)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11E8ACEC-5E15-459A-8795-88349400D255}"/>
              </a:ext>
            </a:extLst>
          </p:cNvPr>
          <p:cNvSpPr txBox="1"/>
          <p:nvPr/>
        </p:nvSpPr>
        <p:spPr>
          <a:xfrm>
            <a:off x="8370460" y="5877208"/>
            <a:ext cx="2552908" cy="40011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 Nova Cond" panose="020B0604020202020204" pitchFamily="34" charset="0"/>
              </a:rPr>
              <a:t>(if :hi&gt;0, or else 0.05)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9ECA277-268A-476B-8273-A1C80C9B9AE4}"/>
                  </a:ext>
                </a:extLst>
              </p:cNvPr>
              <p:cNvSpPr txBox="1"/>
              <p:nvPr/>
            </p:nvSpPr>
            <p:spPr>
              <a:xfrm>
                <a:off x="2015216" y="1103177"/>
                <a:ext cx="8514524" cy="537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sz="2400" b="1" dirty="0"/>
                  <a:t>=</a:t>
                </a:r>
                <a:r>
                  <a:rPr lang="en-US" sz="2400" b="1" i="1" dirty="0" err="1"/>
                  <a:t>Relu</a:t>
                </a:r>
                <a:r>
                  <a:rPr lang="en-US" sz="2400" b="1" i="1" dirty="0"/>
                  <a:t> </a:t>
                </a:r>
                <a:r>
                  <a:rPr lang="en-US" sz="2400" b="1" dirty="0"/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4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b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b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/>
                  <a:t>=</a:t>
                </a:r>
                <a:r>
                  <a:rPr lang="en-US" sz="2400" b="1" i="1" dirty="0" err="1"/>
                  <a:t>Relu</a:t>
                </a:r>
                <a:r>
                  <a:rPr lang="en-US" sz="2400" b="1" i="1" dirty="0"/>
                  <a:t> </a:t>
                </a:r>
                <a:r>
                  <a:rPr lang="en-US" sz="2400" b="1" dirty="0"/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4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9ECA277-268A-476B-8273-A1C80C9B9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216" y="1103177"/>
                <a:ext cx="8514524" cy="537391"/>
              </a:xfrm>
              <a:prstGeom prst="rect">
                <a:avLst/>
              </a:prstGeom>
              <a:blipFill>
                <a:blip r:embed="rId7"/>
                <a:stretch>
                  <a:fillRect t="-3409" b="-17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489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1;p31">
            <a:extLst>
              <a:ext uri="{FF2B5EF4-FFF2-40B4-BE49-F238E27FC236}">
                <a16:creationId xmlns:a16="http://schemas.microsoft.com/office/drawing/2014/main" id="{2B407C98-F9DE-4DB5-802E-23615E8FAB19}"/>
              </a:ext>
            </a:extLst>
          </p:cNvPr>
          <p:cNvSpPr txBox="1">
            <a:spLocks/>
          </p:cNvSpPr>
          <p:nvPr/>
        </p:nvSpPr>
        <p:spPr>
          <a:xfrm>
            <a:off x="523039" y="658429"/>
            <a:ext cx="11145922" cy="7072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DNN training sample initial condition: Y1=1, Y2=0.18</a:t>
            </a:r>
          </a:p>
        </p:txBody>
      </p:sp>
      <p:sp>
        <p:nvSpPr>
          <p:cNvPr id="5" name="Google Shape;580;p31">
            <a:extLst>
              <a:ext uri="{FF2B5EF4-FFF2-40B4-BE49-F238E27FC236}">
                <a16:creationId xmlns:a16="http://schemas.microsoft.com/office/drawing/2014/main" id="{788AF672-AC17-4BF4-83A0-2025DF4F8DAB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A511B5-9E24-47A2-BE67-15504529E883}"/>
              </a:ext>
            </a:extLst>
          </p:cNvPr>
          <p:cNvSpPr/>
          <p:nvPr/>
        </p:nvSpPr>
        <p:spPr>
          <a:xfrm>
            <a:off x="2117314" y="2150215"/>
            <a:ext cx="1044316" cy="27302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6A91BA6-CB62-4F04-B40D-9CC52DC23D9A}"/>
              </a:ext>
            </a:extLst>
          </p:cNvPr>
          <p:cNvSpPr/>
          <p:nvPr/>
        </p:nvSpPr>
        <p:spPr>
          <a:xfrm>
            <a:off x="2321615" y="2311721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E5DB6E-C842-45AC-A9EC-2416E68F0080}"/>
              </a:ext>
            </a:extLst>
          </p:cNvPr>
          <p:cNvSpPr/>
          <p:nvPr/>
        </p:nvSpPr>
        <p:spPr>
          <a:xfrm>
            <a:off x="2314632" y="3806624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A7CCD7-4E89-49EA-98B3-3AE934AC8DEA}"/>
              </a:ext>
            </a:extLst>
          </p:cNvPr>
          <p:cNvSpPr/>
          <p:nvPr/>
        </p:nvSpPr>
        <p:spPr>
          <a:xfrm>
            <a:off x="4583212" y="2101516"/>
            <a:ext cx="1044316" cy="27302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Baguet Script" panose="00000500000000000000" pitchFamily="2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F6FB411-5A9C-4577-A9B9-EC4245F16A03}"/>
              </a:ext>
            </a:extLst>
          </p:cNvPr>
          <p:cNvSpPr/>
          <p:nvPr/>
        </p:nvSpPr>
        <p:spPr>
          <a:xfrm>
            <a:off x="4787513" y="2233042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Baguet Script" panose="00000500000000000000" pitchFamily="2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92ADD24-550A-4A93-8417-1FC99A8C94D1}"/>
              </a:ext>
            </a:extLst>
          </p:cNvPr>
          <p:cNvSpPr/>
          <p:nvPr/>
        </p:nvSpPr>
        <p:spPr>
          <a:xfrm>
            <a:off x="4787513" y="3894230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Baguet Script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F67018-2EF6-4396-8A2A-23F4E89D966B}"/>
              </a:ext>
            </a:extLst>
          </p:cNvPr>
          <p:cNvSpPr txBox="1"/>
          <p:nvPr/>
        </p:nvSpPr>
        <p:spPr>
          <a:xfrm>
            <a:off x="2374373" y="2187992"/>
            <a:ext cx="734518" cy="213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X1</a:t>
            </a:r>
          </a:p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endParaRPr lang="en-US" dirty="0"/>
          </a:p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X2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86094E-097D-4AAB-B00A-DA02934E139C}"/>
                  </a:ext>
                </a:extLst>
              </p:cNvPr>
              <p:cNvSpPr txBox="1"/>
              <p:nvPr/>
            </p:nvSpPr>
            <p:spPr>
              <a:xfrm>
                <a:off x="4719502" y="1885432"/>
                <a:ext cx="734518" cy="3536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8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𝟐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p>
                      </m:sSubSup>
                      <m:r>
                        <a:rPr lang="en-US" sz="2800" b="1" i="1" smtClean="0">
                          <a:latin typeface="Cambria Math" panose="02040503050406030204" pitchFamily="18" charset="0"/>
                          <a:ea typeface="Adobe Gothic Std B" panose="020B0800000000000000" pitchFamily="34" charset="-128"/>
                        </a:rPr>
                        <m:t> 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86094E-097D-4AAB-B00A-DA02934E1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502" y="1885432"/>
                <a:ext cx="734518" cy="35364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7305FA-903F-487C-B2DD-6F86E9C957CD}"/>
              </a:ext>
            </a:extLst>
          </p:cNvPr>
          <p:cNvCxnSpPr>
            <a:cxnSpLocks/>
          </p:cNvCxnSpPr>
          <p:nvPr/>
        </p:nvCxnSpPr>
        <p:spPr>
          <a:xfrm flipV="1">
            <a:off x="2936212" y="2610299"/>
            <a:ext cx="1861741" cy="152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671C40C-5877-49C5-8FF9-5281C07F4A84}"/>
              </a:ext>
            </a:extLst>
          </p:cNvPr>
          <p:cNvCxnSpPr>
            <a:cxnSpLocks/>
          </p:cNvCxnSpPr>
          <p:nvPr/>
        </p:nvCxnSpPr>
        <p:spPr>
          <a:xfrm flipV="1">
            <a:off x="2926080" y="2605295"/>
            <a:ext cx="1871873" cy="14826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EDC49DA-6AC4-4BE3-8387-E612A351EF48}"/>
              </a:ext>
            </a:extLst>
          </p:cNvPr>
          <p:cNvCxnSpPr>
            <a:cxnSpLocks/>
          </p:cNvCxnSpPr>
          <p:nvPr/>
        </p:nvCxnSpPr>
        <p:spPr>
          <a:xfrm>
            <a:off x="2951130" y="2625544"/>
            <a:ext cx="1807687" cy="13826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68E3E6-EE17-4864-B515-8895907BA23D}"/>
              </a:ext>
            </a:extLst>
          </p:cNvPr>
          <p:cNvCxnSpPr>
            <a:cxnSpLocks/>
          </p:cNvCxnSpPr>
          <p:nvPr/>
        </p:nvCxnSpPr>
        <p:spPr>
          <a:xfrm flipV="1">
            <a:off x="2895427" y="4037740"/>
            <a:ext cx="1842138" cy="3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B58DB86-F664-4C58-B2FB-22A36E383AF0}"/>
              </a:ext>
            </a:extLst>
          </p:cNvPr>
          <p:cNvGrpSpPr/>
          <p:nvPr/>
        </p:nvGrpSpPr>
        <p:grpSpPr>
          <a:xfrm>
            <a:off x="7841693" y="2238558"/>
            <a:ext cx="1044316" cy="2156310"/>
            <a:chOff x="10655509" y="3580927"/>
            <a:chExt cx="1044316" cy="215631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EF4808D-C3A7-4862-BA09-C03002A1CBBD}"/>
                </a:ext>
              </a:extLst>
            </p:cNvPr>
            <p:cNvSpPr/>
            <p:nvPr/>
          </p:nvSpPr>
          <p:spPr>
            <a:xfrm>
              <a:off x="10655509" y="3580927"/>
              <a:ext cx="1044316" cy="215631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97E2C23-42C2-4989-B7E4-73FC4B243043}"/>
                </a:ext>
              </a:extLst>
            </p:cNvPr>
            <p:cNvSpPr/>
            <p:nvPr/>
          </p:nvSpPr>
          <p:spPr>
            <a:xfrm>
              <a:off x="10881273" y="3919782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32339F0-84C1-4AD8-B69D-C646EFBAC774}"/>
                </a:ext>
              </a:extLst>
            </p:cNvPr>
            <p:cNvSpPr/>
            <p:nvPr/>
          </p:nvSpPr>
          <p:spPr>
            <a:xfrm>
              <a:off x="10881273" y="4758604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7B467FE-2BE9-4DD0-BC26-E577C8FFFEE1}"/>
              </a:ext>
            </a:extLst>
          </p:cNvPr>
          <p:cNvSpPr txBox="1"/>
          <p:nvPr/>
        </p:nvSpPr>
        <p:spPr>
          <a:xfrm>
            <a:off x="8151491" y="2678697"/>
            <a:ext cx="734518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b="1" dirty="0">
                <a:latin typeface="Modern Love Grunge" panose="020B0604020202020204" pitchFamily="82" charset="0"/>
                <a:ea typeface="Adobe Ming Std L" panose="02020300000000000000" pitchFamily="18" charset="-128"/>
              </a:rPr>
              <a:t>Y1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Modern Love Grunge" panose="020B0604020202020204" pitchFamily="82" charset="0"/>
                <a:ea typeface="Adobe Ming Std L" panose="02020300000000000000" pitchFamily="18" charset="-128"/>
              </a:rPr>
              <a:t>Y2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99D043C-3565-4139-8936-1D5C8BFD9647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5424160" y="2599249"/>
            <a:ext cx="2643297" cy="2919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251F6F0-9FF9-4135-80DF-9324F6DE5129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5424160" y="2591626"/>
            <a:ext cx="2643297" cy="11384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80911A9-8C49-453A-8512-E8A6F8B6CEC1}"/>
              </a:ext>
            </a:extLst>
          </p:cNvPr>
          <p:cNvCxnSpPr>
            <a:cxnSpLocks/>
            <a:endCxn id="32" idx="2"/>
          </p:cNvCxnSpPr>
          <p:nvPr/>
        </p:nvCxnSpPr>
        <p:spPr>
          <a:xfrm flipV="1">
            <a:off x="5409242" y="2891237"/>
            <a:ext cx="2658215" cy="1430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14BB9B-6FEE-456C-BAE0-67E252525728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5424160" y="3730059"/>
            <a:ext cx="2643297" cy="5704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74D5773-48EE-4913-9119-0F1FA4316DB3}"/>
              </a:ext>
            </a:extLst>
          </p:cNvPr>
          <p:cNvSpPr txBox="1"/>
          <p:nvPr/>
        </p:nvSpPr>
        <p:spPr>
          <a:xfrm>
            <a:off x="10450181" y="2625544"/>
            <a:ext cx="7509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Broadway" panose="04040905080B02020502" pitchFamily="82" charset="0"/>
              </a:rPr>
              <a:t>0</a:t>
            </a:r>
          </a:p>
          <a:p>
            <a:endParaRPr lang="en-US" sz="2800" dirty="0">
              <a:highlight>
                <a:srgbClr val="FFFF00"/>
              </a:highlight>
              <a:latin typeface="Broadway" panose="04040905080B02020502" pitchFamily="82" charset="0"/>
            </a:endParaRPr>
          </a:p>
          <a:p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Broadway" panose="04040905080B02020502" pitchFamily="82" charset="0"/>
              </a:rPr>
              <a:t>1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A75B066-C608-499A-AC0D-E75EE5757D54}"/>
              </a:ext>
            </a:extLst>
          </p:cNvPr>
          <p:cNvGrpSpPr/>
          <p:nvPr/>
        </p:nvGrpSpPr>
        <p:grpSpPr>
          <a:xfrm>
            <a:off x="4917425" y="1605928"/>
            <a:ext cx="407294" cy="394415"/>
            <a:chOff x="4686300" y="1320085"/>
            <a:chExt cx="407294" cy="394415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79FD91F-1AF4-471E-B7E6-A41BFE4E3ADC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00" y="1320085"/>
              <a:ext cx="0" cy="39441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E3F1DAF-F579-4DBC-B6E0-72A49481246C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00" y="1714500"/>
              <a:ext cx="407294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20C7479-4E83-4B1F-A279-EB0C9CBFF8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300" y="1329888"/>
              <a:ext cx="407294" cy="38461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CC820B61-23BF-4025-BC5D-7FE56C7595B2}"/>
              </a:ext>
            </a:extLst>
          </p:cNvPr>
          <p:cNvSpPr txBox="1"/>
          <p:nvPr/>
        </p:nvSpPr>
        <p:spPr>
          <a:xfrm>
            <a:off x="10244008" y="2000343"/>
            <a:ext cx="1141465" cy="561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Target</a:t>
            </a: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CF1A3F31-EE73-4E5D-AE5A-A1AE4A869339}"/>
              </a:ext>
            </a:extLst>
          </p:cNvPr>
          <p:cNvSpPr txBox="1"/>
          <p:nvPr/>
        </p:nvSpPr>
        <p:spPr>
          <a:xfrm>
            <a:off x="2253452" y="3010730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0.05</a:t>
            </a:r>
          </a:p>
        </p:txBody>
      </p:sp>
      <p:sp>
        <p:nvSpPr>
          <p:cNvPr id="46" name="TextBox 3">
            <a:extLst>
              <a:ext uri="{FF2B5EF4-FFF2-40B4-BE49-F238E27FC236}">
                <a16:creationId xmlns:a16="http://schemas.microsoft.com/office/drawing/2014/main" id="{7551D031-17EA-454A-8404-5B9A48F07D1B}"/>
              </a:ext>
            </a:extLst>
          </p:cNvPr>
          <p:cNvSpPr txBox="1"/>
          <p:nvPr/>
        </p:nvSpPr>
        <p:spPr>
          <a:xfrm>
            <a:off x="2322569" y="4450391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0.1</a:t>
            </a:r>
          </a:p>
        </p:txBody>
      </p:sp>
      <p:sp>
        <p:nvSpPr>
          <p:cNvPr id="47" name="TextBox 3">
            <a:extLst>
              <a:ext uri="{FF2B5EF4-FFF2-40B4-BE49-F238E27FC236}">
                <a16:creationId xmlns:a16="http://schemas.microsoft.com/office/drawing/2014/main" id="{7C516604-CB95-40E5-802D-AE5DE7BCDDF1}"/>
              </a:ext>
            </a:extLst>
          </p:cNvPr>
          <p:cNvSpPr txBox="1"/>
          <p:nvPr/>
        </p:nvSpPr>
        <p:spPr>
          <a:xfrm>
            <a:off x="3422508" y="2096411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0.15</a:t>
            </a:r>
          </a:p>
        </p:txBody>
      </p:sp>
      <p:sp>
        <p:nvSpPr>
          <p:cNvPr id="55" name="TextBox 3">
            <a:extLst>
              <a:ext uri="{FF2B5EF4-FFF2-40B4-BE49-F238E27FC236}">
                <a16:creationId xmlns:a16="http://schemas.microsoft.com/office/drawing/2014/main" id="{F1BB70C7-DD95-440A-A3A8-035762890B24}"/>
              </a:ext>
            </a:extLst>
          </p:cNvPr>
          <p:cNvSpPr txBox="1"/>
          <p:nvPr/>
        </p:nvSpPr>
        <p:spPr>
          <a:xfrm rot="2136090">
            <a:off x="3340457" y="2738810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0.2</a:t>
            </a:r>
          </a:p>
        </p:txBody>
      </p:sp>
      <p:sp>
        <p:nvSpPr>
          <p:cNvPr id="56" name="TextBox 3">
            <a:extLst>
              <a:ext uri="{FF2B5EF4-FFF2-40B4-BE49-F238E27FC236}">
                <a16:creationId xmlns:a16="http://schemas.microsoft.com/office/drawing/2014/main" id="{96C08CD4-C917-4290-862F-156841F79EE2}"/>
              </a:ext>
            </a:extLst>
          </p:cNvPr>
          <p:cNvSpPr txBox="1"/>
          <p:nvPr/>
        </p:nvSpPr>
        <p:spPr>
          <a:xfrm rot="19284427">
            <a:off x="3290836" y="3437395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0.25</a:t>
            </a:r>
          </a:p>
        </p:txBody>
      </p:sp>
      <p:sp>
        <p:nvSpPr>
          <p:cNvPr id="57" name="TextBox 3">
            <a:extLst>
              <a:ext uri="{FF2B5EF4-FFF2-40B4-BE49-F238E27FC236}">
                <a16:creationId xmlns:a16="http://schemas.microsoft.com/office/drawing/2014/main" id="{F7E52A0F-56D3-4674-AA5B-A12CB811B6CE}"/>
              </a:ext>
            </a:extLst>
          </p:cNvPr>
          <p:cNvSpPr txBox="1"/>
          <p:nvPr/>
        </p:nvSpPr>
        <p:spPr>
          <a:xfrm>
            <a:off x="3278382" y="4135125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0.3</a:t>
            </a:r>
          </a:p>
        </p:txBody>
      </p:sp>
      <p:sp>
        <p:nvSpPr>
          <p:cNvPr id="58" name="TextBox 3">
            <a:extLst>
              <a:ext uri="{FF2B5EF4-FFF2-40B4-BE49-F238E27FC236}">
                <a16:creationId xmlns:a16="http://schemas.microsoft.com/office/drawing/2014/main" id="{DC4D255F-C557-407D-B56A-059BB2D53D62}"/>
              </a:ext>
            </a:extLst>
          </p:cNvPr>
          <p:cNvSpPr txBox="1"/>
          <p:nvPr/>
        </p:nvSpPr>
        <p:spPr>
          <a:xfrm>
            <a:off x="6383519" y="1771900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0.65</a:t>
            </a:r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F68F3C9B-F161-42FF-9648-CEF22800D356}"/>
              </a:ext>
            </a:extLst>
          </p:cNvPr>
          <p:cNvSpPr txBox="1"/>
          <p:nvPr/>
        </p:nvSpPr>
        <p:spPr>
          <a:xfrm>
            <a:off x="6343479" y="4628536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0.1</a:t>
            </a:r>
          </a:p>
        </p:txBody>
      </p:sp>
      <p:sp>
        <p:nvSpPr>
          <p:cNvPr id="67" name="TextBox 3">
            <a:extLst>
              <a:ext uri="{FF2B5EF4-FFF2-40B4-BE49-F238E27FC236}">
                <a16:creationId xmlns:a16="http://schemas.microsoft.com/office/drawing/2014/main" id="{74955C2B-34D0-497A-B625-0A1D64FC5FA4}"/>
              </a:ext>
            </a:extLst>
          </p:cNvPr>
          <p:cNvSpPr txBox="1"/>
          <p:nvPr/>
        </p:nvSpPr>
        <p:spPr>
          <a:xfrm>
            <a:off x="973217" y="1964619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0.35</a:t>
            </a:r>
          </a:p>
        </p:txBody>
      </p:sp>
      <p:sp>
        <p:nvSpPr>
          <p:cNvPr id="68" name="TextBox 3">
            <a:extLst>
              <a:ext uri="{FF2B5EF4-FFF2-40B4-BE49-F238E27FC236}">
                <a16:creationId xmlns:a16="http://schemas.microsoft.com/office/drawing/2014/main" id="{2A99B76E-FE51-4626-9C28-CC1E46B59FD8}"/>
              </a:ext>
            </a:extLst>
          </p:cNvPr>
          <p:cNvSpPr txBox="1"/>
          <p:nvPr/>
        </p:nvSpPr>
        <p:spPr>
          <a:xfrm>
            <a:off x="992333" y="4319216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0.35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5E63CDE2-8A9E-4739-9FC4-C55DCC578C4C}"/>
              </a:ext>
            </a:extLst>
          </p:cNvPr>
          <p:cNvSpPr txBox="1"/>
          <p:nvPr/>
        </p:nvSpPr>
        <p:spPr>
          <a:xfrm>
            <a:off x="6673649" y="2430108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0.5</a:t>
            </a:r>
          </a:p>
        </p:txBody>
      </p:sp>
      <p:sp>
        <p:nvSpPr>
          <p:cNvPr id="70" name="TextBox 3">
            <a:extLst>
              <a:ext uri="{FF2B5EF4-FFF2-40B4-BE49-F238E27FC236}">
                <a16:creationId xmlns:a16="http://schemas.microsoft.com/office/drawing/2014/main" id="{82EF8039-B148-4C4D-A3BA-9A55E4140215}"/>
              </a:ext>
            </a:extLst>
          </p:cNvPr>
          <p:cNvSpPr txBox="1"/>
          <p:nvPr/>
        </p:nvSpPr>
        <p:spPr>
          <a:xfrm rot="1532732">
            <a:off x="5783431" y="2846975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0.5</a:t>
            </a:r>
          </a:p>
        </p:txBody>
      </p:sp>
      <p:sp>
        <p:nvSpPr>
          <p:cNvPr id="71" name="TextBox 3">
            <a:extLst>
              <a:ext uri="{FF2B5EF4-FFF2-40B4-BE49-F238E27FC236}">
                <a16:creationId xmlns:a16="http://schemas.microsoft.com/office/drawing/2014/main" id="{084DC371-BB00-47D8-BF54-0A66FB2362EA}"/>
              </a:ext>
            </a:extLst>
          </p:cNvPr>
          <p:cNvSpPr txBox="1"/>
          <p:nvPr/>
        </p:nvSpPr>
        <p:spPr>
          <a:xfrm rot="19876117">
            <a:off x="5781531" y="3475945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0.1</a:t>
            </a:r>
          </a:p>
        </p:txBody>
      </p:sp>
      <p:sp>
        <p:nvSpPr>
          <p:cNvPr id="72" name="TextBox 3">
            <a:extLst>
              <a:ext uri="{FF2B5EF4-FFF2-40B4-BE49-F238E27FC236}">
                <a16:creationId xmlns:a16="http://schemas.microsoft.com/office/drawing/2014/main" id="{DE44BC2A-96FD-4FAA-A04D-7B245D611DA3}"/>
              </a:ext>
            </a:extLst>
          </p:cNvPr>
          <p:cNvSpPr txBox="1"/>
          <p:nvPr/>
        </p:nvSpPr>
        <p:spPr>
          <a:xfrm>
            <a:off x="6613914" y="3911940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0.1</a:t>
            </a:r>
          </a:p>
        </p:txBody>
      </p:sp>
      <p:sp>
        <p:nvSpPr>
          <p:cNvPr id="73" name="TextBox 3">
            <a:extLst>
              <a:ext uri="{FF2B5EF4-FFF2-40B4-BE49-F238E27FC236}">
                <a16:creationId xmlns:a16="http://schemas.microsoft.com/office/drawing/2014/main" id="{EA34A06E-7DCC-4705-83E5-36F4BB84DE24}"/>
              </a:ext>
            </a:extLst>
          </p:cNvPr>
          <p:cNvSpPr txBox="1"/>
          <p:nvPr/>
        </p:nvSpPr>
        <p:spPr>
          <a:xfrm>
            <a:off x="8823748" y="2587116"/>
            <a:ext cx="1114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/>
                </a:solidFill>
                <a:highlight>
                  <a:srgbClr val="FFFF00"/>
                </a:highlight>
                <a:latin typeface="Broadway" panose="04040905080B02020502" pitchFamily="8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1.04</a:t>
            </a:r>
          </a:p>
        </p:txBody>
      </p:sp>
      <p:sp>
        <p:nvSpPr>
          <p:cNvPr id="74" name="TextBox 3">
            <a:extLst>
              <a:ext uri="{FF2B5EF4-FFF2-40B4-BE49-F238E27FC236}">
                <a16:creationId xmlns:a16="http://schemas.microsoft.com/office/drawing/2014/main" id="{3F13C6AB-2AC1-4E3B-AE49-27500369A6F4}"/>
              </a:ext>
            </a:extLst>
          </p:cNvPr>
          <p:cNvSpPr txBox="1"/>
          <p:nvPr/>
        </p:nvSpPr>
        <p:spPr>
          <a:xfrm>
            <a:off x="8835372" y="3521538"/>
            <a:ext cx="1239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/>
                </a:solidFill>
                <a:highlight>
                  <a:srgbClr val="FFFF00"/>
                </a:highlight>
                <a:latin typeface="Broadway" panose="04040905080B02020502" pitchFamily="8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0.18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647C7B0-CFA8-443D-9858-C62A4347CDDA}"/>
              </a:ext>
            </a:extLst>
          </p:cNvPr>
          <p:cNvSpPr txBox="1"/>
          <p:nvPr/>
        </p:nvSpPr>
        <p:spPr>
          <a:xfrm>
            <a:off x="8867297" y="2025552"/>
            <a:ext cx="1141465" cy="561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Initial</a:t>
            </a:r>
          </a:p>
        </p:txBody>
      </p:sp>
      <p:sp>
        <p:nvSpPr>
          <p:cNvPr id="76" name="Google Shape;581;p31">
            <a:extLst>
              <a:ext uri="{FF2B5EF4-FFF2-40B4-BE49-F238E27FC236}">
                <a16:creationId xmlns:a16="http://schemas.microsoft.com/office/drawing/2014/main" id="{ED50D557-CF8F-4E96-BCB8-E4F83499050D}"/>
              </a:ext>
            </a:extLst>
          </p:cNvPr>
          <p:cNvSpPr txBox="1">
            <a:spLocks/>
          </p:cNvSpPr>
          <p:nvPr/>
        </p:nvSpPr>
        <p:spPr>
          <a:xfrm>
            <a:off x="1226062" y="5350829"/>
            <a:ext cx="9983004" cy="66716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DNN training has output of Y1=1 and Y2=0 to disagree with targets.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5EE94CD-CEA1-4B15-A29A-D589BB28F067}"/>
              </a:ext>
            </a:extLst>
          </p:cNvPr>
          <p:cNvSpPr/>
          <p:nvPr/>
        </p:nvSpPr>
        <p:spPr>
          <a:xfrm>
            <a:off x="1178140" y="2344054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A4DDF9E-00AB-4D31-811C-4166FB4205A4}"/>
              </a:ext>
            </a:extLst>
          </p:cNvPr>
          <p:cNvSpPr/>
          <p:nvPr/>
        </p:nvSpPr>
        <p:spPr>
          <a:xfrm>
            <a:off x="1220878" y="3800107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648034D-09D2-4B2E-8074-B6329CD0B34F}"/>
              </a:ext>
            </a:extLst>
          </p:cNvPr>
          <p:cNvSpPr/>
          <p:nvPr/>
        </p:nvSpPr>
        <p:spPr>
          <a:xfrm>
            <a:off x="5764786" y="1998390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4DCF4FC-FB28-4557-914D-3775E534512B}"/>
              </a:ext>
            </a:extLst>
          </p:cNvPr>
          <p:cNvSpPr/>
          <p:nvPr/>
        </p:nvSpPr>
        <p:spPr>
          <a:xfrm>
            <a:off x="5801629" y="4211519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B3D82BF-A451-4401-98BF-94A9585165FE}"/>
                  </a:ext>
                </a:extLst>
              </p:cNvPr>
              <p:cNvSpPr txBox="1"/>
              <p:nvPr/>
            </p:nvSpPr>
            <p:spPr>
              <a:xfrm>
                <a:off x="1140910" y="2119748"/>
                <a:ext cx="734518" cy="1036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B3D82BF-A451-4401-98BF-94A958516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910" y="2119748"/>
                <a:ext cx="734518" cy="10360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37D7904-6F75-47F9-99CA-94160F6D1027}"/>
                  </a:ext>
                </a:extLst>
              </p:cNvPr>
              <p:cNvSpPr txBox="1"/>
              <p:nvPr/>
            </p:nvSpPr>
            <p:spPr>
              <a:xfrm>
                <a:off x="1129839" y="3569043"/>
                <a:ext cx="734518" cy="1036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37D7904-6F75-47F9-99CA-94160F6D1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839" y="3569043"/>
                <a:ext cx="734518" cy="10360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62423C1-AC73-4225-BCE9-4E314C0F87FC}"/>
                  </a:ext>
                </a:extLst>
              </p:cNvPr>
              <p:cNvSpPr txBox="1"/>
              <p:nvPr/>
            </p:nvSpPr>
            <p:spPr>
              <a:xfrm>
                <a:off x="5700054" y="1794469"/>
                <a:ext cx="734518" cy="103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62423C1-AC73-4225-BCE9-4E314C0F8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054" y="1794469"/>
                <a:ext cx="734518" cy="10325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94074BC-B6D1-494E-B8A4-93A77ED50674}"/>
                  </a:ext>
                </a:extLst>
              </p:cNvPr>
              <p:cNvSpPr txBox="1"/>
              <p:nvPr/>
            </p:nvSpPr>
            <p:spPr>
              <a:xfrm>
                <a:off x="5726078" y="3964316"/>
                <a:ext cx="734518" cy="1036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94074BC-B6D1-494E-B8A4-93A77ED50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078" y="3964316"/>
                <a:ext cx="734518" cy="10360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" name="Graphic 58" descr="Badge Cross with solid fill">
            <a:extLst>
              <a:ext uri="{FF2B5EF4-FFF2-40B4-BE49-F238E27FC236}">
                <a16:creationId xmlns:a16="http://schemas.microsoft.com/office/drawing/2014/main" id="{F34C27AB-EF12-42BA-8CEF-0CC7559461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13860" y="2587116"/>
            <a:ext cx="665044" cy="665044"/>
          </a:xfrm>
          <a:prstGeom prst="rect">
            <a:avLst/>
          </a:prstGeom>
        </p:spPr>
      </p:pic>
      <p:pic>
        <p:nvPicPr>
          <p:cNvPr id="60" name="Graphic 59" descr="Badge Cross with solid fill">
            <a:extLst>
              <a:ext uri="{FF2B5EF4-FFF2-40B4-BE49-F238E27FC236}">
                <a16:creationId xmlns:a16="http://schemas.microsoft.com/office/drawing/2014/main" id="{F8F1F2B5-2EC8-4E75-8C37-A88FA6DA4D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03917" y="3432120"/>
            <a:ext cx="665044" cy="66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744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581;p31">
                <a:extLst>
                  <a:ext uri="{FF2B5EF4-FFF2-40B4-BE49-F238E27FC236}">
                    <a16:creationId xmlns:a16="http://schemas.microsoft.com/office/drawing/2014/main" id="{E13A7EA9-70D1-4408-9BAD-F0DE7614FB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1087" y="588366"/>
                <a:ext cx="11199267" cy="7138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vert="horz" wrap="square" lIns="121900" tIns="121900" rIns="121900" bIns="121900" rtlCol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 lang="en-US"/>
                </a:defPPr>
                <a:lvl1pPr marR="0" lvl="0" indent="0" defTabSz="914400">
                  <a:lnSpc>
                    <a:spcPct val="115000"/>
                  </a:lnSpc>
                  <a:spcBef>
                    <a:spcPts val="0"/>
                  </a:spcBef>
                  <a:spcAft>
                    <a:spcPts val="2133"/>
                  </a:spcAft>
                  <a:buClr>
                    <a:schemeClr val="dk1"/>
                  </a:buClr>
                  <a:buSzPts val="2400"/>
                  <a:buFont typeface="Arial"/>
                  <a:buNone/>
                  <a:defRPr sz="2400" b="0" i="0" u="none" strike="noStrike" cap="none">
                    <a:solidFill>
                      <a:srgbClr val="7030A0"/>
                    </a:solidFill>
                    <a:effectLst/>
                    <a:latin typeface="Open Sans" panose="020B0606030504020204" pitchFamily="34" charset="0"/>
                    <a:ea typeface="Arial"/>
                    <a:cs typeface="Arial"/>
                  </a:defRPr>
                </a:lvl1pPr>
                <a:lvl2pPr marL="914400" marR="0" lvl="1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○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2pPr>
                <a:lvl3pPr marL="1371600" marR="0" lvl="2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■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3pPr>
                <a:lvl4pPr marL="1828800" marR="0" lvl="3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●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4pPr>
                <a:lvl5pPr marL="2286000" marR="0" lvl="4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○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5pPr>
                <a:lvl6pPr marL="2743200" marR="0" lvl="5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■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6pPr>
                <a:lvl7pPr marL="3200400" marR="0" lvl="6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●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7pPr>
                <a:lvl8pPr marL="3657600" marR="0" lvl="7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○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8pPr>
                <a:lvl9pPr marL="4114800" marR="0" lvl="8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■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>
                <a:r>
                  <a:rPr lang="en-US" dirty="0"/>
                  <a:t>DNN </a:t>
                </a:r>
                <a:r>
                  <a:rPr lang="en-US" sz="2400" dirty="0"/>
                  <a:t>ﬁrst-order gradient to </a:t>
                </a:r>
                <a:r>
                  <a:rPr lang="en-US" dirty="0"/>
                  <a:t>calc. </a:t>
                </a:r>
                <a:r>
                  <a:rPr lang="el-GR" b="1" dirty="0">
                    <a:solidFill>
                      <a:srgbClr val="FF0000"/>
                    </a:solidFill>
                  </a:rPr>
                  <a:t>Δ</a:t>
                </a:r>
                <a:r>
                  <a:rPr lang="en-US" dirty="0"/>
                  <a:t>  of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 ,  </m:t>
                    </m:r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dirty="0"/>
                  <a:t> and update all 6 </a:t>
                </a:r>
              </a:p>
            </p:txBody>
          </p:sp>
        </mc:Choice>
        <mc:Fallback xmlns="">
          <p:sp>
            <p:nvSpPr>
              <p:cNvPr id="3" name="Google Shape;581;p31">
                <a:extLst>
                  <a:ext uri="{FF2B5EF4-FFF2-40B4-BE49-F238E27FC236}">
                    <a16:creationId xmlns:a16="http://schemas.microsoft.com/office/drawing/2014/main" id="{E13A7EA9-70D1-4408-9BAD-F0DE7614F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87" y="588366"/>
                <a:ext cx="11199267" cy="713874"/>
              </a:xfrm>
              <a:prstGeom prst="rect">
                <a:avLst/>
              </a:prstGeom>
              <a:blipFill>
                <a:blip r:embed="rId2"/>
                <a:stretch>
                  <a:fillRect l="-599" b="-51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8A8FD9C-2840-4812-9595-80E4B5573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2" y="1648142"/>
            <a:ext cx="12117294" cy="2332844"/>
          </a:xfrm>
          <a:prstGeom prst="rect">
            <a:avLst/>
          </a:prstGeom>
        </p:spPr>
      </p:pic>
      <p:sp>
        <p:nvSpPr>
          <p:cNvPr id="13" name="Arrow: Left 12">
            <a:extLst>
              <a:ext uri="{FF2B5EF4-FFF2-40B4-BE49-F238E27FC236}">
                <a16:creationId xmlns:a16="http://schemas.microsoft.com/office/drawing/2014/main" id="{D33C4A4A-9F2F-4923-A87A-0E7C9B6AA396}"/>
              </a:ext>
            </a:extLst>
          </p:cNvPr>
          <p:cNvSpPr/>
          <p:nvPr/>
        </p:nvSpPr>
        <p:spPr>
          <a:xfrm>
            <a:off x="6021828" y="5834745"/>
            <a:ext cx="1138817" cy="251575"/>
          </a:xfrm>
          <a:prstGeom prst="leftArrow">
            <a:avLst>
              <a:gd name="adj1" fmla="val 72194"/>
              <a:gd name="adj2" fmla="val 50000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203A7C-6388-40FF-9D3F-937F6F5A2125}"/>
              </a:ext>
            </a:extLst>
          </p:cNvPr>
          <p:cNvSpPr txBox="1"/>
          <p:nvPr/>
        </p:nvSpPr>
        <p:spPr>
          <a:xfrm>
            <a:off x="10032744" y="4134232"/>
            <a:ext cx="2128140" cy="99665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Output Layers: h1=0.378, E1=1.035</a:t>
            </a:r>
          </a:p>
          <a:p>
            <a:r>
              <a:rPr lang="en-US" dirty="0">
                <a:solidFill>
                  <a:schemeClr val="tx1"/>
                </a:solidFill>
              </a:rPr>
              <a:t>h2=0.393, E2=-0.823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llout: Line 10">
                <a:extLst>
                  <a:ext uri="{FF2B5EF4-FFF2-40B4-BE49-F238E27FC236}">
                    <a16:creationId xmlns:a16="http://schemas.microsoft.com/office/drawing/2014/main" id="{F061E9C5-7116-4C18-915A-4B0519322C90}"/>
                  </a:ext>
                </a:extLst>
              </p:cNvPr>
              <p:cNvSpPr/>
              <p:nvPr/>
            </p:nvSpPr>
            <p:spPr>
              <a:xfrm>
                <a:off x="7276755" y="3980986"/>
                <a:ext cx="2202526" cy="610415"/>
              </a:xfrm>
              <a:prstGeom prst="borderCallout1">
                <a:avLst>
                  <a:gd name="adj1" fmla="val 24540"/>
                  <a:gd name="adj2" fmla="val -5685"/>
                  <a:gd name="adj3" fmla="val -267674"/>
                  <a:gd name="adj4" fmla="val -24353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28575"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l-GR" b="1" dirty="0">
                    <a:solidFill>
                      <a:srgbClr val="FF0000"/>
                    </a:solidFill>
                  </a:rPr>
                  <a:t>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=E1*</a:t>
                </a:r>
                <a:r>
                  <a:rPr lang="en-US" sz="1800" b="1" dirty="0">
                    <a:solidFill>
                      <a:srgbClr val="FF000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𝒉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/>
                    </m:sSub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=0.5−</a:t>
                </a:r>
                <a:r>
                  <a:rPr lang="el-GR" b="1" dirty="0">
                    <a:solidFill>
                      <a:srgbClr val="FF0000"/>
                    </a:solidFill>
                  </a:rPr>
                  <a:t>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/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11" name="Callout: Line 10">
                <a:extLst>
                  <a:ext uri="{FF2B5EF4-FFF2-40B4-BE49-F238E27FC236}">
                    <a16:creationId xmlns:a16="http://schemas.microsoft.com/office/drawing/2014/main" id="{F061E9C5-7116-4C18-915A-4B0519322C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755" y="3980986"/>
                <a:ext cx="2202526" cy="610415"/>
              </a:xfrm>
              <a:prstGeom prst="borderCallout1">
                <a:avLst>
                  <a:gd name="adj1" fmla="val 24540"/>
                  <a:gd name="adj2" fmla="val -5685"/>
                  <a:gd name="adj3" fmla="val -267674"/>
                  <a:gd name="adj4" fmla="val -24353"/>
                </a:avLst>
              </a:prstGeom>
              <a:blipFill>
                <a:blip r:embed="rId4"/>
                <a:stretch>
                  <a:fillRect b="-5362"/>
                </a:stretch>
              </a:blipFill>
              <a:ln w="28575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4CE3E89-7429-4676-95AF-C02C7C101482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9479281" y="2605669"/>
            <a:ext cx="553463" cy="168052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llout: Line 15">
                <a:extLst>
                  <a:ext uri="{FF2B5EF4-FFF2-40B4-BE49-F238E27FC236}">
                    <a16:creationId xmlns:a16="http://schemas.microsoft.com/office/drawing/2014/main" id="{B57E1F07-1DAD-4662-8507-1A283B43214E}"/>
                  </a:ext>
                </a:extLst>
              </p:cNvPr>
              <p:cNvSpPr/>
              <p:nvPr/>
            </p:nvSpPr>
            <p:spPr>
              <a:xfrm>
                <a:off x="7276755" y="4732725"/>
                <a:ext cx="2202526" cy="610415"/>
              </a:xfrm>
              <a:prstGeom prst="borderCallout1">
                <a:avLst>
                  <a:gd name="adj1" fmla="val 49489"/>
                  <a:gd name="adj2" fmla="val -2711"/>
                  <a:gd name="adj3" fmla="val -325085"/>
                  <a:gd name="adj4" fmla="val -23999"/>
                </a:avLst>
              </a:prstGeom>
              <a:ln w="28575"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l-GR" b="1" dirty="0">
                    <a:solidFill>
                      <a:srgbClr val="FF0000"/>
                    </a:solidFill>
                  </a:rPr>
                  <a:t>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=E1*</a:t>
                </a:r>
                <a:r>
                  <a:rPr lang="en-US" b="1" dirty="0">
                    <a:solidFill>
                      <a:srgbClr val="FF000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𝒉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/>
                    </m:sSubSup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=0.5 − </a:t>
                </a:r>
                <a:r>
                  <a:rPr lang="el-GR" b="1" dirty="0">
                    <a:solidFill>
                      <a:srgbClr val="FF0000"/>
                    </a:solidFill>
                  </a:rPr>
                  <a:t>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/2</a:t>
                </a:r>
              </a:p>
            </p:txBody>
          </p:sp>
        </mc:Choice>
        <mc:Fallback xmlns="">
          <p:sp>
            <p:nvSpPr>
              <p:cNvPr id="16" name="Callout: Line 15">
                <a:extLst>
                  <a:ext uri="{FF2B5EF4-FFF2-40B4-BE49-F238E27FC236}">
                    <a16:creationId xmlns:a16="http://schemas.microsoft.com/office/drawing/2014/main" id="{B57E1F07-1DAD-4662-8507-1A283B4321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755" y="4732725"/>
                <a:ext cx="2202526" cy="610415"/>
              </a:xfrm>
              <a:prstGeom prst="borderCallout1">
                <a:avLst>
                  <a:gd name="adj1" fmla="val 49489"/>
                  <a:gd name="adj2" fmla="val -2711"/>
                  <a:gd name="adj3" fmla="val -325085"/>
                  <a:gd name="adj4" fmla="val -23999"/>
                </a:avLst>
              </a:prstGeom>
              <a:blipFill>
                <a:blip r:embed="rId5"/>
                <a:stretch>
                  <a:fillRect b="-4640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9D5947B-CC11-4783-93CE-337A12675350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9479281" y="2605669"/>
            <a:ext cx="553463" cy="24322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llout: Line 33">
                <a:extLst>
                  <a:ext uri="{FF2B5EF4-FFF2-40B4-BE49-F238E27FC236}">
                    <a16:creationId xmlns:a16="http://schemas.microsoft.com/office/drawing/2014/main" id="{ACAB0287-2F20-4D80-81E3-5E626FC8B0AA}"/>
                  </a:ext>
                </a:extLst>
              </p:cNvPr>
              <p:cNvSpPr/>
              <p:nvPr/>
            </p:nvSpPr>
            <p:spPr>
              <a:xfrm>
                <a:off x="7264236" y="5481007"/>
                <a:ext cx="2215046" cy="702113"/>
              </a:xfrm>
              <a:prstGeom prst="borderCallout1">
                <a:avLst>
                  <a:gd name="adj1" fmla="val 24540"/>
                  <a:gd name="adj2" fmla="val -5685"/>
                  <a:gd name="adj3" fmla="val -342926"/>
                  <a:gd name="adj4" fmla="val -23639"/>
                </a:avLst>
              </a:prstGeom>
              <a:solidFill>
                <a:srgbClr val="00B0F0"/>
              </a:solidFill>
              <a:ln w="28575">
                <a:solidFill>
                  <a:srgbClr val="0070C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l-GR" b="1" dirty="0">
                    <a:solidFill>
                      <a:srgbClr val="FF0000"/>
                    </a:solidFill>
                  </a:rPr>
                  <a:t>Δ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=E1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=0.65 −</a:t>
                </a:r>
                <a:r>
                  <a:rPr lang="el-GR" b="1" dirty="0">
                    <a:solidFill>
                      <a:srgbClr val="FF0000"/>
                    </a:solidFill>
                  </a:rPr>
                  <a:t> Δ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/2</a:t>
                </a:r>
              </a:p>
            </p:txBody>
          </p:sp>
        </mc:Choice>
        <mc:Fallback xmlns="">
          <p:sp>
            <p:nvSpPr>
              <p:cNvPr id="34" name="Callout: Line 33">
                <a:extLst>
                  <a:ext uri="{FF2B5EF4-FFF2-40B4-BE49-F238E27FC236}">
                    <a16:creationId xmlns:a16="http://schemas.microsoft.com/office/drawing/2014/main" id="{ACAB0287-2F20-4D80-81E3-5E626FC8B0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236" y="5481007"/>
                <a:ext cx="2215046" cy="702113"/>
              </a:xfrm>
              <a:prstGeom prst="borderCallout1">
                <a:avLst>
                  <a:gd name="adj1" fmla="val 24540"/>
                  <a:gd name="adj2" fmla="val -5685"/>
                  <a:gd name="adj3" fmla="val -342926"/>
                  <a:gd name="adj4" fmla="val -23639"/>
                </a:avLst>
              </a:prstGeom>
              <a:blipFill>
                <a:blip r:embed="rId6"/>
                <a:stretch>
                  <a:fillRect b="-2136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B17695E-E3B9-47B3-A96A-C229D47039AD}"/>
              </a:ext>
            </a:extLst>
          </p:cNvPr>
          <p:cNvCxnSpPr>
            <a:cxnSpLocks/>
            <a:endCxn id="34" idx="0"/>
          </p:cNvCxnSpPr>
          <p:nvPr/>
        </p:nvCxnSpPr>
        <p:spPr>
          <a:xfrm flipH="1">
            <a:off x="9479282" y="2633869"/>
            <a:ext cx="553462" cy="3198195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llout: Line 71">
                <a:extLst>
                  <a:ext uri="{FF2B5EF4-FFF2-40B4-BE49-F238E27FC236}">
                    <a16:creationId xmlns:a16="http://schemas.microsoft.com/office/drawing/2014/main" id="{92631616-E7B8-4657-9473-AC13FAAAD2BC}"/>
                  </a:ext>
                </a:extLst>
              </p:cNvPr>
              <p:cNvSpPr/>
              <p:nvPr/>
            </p:nvSpPr>
            <p:spPr>
              <a:xfrm>
                <a:off x="3249046" y="4055469"/>
                <a:ext cx="3332399" cy="677255"/>
              </a:xfrm>
              <a:prstGeom prst="borderCallout1">
                <a:avLst>
                  <a:gd name="adj1" fmla="val 24540"/>
                  <a:gd name="adj2" fmla="val -5685"/>
                  <a:gd name="adj3" fmla="val -225656"/>
                  <a:gd name="adj4" fmla="val -12635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28575"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l-GR" b="1" dirty="0">
                    <a:solidFill>
                      <a:srgbClr val="002060"/>
                    </a:solidFill>
                  </a:rPr>
                  <a:t>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  <m:r>
                      <a:rPr lang="en-US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=(E1*</a:t>
                </a:r>
                <a:r>
                  <a:rPr lang="en-US" b="1" dirty="0">
                    <a:solidFill>
                      <a:srgbClr val="00206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+E2*</a:t>
                </a:r>
                <a:r>
                  <a:rPr lang="en-US" b="1" dirty="0">
                    <a:solidFill>
                      <a:srgbClr val="00206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)*X1 </a:t>
                </a:r>
              </a:p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new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  <m:r>
                      <a:rPr lang="en-US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=0.15−</a:t>
                </a:r>
                <a:r>
                  <a:rPr lang="el-GR" b="1" dirty="0">
                    <a:solidFill>
                      <a:srgbClr val="002060"/>
                    </a:solidFill>
                  </a:rPr>
                  <a:t>Δ</a:t>
                </a:r>
                <a:r>
                  <a:rPr lang="en-US" b="1" dirty="0">
                    <a:solidFill>
                      <a:srgbClr val="00206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/2</a:t>
                </a:r>
              </a:p>
            </p:txBody>
          </p:sp>
        </mc:Choice>
        <mc:Fallback xmlns="">
          <p:sp>
            <p:nvSpPr>
              <p:cNvPr id="72" name="Callout: Line 71">
                <a:extLst>
                  <a:ext uri="{FF2B5EF4-FFF2-40B4-BE49-F238E27FC236}">
                    <a16:creationId xmlns:a16="http://schemas.microsoft.com/office/drawing/2014/main" id="{92631616-E7B8-4657-9473-AC13FAAAD2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046" y="4055469"/>
                <a:ext cx="3332399" cy="677255"/>
              </a:xfrm>
              <a:prstGeom prst="borderCallout1">
                <a:avLst>
                  <a:gd name="adj1" fmla="val 24540"/>
                  <a:gd name="adj2" fmla="val -5685"/>
                  <a:gd name="adj3" fmla="val -225656"/>
                  <a:gd name="adj4" fmla="val -12635"/>
                </a:avLst>
              </a:prstGeom>
              <a:blipFill>
                <a:blip r:embed="rId7"/>
                <a:stretch>
                  <a:fillRect r="-1608" b="-4087"/>
                </a:stretch>
              </a:blipFill>
              <a:ln w="28575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allout: Line 72">
                <a:extLst>
                  <a:ext uri="{FF2B5EF4-FFF2-40B4-BE49-F238E27FC236}">
                    <a16:creationId xmlns:a16="http://schemas.microsoft.com/office/drawing/2014/main" id="{3B18398A-26F2-4DAC-B754-4C8FB09A0033}"/>
                  </a:ext>
                </a:extLst>
              </p:cNvPr>
              <p:cNvSpPr/>
              <p:nvPr/>
            </p:nvSpPr>
            <p:spPr>
              <a:xfrm>
                <a:off x="3249045" y="4841989"/>
                <a:ext cx="3332399" cy="639017"/>
              </a:xfrm>
              <a:prstGeom prst="borderCallout1">
                <a:avLst>
                  <a:gd name="adj1" fmla="val 24540"/>
                  <a:gd name="adj2" fmla="val -5685"/>
                  <a:gd name="adj3" fmla="val -329523"/>
                  <a:gd name="adj4" fmla="val -13293"/>
                </a:avLst>
              </a:prstGeom>
              <a:ln w="28575"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l-GR" b="1" dirty="0">
                    <a:solidFill>
                      <a:srgbClr val="002060"/>
                    </a:solidFill>
                  </a:rPr>
                  <a:t>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  <m:r>
                      <a:rPr lang="en-US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=(E1*</a:t>
                </a:r>
                <a:r>
                  <a:rPr lang="en-US" b="1" dirty="0">
                    <a:solidFill>
                      <a:srgbClr val="00206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+E2*</a:t>
                </a:r>
                <a:r>
                  <a:rPr lang="en-US" b="1" dirty="0">
                    <a:solidFill>
                      <a:srgbClr val="00206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)*X2 </a:t>
                </a:r>
              </a:p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new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  <m:r>
                      <a:rPr lang="en-US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=0.2−</a:t>
                </a:r>
                <a:r>
                  <a:rPr lang="el-GR" b="1" dirty="0">
                    <a:solidFill>
                      <a:srgbClr val="002060"/>
                    </a:solidFill>
                  </a:rPr>
                  <a:t>Δ</a:t>
                </a:r>
                <a:r>
                  <a:rPr lang="en-US" b="1" dirty="0">
                    <a:solidFill>
                      <a:srgbClr val="00206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/2</a:t>
                </a:r>
              </a:p>
            </p:txBody>
          </p:sp>
        </mc:Choice>
        <mc:Fallback xmlns="">
          <p:sp>
            <p:nvSpPr>
              <p:cNvPr id="73" name="Callout: Line 72">
                <a:extLst>
                  <a:ext uri="{FF2B5EF4-FFF2-40B4-BE49-F238E27FC236}">
                    <a16:creationId xmlns:a16="http://schemas.microsoft.com/office/drawing/2014/main" id="{3B18398A-26F2-4DAC-B754-4C8FB09A00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045" y="4841989"/>
                <a:ext cx="3332399" cy="639017"/>
              </a:xfrm>
              <a:prstGeom prst="borderCallout1">
                <a:avLst>
                  <a:gd name="adj1" fmla="val 24540"/>
                  <a:gd name="adj2" fmla="val -5685"/>
                  <a:gd name="adj3" fmla="val -329523"/>
                  <a:gd name="adj4" fmla="val -13293"/>
                </a:avLst>
              </a:prstGeom>
              <a:blipFill>
                <a:blip r:embed="rId8"/>
                <a:stretch>
                  <a:fillRect r="-1600" b="-3728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17B3D4B-6080-47D7-9231-4C8471EE8937}"/>
                  </a:ext>
                </a:extLst>
              </p:cNvPr>
              <p:cNvSpPr txBox="1"/>
              <p:nvPr/>
            </p:nvSpPr>
            <p:spPr>
              <a:xfrm>
                <a:off x="286029" y="4055469"/>
                <a:ext cx="2215046" cy="180011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b="1"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Input Layers:</a:t>
                </a:r>
              </a:p>
              <a:p>
                <a:pPr algn="l"/>
                <a:r>
                  <a:rPr lang="en-US" dirty="0">
                    <a:solidFill>
                      <a:schemeClr val="tx1"/>
                    </a:solidFill>
                  </a:rPr>
                  <a:t>X1=0.05,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=0.35</a:t>
                </a:r>
              </a:p>
              <a:p>
                <a:pPr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=0.15,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=0.5</a:t>
                </a:r>
              </a:p>
              <a:p>
                <a:pPr algn="l"/>
                <a:endParaRPr lang="en-US" dirty="0">
                  <a:solidFill>
                    <a:schemeClr val="tx1"/>
                  </a:solidFill>
                </a:endParaRPr>
              </a:p>
              <a:p>
                <a:pPr algn="l"/>
                <a:r>
                  <a:rPr lang="en-US" dirty="0">
                    <a:solidFill>
                      <a:schemeClr val="tx1"/>
                    </a:solidFill>
                  </a:rPr>
                  <a:t>X2=0.1,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=0.65</a:t>
                </a:r>
              </a:p>
              <a:p>
                <a:pPr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=0.2,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=0.5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17B3D4B-6080-47D7-9231-4C8471EE8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29" y="4055469"/>
                <a:ext cx="2215046" cy="1800111"/>
              </a:xfrm>
              <a:prstGeom prst="rect">
                <a:avLst/>
              </a:prstGeom>
              <a:blipFill>
                <a:blip r:embed="rId9"/>
                <a:stretch>
                  <a:fillRect l="-2473" t="-3367" b="-5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allout: Line 74">
                <a:extLst>
                  <a:ext uri="{FF2B5EF4-FFF2-40B4-BE49-F238E27FC236}">
                    <a16:creationId xmlns:a16="http://schemas.microsoft.com/office/drawing/2014/main" id="{42600054-9645-4E5B-90C2-05E7C2BC333F}"/>
                  </a:ext>
                </a:extLst>
              </p:cNvPr>
              <p:cNvSpPr/>
              <p:nvPr/>
            </p:nvSpPr>
            <p:spPr>
              <a:xfrm>
                <a:off x="3249045" y="5582618"/>
                <a:ext cx="2691676" cy="641365"/>
              </a:xfrm>
              <a:prstGeom prst="borderCallout1">
                <a:avLst>
                  <a:gd name="adj1" fmla="val 24540"/>
                  <a:gd name="adj2" fmla="val -5685"/>
                  <a:gd name="adj3" fmla="val -399553"/>
                  <a:gd name="adj4" fmla="val -17427"/>
                </a:avLst>
              </a:prstGeom>
              <a:solidFill>
                <a:srgbClr val="00B0F0"/>
              </a:solidFill>
              <a:ln w="28575">
                <a:solidFill>
                  <a:srgbClr val="0070C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l-GR" b="1" dirty="0">
                    <a:solidFill>
                      <a:srgbClr val="002060"/>
                    </a:solidFill>
                  </a:rPr>
                  <a:t>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= E1*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+E2*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endParaRPr lang="en-US" b="1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New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=0.35 −</a:t>
                </a:r>
                <a:r>
                  <a:rPr lang="el-GR" b="1" dirty="0">
                    <a:solidFill>
                      <a:srgbClr val="002060"/>
                    </a:solidFill>
                  </a:rPr>
                  <a:t> 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/2</a:t>
                </a:r>
              </a:p>
            </p:txBody>
          </p:sp>
        </mc:Choice>
        <mc:Fallback xmlns="">
          <p:sp>
            <p:nvSpPr>
              <p:cNvPr id="75" name="Callout: Line 74">
                <a:extLst>
                  <a:ext uri="{FF2B5EF4-FFF2-40B4-BE49-F238E27FC236}">
                    <a16:creationId xmlns:a16="http://schemas.microsoft.com/office/drawing/2014/main" id="{42600054-9645-4E5B-90C2-05E7C2BC33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045" y="5582618"/>
                <a:ext cx="2691676" cy="641365"/>
              </a:xfrm>
              <a:prstGeom prst="borderCallout1">
                <a:avLst>
                  <a:gd name="adj1" fmla="val 24540"/>
                  <a:gd name="adj2" fmla="val -5685"/>
                  <a:gd name="adj3" fmla="val -399553"/>
                  <a:gd name="adj4" fmla="val -17427"/>
                </a:avLst>
              </a:prstGeom>
              <a:blipFill>
                <a:blip r:embed="rId10"/>
                <a:stretch>
                  <a:fillRect b="-3396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Oval 80">
            <a:extLst>
              <a:ext uri="{FF2B5EF4-FFF2-40B4-BE49-F238E27FC236}">
                <a16:creationId xmlns:a16="http://schemas.microsoft.com/office/drawing/2014/main" id="{D20E6047-1335-4BC9-8B7A-77C600E28B9A}"/>
              </a:ext>
            </a:extLst>
          </p:cNvPr>
          <p:cNvSpPr/>
          <p:nvPr/>
        </p:nvSpPr>
        <p:spPr>
          <a:xfrm>
            <a:off x="1485339" y="2239919"/>
            <a:ext cx="720107" cy="86260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6329B6A-7477-4DB5-BF7A-69404274E06B}"/>
              </a:ext>
            </a:extLst>
          </p:cNvPr>
          <p:cNvSpPr/>
          <p:nvPr/>
        </p:nvSpPr>
        <p:spPr>
          <a:xfrm>
            <a:off x="5220614" y="2221865"/>
            <a:ext cx="720107" cy="86260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Arrow: Left 101">
            <a:extLst>
              <a:ext uri="{FF2B5EF4-FFF2-40B4-BE49-F238E27FC236}">
                <a16:creationId xmlns:a16="http://schemas.microsoft.com/office/drawing/2014/main" id="{1CEDE706-3A60-481C-9F65-A8AA6A5EE531}"/>
              </a:ext>
            </a:extLst>
          </p:cNvPr>
          <p:cNvSpPr/>
          <p:nvPr/>
        </p:nvSpPr>
        <p:spPr>
          <a:xfrm>
            <a:off x="9582873" y="5892582"/>
            <a:ext cx="925557" cy="238807"/>
          </a:xfrm>
          <a:prstGeom prst="leftArrow">
            <a:avLst>
              <a:gd name="adj1" fmla="val 72194"/>
              <a:gd name="adj2" fmla="val 50000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3" name="Arrow: Left 102">
            <a:extLst>
              <a:ext uri="{FF2B5EF4-FFF2-40B4-BE49-F238E27FC236}">
                <a16:creationId xmlns:a16="http://schemas.microsoft.com/office/drawing/2014/main" id="{3D867803-FE86-4699-B4BE-B26CCE6CDBB8}"/>
              </a:ext>
            </a:extLst>
          </p:cNvPr>
          <p:cNvSpPr/>
          <p:nvPr/>
        </p:nvSpPr>
        <p:spPr>
          <a:xfrm>
            <a:off x="2248030" y="5873086"/>
            <a:ext cx="875960" cy="267829"/>
          </a:xfrm>
          <a:prstGeom prst="leftArrow">
            <a:avLst>
              <a:gd name="adj1" fmla="val 72194"/>
              <a:gd name="adj2" fmla="val 50000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4" name="Arrow: Curved Right 103">
            <a:extLst>
              <a:ext uri="{FF2B5EF4-FFF2-40B4-BE49-F238E27FC236}">
                <a16:creationId xmlns:a16="http://schemas.microsoft.com/office/drawing/2014/main" id="{29F48035-D45D-4598-8AE3-37DCDA297FA3}"/>
              </a:ext>
            </a:extLst>
          </p:cNvPr>
          <p:cNvSpPr/>
          <p:nvPr/>
        </p:nvSpPr>
        <p:spPr>
          <a:xfrm>
            <a:off x="1320800" y="5912697"/>
            <a:ext cx="884646" cy="822713"/>
          </a:xfrm>
          <a:prstGeom prst="curvedRightArrow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5" name="Arrow: Bent 104">
            <a:extLst>
              <a:ext uri="{FF2B5EF4-FFF2-40B4-BE49-F238E27FC236}">
                <a16:creationId xmlns:a16="http://schemas.microsoft.com/office/drawing/2014/main" id="{D05D17BA-6746-4273-AFE7-D907579B2020}"/>
              </a:ext>
            </a:extLst>
          </p:cNvPr>
          <p:cNvSpPr/>
          <p:nvPr/>
        </p:nvSpPr>
        <p:spPr>
          <a:xfrm rot="10800000">
            <a:off x="10480298" y="5227688"/>
            <a:ext cx="644902" cy="955432"/>
          </a:xfrm>
          <a:prstGeom prst="bentArrow">
            <a:avLst>
              <a:gd name="adj1" fmla="val 28302"/>
              <a:gd name="adj2" fmla="val 25000"/>
              <a:gd name="adj3" fmla="val 25000"/>
              <a:gd name="adj4" fmla="val 43750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6" name="TextBox 3">
            <a:extLst>
              <a:ext uri="{FF2B5EF4-FFF2-40B4-BE49-F238E27FC236}">
                <a16:creationId xmlns:a16="http://schemas.microsoft.com/office/drawing/2014/main" id="{5EED6B2C-BF49-44C4-B434-491E120461BD}"/>
              </a:ext>
            </a:extLst>
          </p:cNvPr>
          <p:cNvSpPr txBox="1"/>
          <p:nvPr/>
        </p:nvSpPr>
        <p:spPr>
          <a:xfrm>
            <a:off x="7160645" y="6269634"/>
            <a:ext cx="2552908" cy="40011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 Nova Cond" panose="020B0604020202020204" pitchFamily="34" charset="0"/>
              </a:rPr>
              <a:t>(if :Yi&gt;0, or else 0.05) </a:t>
            </a:r>
            <a:endParaRPr lang="en-US" sz="2400" dirty="0">
              <a:latin typeface="Arial Nova Cond" panose="020B0604020202020204" pitchFamily="34" charset="0"/>
            </a:endParaRPr>
          </a:p>
        </p:txBody>
      </p:sp>
      <p:sp>
        <p:nvSpPr>
          <p:cNvPr id="107" name="TextBox 3">
            <a:extLst>
              <a:ext uri="{FF2B5EF4-FFF2-40B4-BE49-F238E27FC236}">
                <a16:creationId xmlns:a16="http://schemas.microsoft.com/office/drawing/2014/main" id="{926B833F-64D5-4B23-85CD-3F2EAD8E03E8}"/>
              </a:ext>
            </a:extLst>
          </p:cNvPr>
          <p:cNvSpPr txBox="1"/>
          <p:nvPr/>
        </p:nvSpPr>
        <p:spPr>
          <a:xfrm>
            <a:off x="3387812" y="6237536"/>
            <a:ext cx="2552908" cy="40011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 Nova Cond" panose="020B0604020202020204" pitchFamily="34" charset="0"/>
              </a:rPr>
              <a:t>(if :hi&gt;0, or else 0.05)</a:t>
            </a:r>
          </a:p>
        </p:txBody>
      </p:sp>
      <p:sp>
        <p:nvSpPr>
          <p:cNvPr id="108" name="TextBox 3">
            <a:extLst>
              <a:ext uri="{FF2B5EF4-FFF2-40B4-BE49-F238E27FC236}">
                <a16:creationId xmlns:a16="http://schemas.microsoft.com/office/drawing/2014/main" id="{722778C3-ED56-4DAA-9D24-913A7398474A}"/>
              </a:ext>
            </a:extLst>
          </p:cNvPr>
          <p:cNvSpPr txBox="1"/>
          <p:nvPr/>
        </p:nvSpPr>
        <p:spPr>
          <a:xfrm>
            <a:off x="2197858" y="6198032"/>
            <a:ext cx="1051187" cy="707886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 Nova Cond" panose="020B0604020202020204" pitchFamily="34" charset="0"/>
              </a:rPr>
              <a:t>To next </a:t>
            </a:r>
          </a:p>
          <a:p>
            <a:r>
              <a:rPr lang="en-US" sz="2000" dirty="0">
                <a:latin typeface="Arial Nova Cond" panose="020B0604020202020204" pitchFamily="34" charset="0"/>
              </a:rPr>
              <a:t>Iteration</a:t>
            </a:r>
          </a:p>
        </p:txBody>
      </p:sp>
      <p:sp>
        <p:nvSpPr>
          <p:cNvPr id="109" name="TextBox 3">
            <a:extLst>
              <a:ext uri="{FF2B5EF4-FFF2-40B4-BE49-F238E27FC236}">
                <a16:creationId xmlns:a16="http://schemas.microsoft.com/office/drawing/2014/main" id="{A7FAD407-046C-4A53-82A1-E972D3263292}"/>
              </a:ext>
            </a:extLst>
          </p:cNvPr>
          <p:cNvSpPr txBox="1"/>
          <p:nvPr/>
        </p:nvSpPr>
        <p:spPr>
          <a:xfrm>
            <a:off x="3387812" y="6237667"/>
            <a:ext cx="2552908" cy="40011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 Nova Cond" panose="020B0604020202020204" pitchFamily="34" charset="0"/>
              </a:rPr>
              <a:t>(if :hi&gt;0, or else 0.05)</a:t>
            </a:r>
          </a:p>
        </p:txBody>
      </p:sp>
      <p:sp>
        <p:nvSpPr>
          <p:cNvPr id="110" name="TextBox 3">
            <a:extLst>
              <a:ext uri="{FF2B5EF4-FFF2-40B4-BE49-F238E27FC236}">
                <a16:creationId xmlns:a16="http://schemas.microsoft.com/office/drawing/2014/main" id="{AF50FAC5-421A-4AA0-B8CB-8E3DBDB0B2A9}"/>
              </a:ext>
            </a:extLst>
          </p:cNvPr>
          <p:cNvSpPr txBox="1"/>
          <p:nvPr/>
        </p:nvSpPr>
        <p:spPr>
          <a:xfrm>
            <a:off x="2197858" y="6198163"/>
            <a:ext cx="1051187" cy="707886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 Nova Cond" panose="020B0604020202020204" pitchFamily="34" charset="0"/>
              </a:rPr>
              <a:t>To next </a:t>
            </a:r>
          </a:p>
          <a:p>
            <a:r>
              <a:rPr lang="en-US" sz="2000" dirty="0">
                <a:latin typeface="Arial Nova Cond" panose="020B0604020202020204" pitchFamily="34" charset="0"/>
              </a:rPr>
              <a:t>Iteration</a:t>
            </a:r>
          </a:p>
        </p:txBody>
      </p:sp>
    </p:spTree>
    <p:extLst>
      <p:ext uri="{BB962C8B-B14F-4D97-AF65-F5344CB8AC3E}">
        <p14:creationId xmlns:p14="http://schemas.microsoft.com/office/powerpoint/2010/main" val="3978362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8A8FD9C-2840-4812-9595-80E4B5573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2" y="1648142"/>
            <a:ext cx="12117294" cy="2332844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B14D2D0E-F7F3-4C87-BF48-75B91A0A7353}"/>
              </a:ext>
            </a:extLst>
          </p:cNvPr>
          <p:cNvSpPr/>
          <p:nvPr/>
        </p:nvSpPr>
        <p:spPr>
          <a:xfrm>
            <a:off x="1443974" y="3173863"/>
            <a:ext cx="720107" cy="86260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CF8CCB9-DF54-4C22-B262-FE305C921D2B}"/>
              </a:ext>
            </a:extLst>
          </p:cNvPr>
          <p:cNvSpPr/>
          <p:nvPr/>
        </p:nvSpPr>
        <p:spPr>
          <a:xfrm>
            <a:off x="5179249" y="3155809"/>
            <a:ext cx="720107" cy="86260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Google Shape;581;p31">
                <a:extLst>
                  <a:ext uri="{FF2B5EF4-FFF2-40B4-BE49-F238E27FC236}">
                    <a16:creationId xmlns:a16="http://schemas.microsoft.com/office/drawing/2014/main" id="{84981C0B-B643-45D0-AA36-325D691C70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1087" y="588366"/>
                <a:ext cx="11199267" cy="7138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vert="horz" wrap="square" lIns="121900" tIns="121900" rIns="121900" bIns="121900" rtlCol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 lang="en-US"/>
                </a:defPPr>
                <a:lvl1pPr marR="0" lvl="0" indent="0" defTabSz="914400">
                  <a:lnSpc>
                    <a:spcPct val="115000"/>
                  </a:lnSpc>
                  <a:spcBef>
                    <a:spcPts val="0"/>
                  </a:spcBef>
                  <a:spcAft>
                    <a:spcPts val="2133"/>
                  </a:spcAft>
                  <a:buClr>
                    <a:schemeClr val="dk1"/>
                  </a:buClr>
                  <a:buSzPts val="2400"/>
                  <a:buFont typeface="Arial"/>
                  <a:buNone/>
                  <a:defRPr sz="2400" b="0" i="0" u="none" strike="noStrike" cap="none">
                    <a:solidFill>
                      <a:srgbClr val="7030A0"/>
                    </a:solidFill>
                    <a:effectLst/>
                    <a:latin typeface="Open Sans" panose="020B0606030504020204" pitchFamily="34" charset="0"/>
                    <a:ea typeface="Arial"/>
                    <a:cs typeface="Arial"/>
                  </a:defRPr>
                </a:lvl1pPr>
                <a:lvl2pPr marL="914400" marR="0" lvl="1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○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2pPr>
                <a:lvl3pPr marL="1371600" marR="0" lvl="2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■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3pPr>
                <a:lvl4pPr marL="1828800" marR="0" lvl="3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●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4pPr>
                <a:lvl5pPr marL="2286000" marR="0" lvl="4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○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5pPr>
                <a:lvl6pPr marL="2743200" marR="0" lvl="5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■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6pPr>
                <a:lvl7pPr marL="3200400" marR="0" lvl="6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●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7pPr>
                <a:lvl8pPr marL="3657600" marR="0" lvl="7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○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8pPr>
                <a:lvl9pPr marL="4114800" marR="0" lvl="8" indent="-349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Char char="■"/>
                  <a:defRPr sz="1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>
                <a:r>
                  <a:rPr lang="en-US" dirty="0"/>
                  <a:t>DNN </a:t>
                </a:r>
                <a:r>
                  <a:rPr lang="en-US" sz="2400" dirty="0"/>
                  <a:t>ﬁrst-order gradient to </a:t>
                </a:r>
                <a:r>
                  <a:rPr lang="el-GR" b="1" dirty="0">
                    <a:solidFill>
                      <a:srgbClr val="FF0000"/>
                    </a:solidFill>
                  </a:rPr>
                  <a:t>Δ</a:t>
                </a:r>
                <a:r>
                  <a:rPr lang="en-US" dirty="0"/>
                  <a:t>  of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 ,  </m:t>
                    </m:r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dirty="0"/>
                  <a:t> and update all 6 </a:t>
                </a:r>
              </a:p>
            </p:txBody>
          </p:sp>
        </mc:Choice>
        <mc:Fallback xmlns="">
          <p:sp>
            <p:nvSpPr>
              <p:cNvPr id="35" name="Google Shape;581;p31">
                <a:extLst>
                  <a:ext uri="{FF2B5EF4-FFF2-40B4-BE49-F238E27FC236}">
                    <a16:creationId xmlns:a16="http://schemas.microsoft.com/office/drawing/2014/main" id="{84981C0B-B643-45D0-AA36-325D691C7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87" y="588366"/>
                <a:ext cx="11199267" cy="713874"/>
              </a:xfrm>
              <a:prstGeom prst="rect">
                <a:avLst/>
              </a:prstGeom>
              <a:blipFill>
                <a:blip r:embed="rId3"/>
                <a:stretch>
                  <a:fillRect l="-599" b="-51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37DD7576-2FE4-4E22-BBA5-07F5BA6302C4}"/>
              </a:ext>
            </a:extLst>
          </p:cNvPr>
          <p:cNvSpPr txBox="1"/>
          <p:nvPr/>
        </p:nvSpPr>
        <p:spPr>
          <a:xfrm>
            <a:off x="10032744" y="4134232"/>
            <a:ext cx="2128140" cy="99665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Output Layers: h1=0.378, E1=1.035</a:t>
            </a:r>
          </a:p>
          <a:p>
            <a:r>
              <a:rPr lang="en-US" dirty="0">
                <a:solidFill>
                  <a:schemeClr val="tx1"/>
                </a:solidFill>
              </a:rPr>
              <a:t>h2=0.393, E2=-0.823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llout: Line 49">
                <a:extLst>
                  <a:ext uri="{FF2B5EF4-FFF2-40B4-BE49-F238E27FC236}">
                    <a16:creationId xmlns:a16="http://schemas.microsoft.com/office/drawing/2014/main" id="{CFECA0BA-EAFD-49BE-B304-C2DA20E628EF}"/>
                  </a:ext>
                </a:extLst>
              </p:cNvPr>
              <p:cNvSpPr/>
              <p:nvPr/>
            </p:nvSpPr>
            <p:spPr>
              <a:xfrm>
                <a:off x="7276755" y="3980986"/>
                <a:ext cx="2202526" cy="610415"/>
              </a:xfrm>
              <a:prstGeom prst="borderCallout1">
                <a:avLst>
                  <a:gd name="adj1" fmla="val 24540"/>
                  <a:gd name="adj2" fmla="val -5685"/>
                  <a:gd name="adj3" fmla="val -103188"/>
                  <a:gd name="adj4" fmla="val -24353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28575"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l-GR" b="1" dirty="0">
                    <a:solidFill>
                      <a:srgbClr val="FF0000"/>
                    </a:solidFill>
                  </a:rPr>
                  <a:t>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=E2*</a:t>
                </a:r>
                <a:r>
                  <a:rPr lang="en-US" sz="1800" b="1" dirty="0">
                    <a:solidFill>
                      <a:srgbClr val="FF000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𝒉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/>
                    </m:sSub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=0.1−</a:t>
                </a:r>
                <a:r>
                  <a:rPr lang="el-GR" b="1" dirty="0">
                    <a:solidFill>
                      <a:srgbClr val="FF0000"/>
                    </a:solidFill>
                  </a:rPr>
                  <a:t>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/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50" name="Callout: Line 49">
                <a:extLst>
                  <a:ext uri="{FF2B5EF4-FFF2-40B4-BE49-F238E27FC236}">
                    <a16:creationId xmlns:a16="http://schemas.microsoft.com/office/drawing/2014/main" id="{CFECA0BA-EAFD-49BE-B304-C2DA20E62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755" y="3980986"/>
                <a:ext cx="2202526" cy="610415"/>
              </a:xfrm>
              <a:prstGeom prst="borderCallout1">
                <a:avLst>
                  <a:gd name="adj1" fmla="val 24540"/>
                  <a:gd name="adj2" fmla="val -5685"/>
                  <a:gd name="adj3" fmla="val -103188"/>
                  <a:gd name="adj4" fmla="val -24353"/>
                </a:avLst>
              </a:prstGeom>
              <a:blipFill>
                <a:blip r:embed="rId4"/>
                <a:stretch>
                  <a:fillRect b="-9569"/>
                </a:stretch>
              </a:blipFill>
              <a:ln w="28575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llout: Line 50">
                <a:extLst>
                  <a:ext uri="{FF2B5EF4-FFF2-40B4-BE49-F238E27FC236}">
                    <a16:creationId xmlns:a16="http://schemas.microsoft.com/office/drawing/2014/main" id="{81DEE706-98C5-4BF2-A724-906E9AD2D42E}"/>
                  </a:ext>
                </a:extLst>
              </p:cNvPr>
              <p:cNvSpPr/>
              <p:nvPr/>
            </p:nvSpPr>
            <p:spPr>
              <a:xfrm>
                <a:off x="7276755" y="4732725"/>
                <a:ext cx="2202526" cy="610415"/>
              </a:xfrm>
              <a:prstGeom prst="borderCallout1">
                <a:avLst>
                  <a:gd name="adj1" fmla="val 49489"/>
                  <a:gd name="adj2" fmla="val -2711"/>
                  <a:gd name="adj3" fmla="val -179691"/>
                  <a:gd name="adj4" fmla="val -23999"/>
                </a:avLst>
              </a:prstGeom>
              <a:ln w="28575"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l-GR" b="1" dirty="0">
                    <a:solidFill>
                      <a:srgbClr val="FF0000"/>
                    </a:solidFill>
                  </a:rPr>
                  <a:t>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=E2*</a:t>
                </a:r>
                <a:r>
                  <a:rPr lang="en-US" b="1" dirty="0">
                    <a:solidFill>
                      <a:srgbClr val="FF000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𝒉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/>
                    </m:sSubSup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=0.1 − </a:t>
                </a:r>
                <a:r>
                  <a:rPr lang="el-GR" b="1" dirty="0">
                    <a:solidFill>
                      <a:srgbClr val="FF0000"/>
                    </a:solidFill>
                  </a:rPr>
                  <a:t>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/2</a:t>
                </a:r>
              </a:p>
            </p:txBody>
          </p:sp>
        </mc:Choice>
        <mc:Fallback xmlns="">
          <p:sp>
            <p:nvSpPr>
              <p:cNvPr id="51" name="Callout: Line 50">
                <a:extLst>
                  <a:ext uri="{FF2B5EF4-FFF2-40B4-BE49-F238E27FC236}">
                    <a16:creationId xmlns:a16="http://schemas.microsoft.com/office/drawing/2014/main" id="{81DEE706-98C5-4BF2-A724-906E9AD2D4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755" y="4732725"/>
                <a:ext cx="2202526" cy="610415"/>
              </a:xfrm>
              <a:prstGeom prst="borderCallout1">
                <a:avLst>
                  <a:gd name="adj1" fmla="val 49489"/>
                  <a:gd name="adj2" fmla="val -2711"/>
                  <a:gd name="adj3" fmla="val -179691"/>
                  <a:gd name="adj4" fmla="val -23999"/>
                </a:avLst>
              </a:prstGeom>
              <a:blipFill>
                <a:blip r:embed="rId5"/>
                <a:stretch>
                  <a:fillRect b="-7018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llout: Line 51">
                <a:extLst>
                  <a:ext uri="{FF2B5EF4-FFF2-40B4-BE49-F238E27FC236}">
                    <a16:creationId xmlns:a16="http://schemas.microsoft.com/office/drawing/2014/main" id="{6BE7FA4B-0BA2-4894-A64C-57FEE097C4B3}"/>
                  </a:ext>
                </a:extLst>
              </p:cNvPr>
              <p:cNvSpPr/>
              <p:nvPr/>
            </p:nvSpPr>
            <p:spPr>
              <a:xfrm>
                <a:off x="7264236" y="5481007"/>
                <a:ext cx="2215046" cy="702113"/>
              </a:xfrm>
              <a:prstGeom prst="borderCallout1">
                <a:avLst>
                  <a:gd name="adj1" fmla="val 24540"/>
                  <a:gd name="adj2" fmla="val -5685"/>
                  <a:gd name="adj3" fmla="val -221628"/>
                  <a:gd name="adj4" fmla="val -24044"/>
                </a:avLst>
              </a:prstGeom>
              <a:solidFill>
                <a:srgbClr val="00B0F0"/>
              </a:solidFill>
              <a:ln w="28575">
                <a:solidFill>
                  <a:srgbClr val="0070C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l-GR" b="1" dirty="0">
                    <a:solidFill>
                      <a:srgbClr val="FF0000"/>
                    </a:solidFill>
                  </a:rPr>
                  <a:t>Δ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=E2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=0.1 −</a:t>
                </a:r>
                <a:r>
                  <a:rPr lang="el-GR" b="1" dirty="0">
                    <a:solidFill>
                      <a:srgbClr val="FF0000"/>
                    </a:solidFill>
                  </a:rPr>
                  <a:t> 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/2</a:t>
                </a:r>
              </a:p>
            </p:txBody>
          </p:sp>
        </mc:Choice>
        <mc:Fallback xmlns="">
          <p:sp>
            <p:nvSpPr>
              <p:cNvPr id="52" name="Callout: Line 51">
                <a:extLst>
                  <a:ext uri="{FF2B5EF4-FFF2-40B4-BE49-F238E27FC236}">
                    <a16:creationId xmlns:a16="http://schemas.microsoft.com/office/drawing/2014/main" id="{6BE7FA4B-0BA2-4894-A64C-57FEE097C4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236" y="5481007"/>
                <a:ext cx="2215046" cy="702113"/>
              </a:xfrm>
              <a:prstGeom prst="borderCallout1">
                <a:avLst>
                  <a:gd name="adj1" fmla="val 24540"/>
                  <a:gd name="adj2" fmla="val -5685"/>
                  <a:gd name="adj3" fmla="val -221628"/>
                  <a:gd name="adj4" fmla="val -24044"/>
                </a:avLst>
              </a:prstGeom>
              <a:blipFill>
                <a:blip r:embed="rId6"/>
                <a:stretch>
                  <a:fillRect b="-2933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llout: Line 53">
                <a:extLst>
                  <a:ext uri="{FF2B5EF4-FFF2-40B4-BE49-F238E27FC236}">
                    <a16:creationId xmlns:a16="http://schemas.microsoft.com/office/drawing/2014/main" id="{3E8E53A7-282E-412B-A938-763BC31D28CA}"/>
                  </a:ext>
                </a:extLst>
              </p:cNvPr>
              <p:cNvSpPr/>
              <p:nvPr/>
            </p:nvSpPr>
            <p:spPr>
              <a:xfrm>
                <a:off x="3249046" y="4055469"/>
                <a:ext cx="3332399" cy="677255"/>
              </a:xfrm>
              <a:prstGeom prst="borderCallout1">
                <a:avLst>
                  <a:gd name="adj1" fmla="val 24540"/>
                  <a:gd name="adj2" fmla="val -5685"/>
                  <a:gd name="adj3" fmla="val -95935"/>
                  <a:gd name="adj4" fmla="val -12097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28575">
                <a:solidFill>
                  <a:schemeClr val="accent6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l-GR" b="1" dirty="0">
                    <a:solidFill>
                      <a:srgbClr val="002060"/>
                    </a:solidFill>
                  </a:rPr>
                  <a:t>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  <m:r>
                      <a:rPr lang="en-US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=(E1*</a:t>
                </a:r>
                <a:r>
                  <a:rPr lang="en-US" b="1" dirty="0">
                    <a:solidFill>
                      <a:srgbClr val="00206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+E2*</a:t>
                </a:r>
                <a:r>
                  <a:rPr lang="en-US" b="1" dirty="0">
                    <a:solidFill>
                      <a:srgbClr val="00206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)*X1 </a:t>
                </a:r>
              </a:p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new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  <m:r>
                      <a:rPr lang="en-US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=0.25−</a:t>
                </a:r>
                <a:r>
                  <a:rPr lang="el-GR" b="1" dirty="0">
                    <a:solidFill>
                      <a:srgbClr val="002060"/>
                    </a:solidFill>
                  </a:rPr>
                  <a:t>Δ</a:t>
                </a:r>
                <a:r>
                  <a:rPr lang="en-US" b="1" dirty="0">
                    <a:solidFill>
                      <a:srgbClr val="00206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/2</a:t>
                </a:r>
              </a:p>
            </p:txBody>
          </p:sp>
        </mc:Choice>
        <mc:Fallback xmlns="">
          <p:sp>
            <p:nvSpPr>
              <p:cNvPr id="54" name="Callout: Line 53">
                <a:extLst>
                  <a:ext uri="{FF2B5EF4-FFF2-40B4-BE49-F238E27FC236}">
                    <a16:creationId xmlns:a16="http://schemas.microsoft.com/office/drawing/2014/main" id="{3E8E53A7-282E-412B-A938-763BC31D28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046" y="4055469"/>
                <a:ext cx="3332399" cy="677255"/>
              </a:xfrm>
              <a:prstGeom prst="borderCallout1">
                <a:avLst>
                  <a:gd name="adj1" fmla="val 24540"/>
                  <a:gd name="adj2" fmla="val -5685"/>
                  <a:gd name="adj3" fmla="val -95935"/>
                  <a:gd name="adj4" fmla="val -12097"/>
                </a:avLst>
              </a:prstGeom>
              <a:blipFill>
                <a:blip r:embed="rId7"/>
                <a:stretch>
                  <a:fillRect r="-1616" b="-6726"/>
                </a:stretch>
              </a:blipFill>
              <a:ln w="28575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llout: Line 54">
                <a:extLst>
                  <a:ext uri="{FF2B5EF4-FFF2-40B4-BE49-F238E27FC236}">
                    <a16:creationId xmlns:a16="http://schemas.microsoft.com/office/drawing/2014/main" id="{7F872DD2-DAB7-4124-9775-37E5CEABEA8D}"/>
                  </a:ext>
                </a:extLst>
              </p:cNvPr>
              <p:cNvSpPr/>
              <p:nvPr/>
            </p:nvSpPr>
            <p:spPr>
              <a:xfrm>
                <a:off x="3249045" y="4841989"/>
                <a:ext cx="3332399" cy="639017"/>
              </a:xfrm>
              <a:prstGeom prst="borderCallout1">
                <a:avLst>
                  <a:gd name="adj1" fmla="val 24540"/>
                  <a:gd name="adj2" fmla="val -5685"/>
                  <a:gd name="adj3" fmla="val -180817"/>
                  <a:gd name="adj4" fmla="val -12486"/>
                </a:avLst>
              </a:prstGeom>
              <a:ln w="28575"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l-GR" b="1" dirty="0">
                    <a:solidFill>
                      <a:srgbClr val="002060"/>
                    </a:solidFill>
                  </a:rPr>
                  <a:t>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  <m:r>
                      <a:rPr lang="en-US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=(E1*</a:t>
                </a:r>
                <a:r>
                  <a:rPr lang="en-US" b="1" dirty="0">
                    <a:solidFill>
                      <a:srgbClr val="00206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+E2*</a:t>
                </a:r>
                <a:r>
                  <a:rPr lang="en-US" b="1" dirty="0">
                    <a:solidFill>
                      <a:srgbClr val="00206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)*X2 </a:t>
                </a:r>
              </a:p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new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  <m:r>
                      <a:rPr lang="en-US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=0.3−</a:t>
                </a:r>
                <a:r>
                  <a:rPr lang="el-GR" b="1" dirty="0">
                    <a:solidFill>
                      <a:srgbClr val="002060"/>
                    </a:solidFill>
                  </a:rPr>
                  <a:t>Δ</a:t>
                </a:r>
                <a:r>
                  <a:rPr lang="en-US" b="1" dirty="0">
                    <a:solidFill>
                      <a:srgbClr val="00206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/2</a:t>
                </a:r>
              </a:p>
            </p:txBody>
          </p:sp>
        </mc:Choice>
        <mc:Fallback xmlns="">
          <p:sp>
            <p:nvSpPr>
              <p:cNvPr id="55" name="Callout: Line 54">
                <a:extLst>
                  <a:ext uri="{FF2B5EF4-FFF2-40B4-BE49-F238E27FC236}">
                    <a16:creationId xmlns:a16="http://schemas.microsoft.com/office/drawing/2014/main" id="{7F872DD2-DAB7-4124-9775-37E5CEABEA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045" y="4841989"/>
                <a:ext cx="3332399" cy="639017"/>
              </a:xfrm>
              <a:prstGeom prst="borderCallout1">
                <a:avLst>
                  <a:gd name="adj1" fmla="val 24540"/>
                  <a:gd name="adj2" fmla="val -5685"/>
                  <a:gd name="adj3" fmla="val -180817"/>
                  <a:gd name="adj4" fmla="val -12486"/>
                </a:avLst>
              </a:prstGeom>
              <a:blipFill>
                <a:blip r:embed="rId8"/>
                <a:stretch>
                  <a:fillRect r="-1610" b="-5667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3CF83F0-7AF4-4206-9D75-A41D93651A90}"/>
                  </a:ext>
                </a:extLst>
              </p:cNvPr>
              <p:cNvSpPr txBox="1"/>
              <p:nvPr/>
            </p:nvSpPr>
            <p:spPr>
              <a:xfrm>
                <a:off x="286029" y="4055469"/>
                <a:ext cx="2215046" cy="180011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b="1"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Input Layers:</a:t>
                </a:r>
              </a:p>
              <a:p>
                <a:pPr algn="l"/>
                <a:r>
                  <a:rPr lang="en-US" dirty="0">
                    <a:solidFill>
                      <a:schemeClr val="tx1"/>
                    </a:solidFill>
                  </a:rPr>
                  <a:t>X1=0.05,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=0.35</a:t>
                </a:r>
              </a:p>
              <a:p>
                <a:pPr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=0.25,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=0.1</a:t>
                </a:r>
              </a:p>
              <a:p>
                <a:pPr algn="l"/>
                <a:endParaRPr lang="en-US" dirty="0">
                  <a:solidFill>
                    <a:schemeClr val="tx1"/>
                  </a:solidFill>
                </a:endParaRPr>
              </a:p>
              <a:p>
                <a:pPr algn="l"/>
                <a:r>
                  <a:rPr lang="en-US" dirty="0">
                    <a:solidFill>
                      <a:schemeClr val="tx1"/>
                    </a:solidFill>
                  </a:rPr>
                  <a:t>X2=0.1,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=0.1</a:t>
                </a:r>
              </a:p>
              <a:p>
                <a:pPr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𝟎</m:t>
                        </m:r>
                      </m:sup>
                    </m:sSubSup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=0.3,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dobe Gothic Std B" panose="020B0800000000000000" pitchFamily="34" charset="-128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=0.1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3CF83F0-7AF4-4206-9D75-A41D93651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29" y="4055469"/>
                <a:ext cx="2215046" cy="1800111"/>
              </a:xfrm>
              <a:prstGeom prst="rect">
                <a:avLst/>
              </a:prstGeom>
              <a:blipFill>
                <a:blip r:embed="rId9"/>
                <a:stretch>
                  <a:fillRect l="-2473" t="-3367" b="-5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llout: Line 56">
                <a:extLst>
                  <a:ext uri="{FF2B5EF4-FFF2-40B4-BE49-F238E27FC236}">
                    <a16:creationId xmlns:a16="http://schemas.microsoft.com/office/drawing/2014/main" id="{C0BA88D8-EC7A-4B3C-8188-9FA7600BA9E3}"/>
                  </a:ext>
                </a:extLst>
              </p:cNvPr>
              <p:cNvSpPr/>
              <p:nvPr/>
            </p:nvSpPr>
            <p:spPr>
              <a:xfrm>
                <a:off x="3249045" y="5582618"/>
                <a:ext cx="2691676" cy="641365"/>
              </a:xfrm>
              <a:prstGeom prst="borderCallout1">
                <a:avLst>
                  <a:gd name="adj1" fmla="val 24540"/>
                  <a:gd name="adj2" fmla="val -5685"/>
                  <a:gd name="adj3" fmla="val -255584"/>
                  <a:gd name="adj4" fmla="val -17426"/>
                </a:avLst>
              </a:prstGeom>
              <a:solidFill>
                <a:srgbClr val="00B0F0"/>
              </a:solidFill>
              <a:ln w="28575">
                <a:solidFill>
                  <a:srgbClr val="0070C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l-GR" b="1" dirty="0">
                    <a:solidFill>
                      <a:srgbClr val="002060"/>
                    </a:solidFill>
                  </a:rPr>
                  <a:t>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= E1*</a:t>
                </a:r>
                <a:r>
                  <a:rPr lang="en-US" b="1" dirty="0">
                    <a:solidFill>
                      <a:srgbClr val="00206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+E2*</a:t>
                </a:r>
                <a:r>
                  <a:rPr lang="en-US" b="1" dirty="0">
                    <a:solidFill>
                      <a:srgbClr val="002060"/>
                    </a:solidFill>
                    <a:ea typeface="Adobe Gothic Std B" panose="020B0800000000000000" pitchFamily="34" charset="-128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,</m:t>
                        </m:r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𝟐</m:t>
                        </m:r>
                      </m:sub>
                      <m:sup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Adobe Gothic Std B" panose="020B0800000000000000" pitchFamily="34" charset="-128"/>
                          </a:rPr>
                          <m:t>𝟏</m:t>
                        </m:r>
                      </m:sup>
                    </m:sSubSup>
                  </m:oMath>
                </a14:m>
                <a:endParaRPr lang="en-US" b="1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New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en-US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=0.35 −</a:t>
                </a:r>
                <a:r>
                  <a:rPr lang="el-GR" b="1" dirty="0">
                    <a:solidFill>
                      <a:srgbClr val="002060"/>
                    </a:solidFill>
                  </a:rPr>
                  <a:t> Δ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/2</a:t>
                </a:r>
              </a:p>
            </p:txBody>
          </p:sp>
        </mc:Choice>
        <mc:Fallback xmlns="">
          <p:sp>
            <p:nvSpPr>
              <p:cNvPr id="57" name="Callout: Line 56">
                <a:extLst>
                  <a:ext uri="{FF2B5EF4-FFF2-40B4-BE49-F238E27FC236}">
                    <a16:creationId xmlns:a16="http://schemas.microsoft.com/office/drawing/2014/main" id="{C0BA88D8-EC7A-4B3C-8188-9FA7600BA9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045" y="5582618"/>
                <a:ext cx="2691676" cy="641365"/>
              </a:xfrm>
              <a:prstGeom prst="borderCallout1">
                <a:avLst>
                  <a:gd name="adj1" fmla="val 24540"/>
                  <a:gd name="adj2" fmla="val -5685"/>
                  <a:gd name="adj3" fmla="val -255584"/>
                  <a:gd name="adj4" fmla="val -17426"/>
                </a:avLst>
              </a:prstGeom>
              <a:blipFill>
                <a:blip r:embed="rId10"/>
                <a:stretch>
                  <a:fillRect b="-4749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Arrow: Curved Right 59">
            <a:extLst>
              <a:ext uri="{FF2B5EF4-FFF2-40B4-BE49-F238E27FC236}">
                <a16:creationId xmlns:a16="http://schemas.microsoft.com/office/drawing/2014/main" id="{CDD08B0C-7CC4-496E-9431-A48D1DAAE071}"/>
              </a:ext>
            </a:extLst>
          </p:cNvPr>
          <p:cNvSpPr/>
          <p:nvPr/>
        </p:nvSpPr>
        <p:spPr>
          <a:xfrm>
            <a:off x="1320800" y="5912697"/>
            <a:ext cx="884646" cy="822713"/>
          </a:xfrm>
          <a:prstGeom prst="curvedRightArrow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2" name="TextBox 3">
            <a:extLst>
              <a:ext uri="{FF2B5EF4-FFF2-40B4-BE49-F238E27FC236}">
                <a16:creationId xmlns:a16="http://schemas.microsoft.com/office/drawing/2014/main" id="{4ABBEBF0-D80B-4D5F-A8F6-07CBB07B20BD}"/>
              </a:ext>
            </a:extLst>
          </p:cNvPr>
          <p:cNvSpPr txBox="1"/>
          <p:nvPr/>
        </p:nvSpPr>
        <p:spPr>
          <a:xfrm>
            <a:off x="7160645" y="6269634"/>
            <a:ext cx="2552908" cy="40011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 Nova Cond" panose="020B0604020202020204" pitchFamily="34" charset="0"/>
              </a:rPr>
              <a:t>(if :Yi&gt;0, or else 0.05) </a:t>
            </a:r>
            <a:endParaRPr lang="en-US" sz="2400" dirty="0">
              <a:latin typeface="Arial Nova Cond" panose="020B0604020202020204" pitchFamily="34" charset="0"/>
            </a:endParaRPr>
          </a:p>
        </p:txBody>
      </p:sp>
      <p:sp>
        <p:nvSpPr>
          <p:cNvPr id="63" name="TextBox 3">
            <a:extLst>
              <a:ext uri="{FF2B5EF4-FFF2-40B4-BE49-F238E27FC236}">
                <a16:creationId xmlns:a16="http://schemas.microsoft.com/office/drawing/2014/main" id="{3991D152-4DD5-4C84-858D-BBAB7253F592}"/>
              </a:ext>
            </a:extLst>
          </p:cNvPr>
          <p:cNvSpPr txBox="1"/>
          <p:nvPr/>
        </p:nvSpPr>
        <p:spPr>
          <a:xfrm>
            <a:off x="3387812" y="6237667"/>
            <a:ext cx="2552908" cy="40011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 Nova Cond" panose="020B0604020202020204" pitchFamily="34" charset="0"/>
              </a:rPr>
              <a:t>(if :hi&gt;0, or else 0.05)</a:t>
            </a:r>
          </a:p>
        </p:txBody>
      </p:sp>
      <p:sp>
        <p:nvSpPr>
          <p:cNvPr id="64" name="TextBox 3">
            <a:extLst>
              <a:ext uri="{FF2B5EF4-FFF2-40B4-BE49-F238E27FC236}">
                <a16:creationId xmlns:a16="http://schemas.microsoft.com/office/drawing/2014/main" id="{C19D4FE7-EAD2-46F8-B79F-1A910511DCAC}"/>
              </a:ext>
            </a:extLst>
          </p:cNvPr>
          <p:cNvSpPr txBox="1"/>
          <p:nvPr/>
        </p:nvSpPr>
        <p:spPr>
          <a:xfrm>
            <a:off x="2197858" y="6198163"/>
            <a:ext cx="1051187" cy="707886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 Nova Cond" panose="020B0604020202020204" pitchFamily="34" charset="0"/>
              </a:rPr>
              <a:t>To next </a:t>
            </a:r>
          </a:p>
          <a:p>
            <a:r>
              <a:rPr lang="en-US" sz="2000" dirty="0">
                <a:latin typeface="Arial Nova Cond" panose="020B0604020202020204" pitchFamily="34" charset="0"/>
              </a:rPr>
              <a:t>Iteration</a:t>
            </a:r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502FA271-8228-45C1-945C-AE7D21B5F7F3}"/>
              </a:ext>
            </a:extLst>
          </p:cNvPr>
          <p:cNvSpPr/>
          <p:nvPr/>
        </p:nvSpPr>
        <p:spPr>
          <a:xfrm>
            <a:off x="6021828" y="5834745"/>
            <a:ext cx="1138817" cy="251575"/>
          </a:xfrm>
          <a:prstGeom prst="leftArrow">
            <a:avLst>
              <a:gd name="adj1" fmla="val 72194"/>
              <a:gd name="adj2" fmla="val 50000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54D7BADC-9AE9-4810-9A85-EECD80F40699}"/>
              </a:ext>
            </a:extLst>
          </p:cNvPr>
          <p:cNvSpPr/>
          <p:nvPr/>
        </p:nvSpPr>
        <p:spPr>
          <a:xfrm>
            <a:off x="9582873" y="5892582"/>
            <a:ext cx="925557" cy="238807"/>
          </a:xfrm>
          <a:prstGeom prst="leftArrow">
            <a:avLst>
              <a:gd name="adj1" fmla="val 72194"/>
              <a:gd name="adj2" fmla="val 50000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244EE193-276F-4E14-A8CB-90D3B2569F96}"/>
              </a:ext>
            </a:extLst>
          </p:cNvPr>
          <p:cNvSpPr/>
          <p:nvPr/>
        </p:nvSpPr>
        <p:spPr>
          <a:xfrm>
            <a:off x="2248030" y="5873086"/>
            <a:ext cx="875960" cy="267829"/>
          </a:xfrm>
          <a:prstGeom prst="leftArrow">
            <a:avLst>
              <a:gd name="adj1" fmla="val 72194"/>
              <a:gd name="adj2" fmla="val 50000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Arrow: Bent 24">
            <a:extLst>
              <a:ext uri="{FF2B5EF4-FFF2-40B4-BE49-F238E27FC236}">
                <a16:creationId xmlns:a16="http://schemas.microsoft.com/office/drawing/2014/main" id="{7000DE89-78A7-41CF-A0F1-EBED96954BD3}"/>
              </a:ext>
            </a:extLst>
          </p:cNvPr>
          <p:cNvSpPr/>
          <p:nvPr/>
        </p:nvSpPr>
        <p:spPr>
          <a:xfrm rot="10800000">
            <a:off x="10480298" y="5227688"/>
            <a:ext cx="644902" cy="955432"/>
          </a:xfrm>
          <a:prstGeom prst="bentArrow">
            <a:avLst>
              <a:gd name="adj1" fmla="val 28302"/>
              <a:gd name="adj2" fmla="val 25000"/>
              <a:gd name="adj3" fmla="val 25000"/>
              <a:gd name="adj4" fmla="val 43750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571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81;p31">
            <a:extLst>
              <a:ext uri="{FF2B5EF4-FFF2-40B4-BE49-F238E27FC236}">
                <a16:creationId xmlns:a16="http://schemas.microsoft.com/office/drawing/2014/main" id="{E13A7EA9-70D1-4408-9BAD-F0DE7614FBDA}"/>
              </a:ext>
            </a:extLst>
          </p:cNvPr>
          <p:cNvSpPr txBox="1">
            <a:spLocks/>
          </p:cNvSpPr>
          <p:nvPr/>
        </p:nvSpPr>
        <p:spPr>
          <a:xfrm>
            <a:off x="415461" y="649075"/>
            <a:ext cx="11199267" cy="71387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DNN </a:t>
            </a:r>
            <a:r>
              <a:rPr lang="en-US" sz="2400" dirty="0"/>
              <a:t>ﬁrst-order gradient training </a:t>
            </a:r>
            <a:r>
              <a:rPr lang="en-US" dirty="0"/>
              <a:t>(update all 12 parameters to next iteration).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1A93E-35BC-4A33-9AAD-356F35D43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36" y="3939232"/>
            <a:ext cx="11116128" cy="23523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A8FD9C-2840-4812-9595-80E4B5573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71" y="1395874"/>
            <a:ext cx="10384093" cy="1999165"/>
          </a:xfrm>
          <a:prstGeom prst="rect">
            <a:avLst/>
          </a:prstGeom>
        </p:spPr>
      </p:pic>
      <p:sp>
        <p:nvSpPr>
          <p:cNvPr id="9" name="Explosion: 8 Points 8">
            <a:extLst>
              <a:ext uri="{FF2B5EF4-FFF2-40B4-BE49-F238E27FC236}">
                <a16:creationId xmlns:a16="http://schemas.microsoft.com/office/drawing/2014/main" id="{C61ADA0D-EB1F-4D4B-9624-34877FD42E56}"/>
              </a:ext>
            </a:extLst>
          </p:cNvPr>
          <p:cNvSpPr/>
          <p:nvPr/>
        </p:nvSpPr>
        <p:spPr>
          <a:xfrm>
            <a:off x="8171325" y="2293598"/>
            <a:ext cx="359347" cy="357492"/>
          </a:xfrm>
          <a:prstGeom prst="irregularSeal1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F154FA-8529-4A06-900B-6289E4841A05}"/>
              </a:ext>
            </a:extLst>
          </p:cNvPr>
          <p:cNvSpPr txBox="1"/>
          <p:nvPr/>
        </p:nvSpPr>
        <p:spPr>
          <a:xfrm>
            <a:off x="6186395" y="6398509"/>
            <a:ext cx="34036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1st Iteration, Y1=0.232, Y2=0.597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D33C4A4A-9F2F-4923-A87A-0E7C9B6AA396}"/>
              </a:ext>
            </a:extLst>
          </p:cNvPr>
          <p:cNvSpPr/>
          <p:nvPr/>
        </p:nvSpPr>
        <p:spPr>
          <a:xfrm rot="18294713">
            <a:off x="2106836" y="3949235"/>
            <a:ext cx="1543141" cy="290832"/>
          </a:xfrm>
          <a:prstGeom prst="leftArrow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073ACE0B-BD7A-4D56-B039-E8FDA2859339}"/>
              </a:ext>
            </a:extLst>
          </p:cNvPr>
          <p:cNvSpPr/>
          <p:nvPr/>
        </p:nvSpPr>
        <p:spPr>
          <a:xfrm rot="18294713">
            <a:off x="5490129" y="3878552"/>
            <a:ext cx="1543141" cy="290832"/>
          </a:xfrm>
          <a:prstGeom prst="leftArrow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203A7C-6388-40FF-9D3F-937F6F5A2125}"/>
              </a:ext>
            </a:extLst>
          </p:cNvPr>
          <p:cNvSpPr txBox="1"/>
          <p:nvPr/>
        </p:nvSpPr>
        <p:spPr>
          <a:xfrm>
            <a:off x="7188948" y="3462962"/>
            <a:ext cx="23241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Y1=1, Y2=0.177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B30027-6F12-49BC-9217-05DECB55A66A}"/>
              </a:ext>
            </a:extLst>
          </p:cNvPr>
          <p:cNvSpPr/>
          <p:nvPr/>
        </p:nvSpPr>
        <p:spPr>
          <a:xfrm>
            <a:off x="1834672" y="4599524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1CC3263-8B89-4CF1-A91D-EADB31E917E3}"/>
              </a:ext>
            </a:extLst>
          </p:cNvPr>
          <p:cNvSpPr/>
          <p:nvPr/>
        </p:nvSpPr>
        <p:spPr>
          <a:xfrm>
            <a:off x="5245661" y="4709965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FCAFA0-210B-4C22-9FCD-DC3A70CBF87E}"/>
              </a:ext>
            </a:extLst>
          </p:cNvPr>
          <p:cNvSpPr/>
          <p:nvPr/>
        </p:nvSpPr>
        <p:spPr>
          <a:xfrm>
            <a:off x="3069138" y="1684314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0BA8426-07CF-4695-B106-14A221553ACF}"/>
              </a:ext>
            </a:extLst>
          </p:cNvPr>
          <p:cNvSpPr/>
          <p:nvPr/>
        </p:nvSpPr>
        <p:spPr>
          <a:xfrm>
            <a:off x="6397358" y="1698768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49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553290-DC0E-44F4-9605-0C8B4F6CC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64" y="4365163"/>
            <a:ext cx="11199266" cy="23699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B3D5F3-D9E1-4292-B309-81DB534F0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95" y="1469328"/>
            <a:ext cx="11130472" cy="2355374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21137A6B-671C-417A-A54D-795A271E0C1A}"/>
              </a:ext>
            </a:extLst>
          </p:cNvPr>
          <p:cNvSpPr/>
          <p:nvPr/>
        </p:nvSpPr>
        <p:spPr>
          <a:xfrm rot="18294713">
            <a:off x="1743221" y="4378291"/>
            <a:ext cx="1543141" cy="290832"/>
          </a:xfrm>
          <a:prstGeom prst="leftArrow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1F361DE4-88E4-4F42-ADFC-F932687F851C}"/>
              </a:ext>
            </a:extLst>
          </p:cNvPr>
          <p:cNvSpPr/>
          <p:nvPr/>
        </p:nvSpPr>
        <p:spPr>
          <a:xfrm rot="18294713">
            <a:off x="5148814" y="4378293"/>
            <a:ext cx="1543141" cy="290832"/>
          </a:xfrm>
          <a:prstGeom prst="leftArrow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85C5F8-5D00-46E9-A2B9-793E1C40711D}"/>
              </a:ext>
            </a:extLst>
          </p:cNvPr>
          <p:cNvSpPr txBox="1"/>
          <p:nvPr/>
        </p:nvSpPr>
        <p:spPr>
          <a:xfrm>
            <a:off x="6956068" y="3910266"/>
            <a:ext cx="4001845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nd</a:t>
            </a:r>
            <a:r>
              <a:rPr lang="en-US" b="1" dirty="0">
                <a:solidFill>
                  <a:srgbClr val="FF0000"/>
                </a:solidFill>
              </a:rPr>
              <a:t> Iteration, </a:t>
            </a:r>
            <a:r>
              <a:rPr lang="en-US" dirty="0"/>
              <a:t>Y1=0.119, Y2=0.820</a:t>
            </a:r>
          </a:p>
        </p:txBody>
      </p:sp>
      <p:sp>
        <p:nvSpPr>
          <p:cNvPr id="12" name="Google Shape;581;p31">
            <a:extLst>
              <a:ext uri="{FF2B5EF4-FFF2-40B4-BE49-F238E27FC236}">
                <a16:creationId xmlns:a16="http://schemas.microsoft.com/office/drawing/2014/main" id="{C0E115D0-0ADA-483C-AE22-FAD8358F2264}"/>
              </a:ext>
            </a:extLst>
          </p:cNvPr>
          <p:cNvSpPr txBox="1">
            <a:spLocks/>
          </p:cNvSpPr>
          <p:nvPr/>
        </p:nvSpPr>
        <p:spPr>
          <a:xfrm>
            <a:off x="415461" y="649075"/>
            <a:ext cx="11199267" cy="71387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DNN </a:t>
            </a:r>
            <a:r>
              <a:rPr lang="en-US" sz="2400" dirty="0"/>
              <a:t>ﬁrst-order gradient training </a:t>
            </a:r>
            <a:r>
              <a:rPr lang="en-US" dirty="0"/>
              <a:t>(update all 12 parameters to next iteration).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8B3742-B712-459A-A8A6-DA12DFF73C33}"/>
              </a:ext>
            </a:extLst>
          </p:cNvPr>
          <p:cNvSpPr/>
          <p:nvPr/>
        </p:nvSpPr>
        <p:spPr>
          <a:xfrm>
            <a:off x="1473712" y="5070311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946DA01-719E-4731-98B3-F2D83453A972}"/>
              </a:ext>
            </a:extLst>
          </p:cNvPr>
          <p:cNvSpPr/>
          <p:nvPr/>
        </p:nvSpPr>
        <p:spPr>
          <a:xfrm>
            <a:off x="4884701" y="5180752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666F79B-A51C-4F0A-8A24-497FE698E761}"/>
              </a:ext>
            </a:extLst>
          </p:cNvPr>
          <p:cNvSpPr/>
          <p:nvPr/>
        </p:nvSpPr>
        <p:spPr>
          <a:xfrm>
            <a:off x="2485204" y="2220468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AFA0DE1-DE37-4A44-829B-D72C3B7DDC43}"/>
              </a:ext>
            </a:extLst>
          </p:cNvPr>
          <p:cNvSpPr/>
          <p:nvPr/>
        </p:nvSpPr>
        <p:spPr>
          <a:xfrm>
            <a:off x="6028604" y="2242518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52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225666-197C-4CCA-8FD8-1D3204680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03" y="4451028"/>
            <a:ext cx="11156376" cy="23608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D2BB97-009C-42C8-AC65-7DFA0599D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28" y="1452212"/>
            <a:ext cx="11199260" cy="2369931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4D9B14C6-5695-4CF1-9223-8D0926A89E22}"/>
              </a:ext>
            </a:extLst>
          </p:cNvPr>
          <p:cNvSpPr/>
          <p:nvPr/>
        </p:nvSpPr>
        <p:spPr>
          <a:xfrm rot="18294713">
            <a:off x="1777089" y="4392665"/>
            <a:ext cx="1543141" cy="290832"/>
          </a:xfrm>
          <a:prstGeom prst="leftArrow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7FE7BDB-279A-46CA-9D01-1A0068CF5127}"/>
              </a:ext>
            </a:extLst>
          </p:cNvPr>
          <p:cNvSpPr/>
          <p:nvPr/>
        </p:nvSpPr>
        <p:spPr>
          <a:xfrm rot="18294713">
            <a:off x="5182682" y="4392667"/>
            <a:ext cx="1543141" cy="290832"/>
          </a:xfrm>
          <a:prstGeom prst="leftArrow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4329E-1C97-4128-810F-CD209EC8C6FF}"/>
              </a:ext>
            </a:extLst>
          </p:cNvPr>
          <p:cNvSpPr txBox="1"/>
          <p:nvPr/>
        </p:nvSpPr>
        <p:spPr>
          <a:xfrm>
            <a:off x="7493000" y="3876261"/>
            <a:ext cx="366268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en-US" b="1" baseline="30000" dirty="0">
                <a:solidFill>
                  <a:srgbClr val="FF0000"/>
                </a:solidFill>
              </a:rPr>
              <a:t>th</a:t>
            </a:r>
            <a:r>
              <a:rPr lang="en-US" b="1" dirty="0">
                <a:solidFill>
                  <a:srgbClr val="FF0000"/>
                </a:solidFill>
              </a:rPr>
              <a:t> Iteration, </a:t>
            </a:r>
            <a:r>
              <a:rPr lang="en-US" dirty="0"/>
              <a:t>Y1=0.08, Y2=0.966</a:t>
            </a:r>
          </a:p>
        </p:txBody>
      </p:sp>
      <p:sp>
        <p:nvSpPr>
          <p:cNvPr id="11" name="Google Shape;581;p31">
            <a:extLst>
              <a:ext uri="{FF2B5EF4-FFF2-40B4-BE49-F238E27FC236}">
                <a16:creationId xmlns:a16="http://schemas.microsoft.com/office/drawing/2014/main" id="{02CE6970-B795-4231-9BC4-BA01A9354A12}"/>
              </a:ext>
            </a:extLst>
          </p:cNvPr>
          <p:cNvSpPr txBox="1">
            <a:spLocks/>
          </p:cNvSpPr>
          <p:nvPr/>
        </p:nvSpPr>
        <p:spPr>
          <a:xfrm>
            <a:off x="415461" y="649075"/>
            <a:ext cx="11199267" cy="71387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DNN </a:t>
            </a:r>
            <a:r>
              <a:rPr lang="en-US" sz="2400" dirty="0"/>
              <a:t>ﬁrst-order gradient training </a:t>
            </a:r>
            <a:r>
              <a:rPr lang="en-US" dirty="0"/>
              <a:t>(update all 12 parameters to next iteration).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E76A014-9138-45A9-ADB0-C42ACAF18D6E}"/>
              </a:ext>
            </a:extLst>
          </p:cNvPr>
          <p:cNvSpPr/>
          <p:nvPr/>
        </p:nvSpPr>
        <p:spPr>
          <a:xfrm>
            <a:off x="1562661" y="5111191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98109B-3247-421D-956C-9B1048E1CE96}"/>
              </a:ext>
            </a:extLst>
          </p:cNvPr>
          <p:cNvSpPr/>
          <p:nvPr/>
        </p:nvSpPr>
        <p:spPr>
          <a:xfrm>
            <a:off x="4973650" y="5221632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B460C20-3727-4DC6-85C9-A85FEA0B4CC6}"/>
              </a:ext>
            </a:extLst>
          </p:cNvPr>
          <p:cNvSpPr/>
          <p:nvPr/>
        </p:nvSpPr>
        <p:spPr>
          <a:xfrm>
            <a:off x="2464454" y="2139306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AF27D48-2C5E-4311-81AF-4FA97AD61FEA}"/>
              </a:ext>
            </a:extLst>
          </p:cNvPr>
          <p:cNvSpPr/>
          <p:nvPr/>
        </p:nvSpPr>
        <p:spPr>
          <a:xfrm>
            <a:off x="6082342" y="2177351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01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80;p31">
            <a:extLst>
              <a:ext uri="{FF2B5EF4-FFF2-40B4-BE49-F238E27FC236}">
                <a16:creationId xmlns:a16="http://schemas.microsoft.com/office/drawing/2014/main" id="{788AF672-AC17-4BF4-83A0-2025DF4F8DAB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sp>
        <p:nvSpPr>
          <p:cNvPr id="46" name="Google Shape;581;p31">
            <a:extLst>
              <a:ext uri="{FF2B5EF4-FFF2-40B4-BE49-F238E27FC236}">
                <a16:creationId xmlns:a16="http://schemas.microsoft.com/office/drawing/2014/main" id="{C36C750F-986E-409A-9B0C-26DCBE4E93B6}"/>
              </a:ext>
            </a:extLst>
          </p:cNvPr>
          <p:cNvSpPr txBox="1">
            <a:spLocks/>
          </p:cNvSpPr>
          <p:nvPr/>
        </p:nvSpPr>
        <p:spPr>
          <a:xfrm>
            <a:off x="0" y="4622977"/>
            <a:ext cx="1337738" cy="137669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after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DNN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training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022102-CC11-4D1B-8E5D-3C0A3E66E16E}"/>
              </a:ext>
            </a:extLst>
          </p:cNvPr>
          <p:cNvSpPr txBox="1"/>
          <p:nvPr/>
        </p:nvSpPr>
        <p:spPr>
          <a:xfrm>
            <a:off x="7046258" y="6319138"/>
            <a:ext cx="2770841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 Y1=0.003, Y2=0.997</a:t>
            </a:r>
          </a:p>
        </p:txBody>
      </p:sp>
      <p:sp>
        <p:nvSpPr>
          <p:cNvPr id="52" name="Smiley Face 51">
            <a:extLst>
              <a:ext uri="{FF2B5EF4-FFF2-40B4-BE49-F238E27FC236}">
                <a16:creationId xmlns:a16="http://schemas.microsoft.com/office/drawing/2014/main" id="{1EADC0C1-9EAC-4F34-B515-D0C8C53C9D45}"/>
              </a:ext>
            </a:extLst>
          </p:cNvPr>
          <p:cNvSpPr/>
          <p:nvPr/>
        </p:nvSpPr>
        <p:spPr>
          <a:xfrm>
            <a:off x="7046258" y="6357343"/>
            <a:ext cx="314944" cy="292921"/>
          </a:xfrm>
          <a:prstGeom prst="smileyF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5F31B0-4D3B-4308-AF13-9BE22190B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667" y="4292531"/>
            <a:ext cx="10327278" cy="19882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BFD138-4B4F-4674-AAAF-53DEEED96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74" y="1544424"/>
            <a:ext cx="11156371" cy="2360855"/>
          </a:xfrm>
          <a:prstGeom prst="rect">
            <a:avLst/>
          </a:prstGeom>
        </p:spPr>
      </p:pic>
      <p:sp>
        <p:nvSpPr>
          <p:cNvPr id="21" name="Arrow: Left 20">
            <a:extLst>
              <a:ext uri="{FF2B5EF4-FFF2-40B4-BE49-F238E27FC236}">
                <a16:creationId xmlns:a16="http://schemas.microsoft.com/office/drawing/2014/main" id="{4DA6FB5B-9C86-40D7-9121-440D6DEFDA64}"/>
              </a:ext>
            </a:extLst>
          </p:cNvPr>
          <p:cNvSpPr/>
          <p:nvPr/>
        </p:nvSpPr>
        <p:spPr>
          <a:xfrm rot="16200000">
            <a:off x="5788072" y="4126626"/>
            <a:ext cx="807374" cy="284958"/>
          </a:xfrm>
          <a:prstGeom prst="leftArrow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B96FBE29-FF57-4D27-BCD4-BE49AF0AB416}"/>
              </a:ext>
            </a:extLst>
          </p:cNvPr>
          <p:cNvSpPr/>
          <p:nvPr/>
        </p:nvSpPr>
        <p:spPr>
          <a:xfrm rot="16200000">
            <a:off x="2209768" y="4126626"/>
            <a:ext cx="807374" cy="284958"/>
          </a:xfrm>
          <a:prstGeom prst="leftArrow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694ECD-3F6C-4BA2-9934-6631414FBCE4}"/>
              </a:ext>
            </a:extLst>
          </p:cNvPr>
          <p:cNvSpPr txBox="1"/>
          <p:nvPr/>
        </p:nvSpPr>
        <p:spPr>
          <a:xfrm>
            <a:off x="6540649" y="3876261"/>
            <a:ext cx="3276451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</a:rPr>
              <a:t>6</a:t>
            </a:r>
            <a:r>
              <a:rPr lang="en-US" b="1" baseline="30000" dirty="0">
                <a:solidFill>
                  <a:srgbClr val="FF0000"/>
                </a:solidFill>
              </a:rPr>
              <a:t>th</a:t>
            </a:r>
            <a:r>
              <a:rPr lang="en-US" b="1" dirty="0">
                <a:solidFill>
                  <a:srgbClr val="FF0000"/>
                </a:solidFill>
              </a:rPr>
              <a:t> Iteration, </a:t>
            </a:r>
            <a:r>
              <a:rPr lang="en-US" dirty="0"/>
              <a:t>Y1=0.007, Y2=0.993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EDFE75-932F-4517-A6C4-076E0F4C17F4}"/>
              </a:ext>
            </a:extLst>
          </p:cNvPr>
          <p:cNvSpPr/>
          <p:nvPr/>
        </p:nvSpPr>
        <p:spPr>
          <a:xfrm>
            <a:off x="2330765" y="4747515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D03948F-86D7-489F-8D4E-9B4DFD730887}"/>
              </a:ext>
            </a:extLst>
          </p:cNvPr>
          <p:cNvSpPr/>
          <p:nvPr/>
        </p:nvSpPr>
        <p:spPr>
          <a:xfrm>
            <a:off x="5530078" y="4682340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B4E1D09-2805-40B6-98F7-589419F0EECE}"/>
              </a:ext>
            </a:extLst>
          </p:cNvPr>
          <p:cNvSpPr/>
          <p:nvPr/>
        </p:nvSpPr>
        <p:spPr>
          <a:xfrm>
            <a:off x="2374900" y="2141085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B8BB95-97F6-4707-B56B-CF25FCC0A8B0}"/>
              </a:ext>
            </a:extLst>
          </p:cNvPr>
          <p:cNvSpPr/>
          <p:nvPr/>
        </p:nvSpPr>
        <p:spPr>
          <a:xfrm>
            <a:off x="5992788" y="2179130"/>
            <a:ext cx="850339" cy="176419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581;p31">
            <a:extLst>
              <a:ext uri="{FF2B5EF4-FFF2-40B4-BE49-F238E27FC236}">
                <a16:creationId xmlns:a16="http://schemas.microsoft.com/office/drawing/2014/main" id="{84C2521D-0918-4C9C-9E85-28098028B1E5}"/>
              </a:ext>
            </a:extLst>
          </p:cNvPr>
          <p:cNvSpPr txBox="1">
            <a:spLocks/>
          </p:cNvSpPr>
          <p:nvPr/>
        </p:nvSpPr>
        <p:spPr>
          <a:xfrm>
            <a:off x="415461" y="649075"/>
            <a:ext cx="11199267" cy="71387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DNN </a:t>
            </a:r>
            <a:r>
              <a:rPr lang="en-US" sz="2400" dirty="0"/>
              <a:t>ﬁrst-order gradient training </a:t>
            </a:r>
            <a:r>
              <a:rPr lang="en-US" dirty="0"/>
              <a:t>(update all 12 parameters to next iteration).</a:t>
            </a:r>
          </a:p>
        </p:txBody>
      </p:sp>
    </p:spTree>
    <p:extLst>
      <p:ext uri="{BB962C8B-B14F-4D97-AF65-F5344CB8AC3E}">
        <p14:creationId xmlns:p14="http://schemas.microsoft.com/office/powerpoint/2010/main" val="5702550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1;p31">
            <a:extLst>
              <a:ext uri="{FF2B5EF4-FFF2-40B4-BE49-F238E27FC236}">
                <a16:creationId xmlns:a16="http://schemas.microsoft.com/office/drawing/2014/main" id="{2B407C98-F9DE-4DB5-802E-23615E8FAB19}"/>
              </a:ext>
            </a:extLst>
          </p:cNvPr>
          <p:cNvSpPr txBox="1">
            <a:spLocks/>
          </p:cNvSpPr>
          <p:nvPr/>
        </p:nvSpPr>
        <p:spPr>
          <a:xfrm>
            <a:off x="523039" y="658429"/>
            <a:ext cx="11145922" cy="7072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after DNN training : Y1=0.003, Y2=0.997</a:t>
            </a:r>
          </a:p>
        </p:txBody>
      </p:sp>
      <p:sp>
        <p:nvSpPr>
          <p:cNvPr id="5" name="Google Shape;580;p31">
            <a:extLst>
              <a:ext uri="{FF2B5EF4-FFF2-40B4-BE49-F238E27FC236}">
                <a16:creationId xmlns:a16="http://schemas.microsoft.com/office/drawing/2014/main" id="{788AF672-AC17-4BF4-83A0-2025DF4F8DAB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A511B5-9E24-47A2-BE67-15504529E883}"/>
              </a:ext>
            </a:extLst>
          </p:cNvPr>
          <p:cNvSpPr/>
          <p:nvPr/>
        </p:nvSpPr>
        <p:spPr>
          <a:xfrm>
            <a:off x="2117314" y="2150215"/>
            <a:ext cx="1044316" cy="27302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6A91BA6-CB62-4F04-B40D-9CC52DC23D9A}"/>
              </a:ext>
            </a:extLst>
          </p:cNvPr>
          <p:cNvSpPr/>
          <p:nvPr/>
        </p:nvSpPr>
        <p:spPr>
          <a:xfrm>
            <a:off x="2321615" y="2311721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E5DB6E-C842-45AC-A9EC-2416E68F0080}"/>
              </a:ext>
            </a:extLst>
          </p:cNvPr>
          <p:cNvSpPr/>
          <p:nvPr/>
        </p:nvSpPr>
        <p:spPr>
          <a:xfrm>
            <a:off x="2314632" y="3806624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A7CCD7-4E89-49EA-98B3-3AE934AC8DEA}"/>
              </a:ext>
            </a:extLst>
          </p:cNvPr>
          <p:cNvSpPr/>
          <p:nvPr/>
        </p:nvSpPr>
        <p:spPr>
          <a:xfrm>
            <a:off x="4583212" y="2101516"/>
            <a:ext cx="1044316" cy="27302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Baguet Script" panose="00000500000000000000" pitchFamily="2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F6FB411-5A9C-4577-A9B9-EC4245F16A03}"/>
              </a:ext>
            </a:extLst>
          </p:cNvPr>
          <p:cNvSpPr/>
          <p:nvPr/>
        </p:nvSpPr>
        <p:spPr>
          <a:xfrm>
            <a:off x="4787513" y="2233042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Baguet Script" panose="00000500000000000000" pitchFamily="2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92ADD24-550A-4A93-8417-1FC99A8C94D1}"/>
              </a:ext>
            </a:extLst>
          </p:cNvPr>
          <p:cNvSpPr/>
          <p:nvPr/>
        </p:nvSpPr>
        <p:spPr>
          <a:xfrm>
            <a:off x="4787513" y="3894230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Baguet Script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F67018-2EF6-4396-8A2A-23F4E89D966B}"/>
              </a:ext>
            </a:extLst>
          </p:cNvPr>
          <p:cNvSpPr txBox="1"/>
          <p:nvPr/>
        </p:nvSpPr>
        <p:spPr>
          <a:xfrm>
            <a:off x="2374373" y="2187992"/>
            <a:ext cx="734518" cy="213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X1</a:t>
            </a:r>
          </a:p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endParaRPr lang="en-US" dirty="0"/>
          </a:p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X2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86094E-097D-4AAB-B00A-DA02934E139C}"/>
                  </a:ext>
                </a:extLst>
              </p:cNvPr>
              <p:cNvSpPr txBox="1"/>
              <p:nvPr/>
            </p:nvSpPr>
            <p:spPr>
              <a:xfrm>
                <a:off x="4719502" y="1885432"/>
                <a:ext cx="734518" cy="3536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8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𝟐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</a:rPr>
                            <m:t>𝟏</m:t>
                          </m:r>
                        </m:sup>
                      </m:sSubSup>
                      <m:r>
                        <a:rPr lang="en-US" sz="2800" b="1" i="1" smtClean="0">
                          <a:latin typeface="Cambria Math" panose="02040503050406030204" pitchFamily="18" charset="0"/>
                          <a:ea typeface="Adobe Gothic Std B" panose="020B0800000000000000" pitchFamily="34" charset="-128"/>
                        </a:rPr>
                        <m:t> 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  <a:ea typeface="Adobe Gothic Std B" panose="020B0800000000000000" pitchFamily="34" charset="-128"/>
                </a:endParaRPr>
              </a:p>
              <a:p>
                <a:pPr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86094E-097D-4AAB-B00A-DA02934E1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502" y="1885432"/>
                <a:ext cx="734518" cy="35364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7305FA-903F-487C-B2DD-6F86E9C957CD}"/>
              </a:ext>
            </a:extLst>
          </p:cNvPr>
          <p:cNvCxnSpPr>
            <a:cxnSpLocks/>
          </p:cNvCxnSpPr>
          <p:nvPr/>
        </p:nvCxnSpPr>
        <p:spPr>
          <a:xfrm flipV="1">
            <a:off x="2936212" y="2610299"/>
            <a:ext cx="1861741" cy="152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671C40C-5877-49C5-8FF9-5281C07F4A84}"/>
              </a:ext>
            </a:extLst>
          </p:cNvPr>
          <p:cNvCxnSpPr>
            <a:cxnSpLocks/>
          </p:cNvCxnSpPr>
          <p:nvPr/>
        </p:nvCxnSpPr>
        <p:spPr>
          <a:xfrm flipV="1">
            <a:off x="2926080" y="2605295"/>
            <a:ext cx="1871873" cy="14826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EDC49DA-6AC4-4BE3-8387-E612A351EF48}"/>
              </a:ext>
            </a:extLst>
          </p:cNvPr>
          <p:cNvCxnSpPr>
            <a:cxnSpLocks/>
          </p:cNvCxnSpPr>
          <p:nvPr/>
        </p:nvCxnSpPr>
        <p:spPr>
          <a:xfrm>
            <a:off x="2951130" y="2625544"/>
            <a:ext cx="1807687" cy="13826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68E3E6-EE17-4864-B515-8895907BA23D}"/>
              </a:ext>
            </a:extLst>
          </p:cNvPr>
          <p:cNvCxnSpPr>
            <a:cxnSpLocks/>
          </p:cNvCxnSpPr>
          <p:nvPr/>
        </p:nvCxnSpPr>
        <p:spPr>
          <a:xfrm flipV="1">
            <a:off x="2940947" y="4055277"/>
            <a:ext cx="1842138" cy="3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B58DB86-F664-4C58-B2FB-22A36E383AF0}"/>
              </a:ext>
            </a:extLst>
          </p:cNvPr>
          <p:cNvGrpSpPr/>
          <p:nvPr/>
        </p:nvGrpSpPr>
        <p:grpSpPr>
          <a:xfrm>
            <a:off x="7841693" y="2238558"/>
            <a:ext cx="1044316" cy="2156310"/>
            <a:chOff x="10655509" y="3580927"/>
            <a:chExt cx="1044316" cy="215631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EF4808D-C3A7-4862-BA09-C03002A1CBBD}"/>
                </a:ext>
              </a:extLst>
            </p:cNvPr>
            <p:cNvSpPr/>
            <p:nvPr/>
          </p:nvSpPr>
          <p:spPr>
            <a:xfrm>
              <a:off x="10655509" y="3580927"/>
              <a:ext cx="1044316" cy="215631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97E2C23-42C2-4989-B7E4-73FC4B243043}"/>
                </a:ext>
              </a:extLst>
            </p:cNvPr>
            <p:cNvSpPr/>
            <p:nvPr/>
          </p:nvSpPr>
          <p:spPr>
            <a:xfrm>
              <a:off x="10881273" y="3919782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32339F0-84C1-4AD8-B69D-C646EFBAC774}"/>
                </a:ext>
              </a:extLst>
            </p:cNvPr>
            <p:cNvSpPr/>
            <p:nvPr/>
          </p:nvSpPr>
          <p:spPr>
            <a:xfrm>
              <a:off x="10881273" y="4758604"/>
              <a:ext cx="614597" cy="627647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7B467FE-2BE9-4DD0-BC26-E577C8FFFEE1}"/>
              </a:ext>
            </a:extLst>
          </p:cNvPr>
          <p:cNvSpPr txBox="1"/>
          <p:nvPr/>
        </p:nvSpPr>
        <p:spPr>
          <a:xfrm>
            <a:off x="8151491" y="2678697"/>
            <a:ext cx="734518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b="1" dirty="0">
                <a:latin typeface="Modern Love Grunge" panose="020B0604020202020204" pitchFamily="82" charset="0"/>
                <a:ea typeface="Adobe Ming Std L" panose="02020300000000000000" pitchFamily="18" charset="-128"/>
              </a:rPr>
              <a:t>Y1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Modern Love Grunge" panose="020B0604020202020204" pitchFamily="82" charset="0"/>
                <a:ea typeface="Adobe Ming Std L" panose="02020300000000000000" pitchFamily="18" charset="-128"/>
              </a:rPr>
              <a:t>Y2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99D043C-3565-4139-8936-1D5C8BFD9647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5424160" y="2599249"/>
            <a:ext cx="2643297" cy="2919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251F6F0-9FF9-4135-80DF-9324F6DE5129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5424160" y="2591626"/>
            <a:ext cx="2643297" cy="11384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80911A9-8C49-453A-8512-E8A6F8B6CEC1}"/>
              </a:ext>
            </a:extLst>
          </p:cNvPr>
          <p:cNvCxnSpPr>
            <a:cxnSpLocks/>
            <a:endCxn id="32" idx="2"/>
          </p:cNvCxnSpPr>
          <p:nvPr/>
        </p:nvCxnSpPr>
        <p:spPr>
          <a:xfrm flipV="1">
            <a:off x="5409242" y="2891237"/>
            <a:ext cx="2658215" cy="1430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14BB9B-6FEE-456C-BAE0-67E252525728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5424160" y="3730059"/>
            <a:ext cx="2643297" cy="5704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Google Shape;581;p31">
            <a:extLst>
              <a:ext uri="{FF2B5EF4-FFF2-40B4-BE49-F238E27FC236}">
                <a16:creationId xmlns:a16="http://schemas.microsoft.com/office/drawing/2014/main" id="{BDE68DAA-BA77-4ADC-ABA7-6EEEE8B3C563}"/>
              </a:ext>
            </a:extLst>
          </p:cNvPr>
          <p:cNvSpPr txBox="1">
            <a:spLocks/>
          </p:cNvSpPr>
          <p:nvPr/>
        </p:nvSpPr>
        <p:spPr>
          <a:xfrm>
            <a:off x="1167596" y="5208428"/>
            <a:ext cx="9123921" cy="66716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DNN training has output of Y1=0 and Y2=1 to match targets.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A75B066-C608-499A-AC0D-E75EE5757D54}"/>
              </a:ext>
            </a:extLst>
          </p:cNvPr>
          <p:cNvGrpSpPr/>
          <p:nvPr/>
        </p:nvGrpSpPr>
        <p:grpSpPr>
          <a:xfrm>
            <a:off x="4917425" y="1605928"/>
            <a:ext cx="407294" cy="394415"/>
            <a:chOff x="4686300" y="1320085"/>
            <a:chExt cx="407294" cy="394415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79FD91F-1AF4-471E-B7E6-A41BFE4E3ADC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00" y="1320085"/>
              <a:ext cx="0" cy="39441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E3F1DAF-F579-4DBC-B6E0-72A49481246C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00" y="1714500"/>
              <a:ext cx="407294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20C7479-4E83-4B1F-A279-EB0C9CBFF8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300" y="1329888"/>
              <a:ext cx="407294" cy="38461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CC820B61-23BF-4025-BC5D-7FE56C7595B2}"/>
              </a:ext>
            </a:extLst>
          </p:cNvPr>
          <p:cNvSpPr txBox="1"/>
          <p:nvPr/>
        </p:nvSpPr>
        <p:spPr>
          <a:xfrm>
            <a:off x="9861175" y="2013789"/>
            <a:ext cx="1141465" cy="561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Target</a:t>
            </a: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CF1A3F31-EE73-4E5D-AE5A-A1AE4A869339}"/>
              </a:ext>
            </a:extLst>
          </p:cNvPr>
          <p:cNvSpPr txBox="1"/>
          <p:nvPr/>
        </p:nvSpPr>
        <p:spPr>
          <a:xfrm>
            <a:off x="2253452" y="3010730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0.05</a:t>
            </a:r>
          </a:p>
        </p:txBody>
      </p:sp>
      <p:sp>
        <p:nvSpPr>
          <p:cNvPr id="46" name="TextBox 3">
            <a:extLst>
              <a:ext uri="{FF2B5EF4-FFF2-40B4-BE49-F238E27FC236}">
                <a16:creationId xmlns:a16="http://schemas.microsoft.com/office/drawing/2014/main" id="{7551D031-17EA-454A-8404-5B9A48F07D1B}"/>
              </a:ext>
            </a:extLst>
          </p:cNvPr>
          <p:cNvSpPr txBox="1"/>
          <p:nvPr/>
        </p:nvSpPr>
        <p:spPr>
          <a:xfrm>
            <a:off x="2322569" y="4450391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0.1</a:t>
            </a:r>
          </a:p>
        </p:txBody>
      </p:sp>
      <p:sp>
        <p:nvSpPr>
          <p:cNvPr id="47" name="TextBox 3">
            <a:extLst>
              <a:ext uri="{FF2B5EF4-FFF2-40B4-BE49-F238E27FC236}">
                <a16:creationId xmlns:a16="http://schemas.microsoft.com/office/drawing/2014/main" id="{7C516604-CB95-40E5-802D-AE5DE7BCDDF1}"/>
              </a:ext>
            </a:extLst>
          </p:cNvPr>
          <p:cNvSpPr txBox="1"/>
          <p:nvPr/>
        </p:nvSpPr>
        <p:spPr>
          <a:xfrm>
            <a:off x="3422508" y="2096411"/>
            <a:ext cx="925458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0.141</a:t>
            </a:r>
          </a:p>
        </p:txBody>
      </p:sp>
      <p:sp>
        <p:nvSpPr>
          <p:cNvPr id="55" name="TextBox 3">
            <a:extLst>
              <a:ext uri="{FF2B5EF4-FFF2-40B4-BE49-F238E27FC236}">
                <a16:creationId xmlns:a16="http://schemas.microsoft.com/office/drawing/2014/main" id="{F1BB70C7-DD95-440A-A3A8-035762890B24}"/>
              </a:ext>
            </a:extLst>
          </p:cNvPr>
          <p:cNvSpPr txBox="1"/>
          <p:nvPr/>
        </p:nvSpPr>
        <p:spPr>
          <a:xfrm rot="2136090">
            <a:off x="3326253" y="2783048"/>
            <a:ext cx="902906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0.181</a:t>
            </a:r>
          </a:p>
        </p:txBody>
      </p:sp>
      <p:sp>
        <p:nvSpPr>
          <p:cNvPr id="56" name="TextBox 3">
            <a:extLst>
              <a:ext uri="{FF2B5EF4-FFF2-40B4-BE49-F238E27FC236}">
                <a16:creationId xmlns:a16="http://schemas.microsoft.com/office/drawing/2014/main" id="{96C08CD4-C917-4290-862F-156841F79EE2}"/>
              </a:ext>
            </a:extLst>
          </p:cNvPr>
          <p:cNvSpPr txBox="1"/>
          <p:nvPr/>
        </p:nvSpPr>
        <p:spPr>
          <a:xfrm rot="19284427">
            <a:off x="3273616" y="3388213"/>
            <a:ext cx="90861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0.241</a:t>
            </a:r>
          </a:p>
        </p:txBody>
      </p:sp>
      <p:sp>
        <p:nvSpPr>
          <p:cNvPr id="57" name="TextBox 3">
            <a:extLst>
              <a:ext uri="{FF2B5EF4-FFF2-40B4-BE49-F238E27FC236}">
                <a16:creationId xmlns:a16="http://schemas.microsoft.com/office/drawing/2014/main" id="{F7E52A0F-56D3-4674-AA5B-A12CB811B6CE}"/>
              </a:ext>
            </a:extLst>
          </p:cNvPr>
          <p:cNvSpPr txBox="1"/>
          <p:nvPr/>
        </p:nvSpPr>
        <p:spPr>
          <a:xfrm>
            <a:off x="3278382" y="4135125"/>
            <a:ext cx="93759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0.282</a:t>
            </a:r>
          </a:p>
        </p:txBody>
      </p:sp>
      <p:sp>
        <p:nvSpPr>
          <p:cNvPr id="58" name="TextBox 3">
            <a:extLst>
              <a:ext uri="{FF2B5EF4-FFF2-40B4-BE49-F238E27FC236}">
                <a16:creationId xmlns:a16="http://schemas.microsoft.com/office/drawing/2014/main" id="{DC4D255F-C557-407D-B56A-059BB2D53D62}"/>
              </a:ext>
            </a:extLst>
          </p:cNvPr>
          <p:cNvSpPr txBox="1"/>
          <p:nvPr/>
        </p:nvSpPr>
        <p:spPr>
          <a:xfrm>
            <a:off x="6383519" y="1771900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-0.1</a:t>
            </a:r>
          </a:p>
        </p:txBody>
      </p:sp>
      <p:sp>
        <p:nvSpPr>
          <p:cNvPr id="66" name="TextBox 3">
            <a:extLst>
              <a:ext uri="{FF2B5EF4-FFF2-40B4-BE49-F238E27FC236}">
                <a16:creationId xmlns:a16="http://schemas.microsoft.com/office/drawing/2014/main" id="{F68F3C9B-F161-42FF-9648-CEF22800D356}"/>
              </a:ext>
            </a:extLst>
          </p:cNvPr>
          <p:cNvSpPr txBox="1"/>
          <p:nvPr/>
        </p:nvSpPr>
        <p:spPr>
          <a:xfrm>
            <a:off x="6343479" y="4628536"/>
            <a:ext cx="750922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0.87</a:t>
            </a:r>
          </a:p>
        </p:txBody>
      </p:sp>
      <p:sp>
        <p:nvSpPr>
          <p:cNvPr id="67" name="TextBox 3">
            <a:extLst>
              <a:ext uri="{FF2B5EF4-FFF2-40B4-BE49-F238E27FC236}">
                <a16:creationId xmlns:a16="http://schemas.microsoft.com/office/drawing/2014/main" id="{74955C2B-34D0-497A-B625-0A1D64FC5FA4}"/>
              </a:ext>
            </a:extLst>
          </p:cNvPr>
          <p:cNvSpPr txBox="1"/>
          <p:nvPr/>
        </p:nvSpPr>
        <p:spPr>
          <a:xfrm>
            <a:off x="973216" y="1964619"/>
            <a:ext cx="914307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0.162</a:t>
            </a:r>
          </a:p>
        </p:txBody>
      </p:sp>
      <p:sp>
        <p:nvSpPr>
          <p:cNvPr id="68" name="TextBox 3">
            <a:extLst>
              <a:ext uri="{FF2B5EF4-FFF2-40B4-BE49-F238E27FC236}">
                <a16:creationId xmlns:a16="http://schemas.microsoft.com/office/drawing/2014/main" id="{2A99B76E-FE51-4626-9C28-CC1E46B59FD8}"/>
              </a:ext>
            </a:extLst>
          </p:cNvPr>
          <p:cNvSpPr txBox="1"/>
          <p:nvPr/>
        </p:nvSpPr>
        <p:spPr>
          <a:xfrm>
            <a:off x="992332" y="4319216"/>
            <a:ext cx="945319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0.167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5E63CDE2-8A9E-4739-9FC4-C55DCC578C4C}"/>
              </a:ext>
            </a:extLst>
          </p:cNvPr>
          <p:cNvSpPr txBox="1"/>
          <p:nvPr/>
        </p:nvSpPr>
        <p:spPr>
          <a:xfrm>
            <a:off x="6673649" y="2430108"/>
            <a:ext cx="913058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0.266</a:t>
            </a:r>
          </a:p>
        </p:txBody>
      </p:sp>
      <p:sp>
        <p:nvSpPr>
          <p:cNvPr id="70" name="TextBox 3">
            <a:extLst>
              <a:ext uri="{FF2B5EF4-FFF2-40B4-BE49-F238E27FC236}">
                <a16:creationId xmlns:a16="http://schemas.microsoft.com/office/drawing/2014/main" id="{82EF8039-B148-4C4D-A3BA-9A55E4140215}"/>
              </a:ext>
            </a:extLst>
          </p:cNvPr>
          <p:cNvSpPr txBox="1"/>
          <p:nvPr/>
        </p:nvSpPr>
        <p:spPr>
          <a:xfrm rot="1532732">
            <a:off x="5781197" y="2896372"/>
            <a:ext cx="980024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0.254</a:t>
            </a:r>
          </a:p>
        </p:txBody>
      </p:sp>
      <p:sp>
        <p:nvSpPr>
          <p:cNvPr id="71" name="TextBox 3">
            <a:extLst>
              <a:ext uri="{FF2B5EF4-FFF2-40B4-BE49-F238E27FC236}">
                <a16:creationId xmlns:a16="http://schemas.microsoft.com/office/drawing/2014/main" id="{084DC371-BB00-47D8-BF54-0A66FB2362EA}"/>
              </a:ext>
            </a:extLst>
          </p:cNvPr>
          <p:cNvSpPr txBox="1"/>
          <p:nvPr/>
        </p:nvSpPr>
        <p:spPr>
          <a:xfrm rot="19876117">
            <a:off x="5722729" y="3468627"/>
            <a:ext cx="931085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0.315</a:t>
            </a:r>
          </a:p>
        </p:txBody>
      </p:sp>
      <p:sp>
        <p:nvSpPr>
          <p:cNvPr id="72" name="TextBox 3">
            <a:extLst>
              <a:ext uri="{FF2B5EF4-FFF2-40B4-BE49-F238E27FC236}">
                <a16:creationId xmlns:a16="http://schemas.microsoft.com/office/drawing/2014/main" id="{DE44BC2A-96FD-4FAA-A04D-7B245D611DA3}"/>
              </a:ext>
            </a:extLst>
          </p:cNvPr>
          <p:cNvSpPr txBox="1"/>
          <p:nvPr/>
        </p:nvSpPr>
        <p:spPr>
          <a:xfrm>
            <a:off x="6613914" y="3911940"/>
            <a:ext cx="1016018" cy="46166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0.327</a:t>
            </a:r>
          </a:p>
        </p:txBody>
      </p:sp>
      <p:sp>
        <p:nvSpPr>
          <p:cNvPr id="73" name="TextBox 3">
            <a:extLst>
              <a:ext uri="{FF2B5EF4-FFF2-40B4-BE49-F238E27FC236}">
                <a16:creationId xmlns:a16="http://schemas.microsoft.com/office/drawing/2014/main" id="{EA34A06E-7DCC-4705-83E5-36F4BB84DE24}"/>
              </a:ext>
            </a:extLst>
          </p:cNvPr>
          <p:cNvSpPr txBox="1"/>
          <p:nvPr/>
        </p:nvSpPr>
        <p:spPr>
          <a:xfrm>
            <a:off x="8823748" y="2587116"/>
            <a:ext cx="1367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rgbClr val="FF0000"/>
                </a:solidFill>
                <a:highlight>
                  <a:srgbClr val="FFFF00"/>
                </a:highlight>
                <a:latin typeface="Broadway" panose="04040905080B02020502" pitchFamily="8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0.003</a:t>
            </a:r>
          </a:p>
        </p:txBody>
      </p:sp>
      <p:sp>
        <p:nvSpPr>
          <p:cNvPr id="74" name="TextBox 3">
            <a:extLst>
              <a:ext uri="{FF2B5EF4-FFF2-40B4-BE49-F238E27FC236}">
                <a16:creationId xmlns:a16="http://schemas.microsoft.com/office/drawing/2014/main" id="{3F13C6AB-2AC1-4E3B-AE49-27500369A6F4}"/>
              </a:ext>
            </a:extLst>
          </p:cNvPr>
          <p:cNvSpPr txBox="1"/>
          <p:nvPr/>
        </p:nvSpPr>
        <p:spPr>
          <a:xfrm>
            <a:off x="8823749" y="3583304"/>
            <a:ext cx="1250937" cy="523220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Broadway" panose="04040905080B02020502" pitchFamily="82" charset="0"/>
              </a:rPr>
              <a:t>0.997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647C7B0-CFA8-443D-9858-C62A4347CDDA}"/>
              </a:ext>
            </a:extLst>
          </p:cNvPr>
          <p:cNvSpPr txBox="1"/>
          <p:nvPr/>
        </p:nvSpPr>
        <p:spPr>
          <a:xfrm>
            <a:off x="8867297" y="2025552"/>
            <a:ext cx="1141465" cy="561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34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FF0000"/>
                </a:solidFill>
                <a:latin typeface="Broadway" panose="04040905080B02020502" pitchFamily="82" charset="0"/>
              </a:defRPr>
            </a:lvl1pPr>
          </a:lstStyle>
          <a:p>
            <a:pPr>
              <a:lnSpc>
                <a:spcPct val="2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Final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1A7648D-AF04-443B-8ADD-663ED3FDC502}"/>
              </a:ext>
            </a:extLst>
          </p:cNvPr>
          <p:cNvSpPr txBox="1"/>
          <p:nvPr/>
        </p:nvSpPr>
        <p:spPr>
          <a:xfrm>
            <a:off x="10222043" y="2642110"/>
            <a:ext cx="7509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Broadway" panose="04040905080B02020502" pitchFamily="82" charset="0"/>
              </a:rPr>
              <a:t>0</a:t>
            </a:r>
          </a:p>
          <a:p>
            <a:endParaRPr lang="en-US" sz="2800" dirty="0">
              <a:highlight>
                <a:srgbClr val="FFFF00"/>
              </a:highlight>
              <a:latin typeface="Broadway" panose="04040905080B02020502" pitchFamily="82" charset="0"/>
            </a:endParaRPr>
          </a:p>
          <a:p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Broadway" panose="04040905080B02020502" pitchFamily="82" charset="0"/>
              </a:rPr>
              <a:t>1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FA24F22-7741-4152-A222-D56DC7344F3A}"/>
              </a:ext>
            </a:extLst>
          </p:cNvPr>
          <p:cNvSpPr/>
          <p:nvPr/>
        </p:nvSpPr>
        <p:spPr>
          <a:xfrm>
            <a:off x="1280058" y="2328287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1B4E77B-5C94-4B07-9CB7-3BB0A2E3AA4E}"/>
              </a:ext>
            </a:extLst>
          </p:cNvPr>
          <p:cNvSpPr/>
          <p:nvPr/>
        </p:nvSpPr>
        <p:spPr>
          <a:xfrm>
            <a:off x="1322796" y="3784340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425DA99-5F06-4BFB-890F-FBDD343A4483}"/>
              </a:ext>
            </a:extLst>
          </p:cNvPr>
          <p:cNvSpPr/>
          <p:nvPr/>
        </p:nvSpPr>
        <p:spPr>
          <a:xfrm>
            <a:off x="5866704" y="1982623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D991E8A-BA1C-4284-82EF-74AA622716FA}"/>
              </a:ext>
            </a:extLst>
          </p:cNvPr>
          <p:cNvSpPr/>
          <p:nvPr/>
        </p:nvSpPr>
        <p:spPr>
          <a:xfrm>
            <a:off x="5903547" y="4195752"/>
            <a:ext cx="614597" cy="6276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E65F92F-5689-43D2-871D-4B4CF01280A6}"/>
                  </a:ext>
                </a:extLst>
              </p:cNvPr>
              <p:cNvSpPr txBox="1"/>
              <p:nvPr/>
            </p:nvSpPr>
            <p:spPr>
              <a:xfrm>
                <a:off x="1242828" y="2103981"/>
                <a:ext cx="734518" cy="1036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E65F92F-5689-43D2-871D-4B4CF0128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828" y="2103981"/>
                <a:ext cx="734518" cy="10360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59962F8-7AC5-421D-920D-5BC0ED331E74}"/>
                  </a:ext>
                </a:extLst>
              </p:cNvPr>
              <p:cNvSpPr txBox="1"/>
              <p:nvPr/>
            </p:nvSpPr>
            <p:spPr>
              <a:xfrm>
                <a:off x="1231757" y="3553276"/>
                <a:ext cx="734518" cy="1036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59962F8-7AC5-421D-920D-5BC0ED331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757" y="3553276"/>
                <a:ext cx="734518" cy="10360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1170DD6-158B-4461-BD41-81C9AFD6548D}"/>
                  </a:ext>
                </a:extLst>
              </p:cNvPr>
              <p:cNvSpPr txBox="1"/>
              <p:nvPr/>
            </p:nvSpPr>
            <p:spPr>
              <a:xfrm>
                <a:off x="5801972" y="1778702"/>
                <a:ext cx="734518" cy="1032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1170DD6-158B-4461-BD41-81C9AFD65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1972" y="1778702"/>
                <a:ext cx="734518" cy="10325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992F5E6-1062-40EF-885B-B28658E1B76D}"/>
                  </a:ext>
                </a:extLst>
              </p:cNvPr>
              <p:cNvSpPr txBox="1"/>
              <p:nvPr/>
            </p:nvSpPr>
            <p:spPr>
              <a:xfrm>
                <a:off x="5827996" y="3948549"/>
                <a:ext cx="734518" cy="1036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ts val="3400"/>
                  </a:lnSpc>
                  <a:spcBef>
                    <a:spcPts val="1200"/>
                  </a:spcBef>
                  <a:spcAft>
                    <a:spcPts val="600"/>
                  </a:spcAft>
                  <a:defRPr>
                    <a:solidFill>
                      <a:srgbClr val="FF0000"/>
                    </a:solidFill>
                    <a:latin typeface="Broadway" panose="04040905080B02020502" pitchFamily="82" charset="0"/>
                  </a:defRPr>
                </a:lvl1pPr>
              </a:lstStyle>
              <a:p>
                <a:pPr>
                  <a:lnSpc>
                    <a:spcPct val="20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992F5E6-1062-40EF-885B-B28658E1B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996" y="3948549"/>
                <a:ext cx="734518" cy="10360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phic 8" descr="Badge Tick1 with solid fill">
            <a:extLst>
              <a:ext uri="{FF2B5EF4-FFF2-40B4-BE49-F238E27FC236}">
                <a16:creationId xmlns:a16="http://schemas.microsoft.com/office/drawing/2014/main" id="{E995FB95-9AF3-4B89-9F53-28FC119D8C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83928" y="2546865"/>
            <a:ext cx="635619" cy="635619"/>
          </a:xfrm>
          <a:prstGeom prst="rect">
            <a:avLst/>
          </a:prstGeom>
        </p:spPr>
      </p:pic>
      <p:pic>
        <p:nvPicPr>
          <p:cNvPr id="65" name="Graphic 64" descr="Badge Tick1 with solid fill">
            <a:extLst>
              <a:ext uri="{FF2B5EF4-FFF2-40B4-BE49-F238E27FC236}">
                <a16:creationId xmlns:a16="http://schemas.microsoft.com/office/drawing/2014/main" id="{9406D4EC-27E0-4CAD-A7E8-57B34B9B57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06678" y="3495907"/>
            <a:ext cx="635619" cy="63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381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1;p31">
            <a:extLst>
              <a:ext uri="{FF2B5EF4-FFF2-40B4-BE49-F238E27FC236}">
                <a16:creationId xmlns:a16="http://schemas.microsoft.com/office/drawing/2014/main" id="{2B407C98-F9DE-4DB5-802E-23615E8FAB19}"/>
              </a:ext>
            </a:extLst>
          </p:cNvPr>
          <p:cNvSpPr txBox="1">
            <a:spLocks/>
          </p:cNvSpPr>
          <p:nvPr/>
        </p:nvSpPr>
        <p:spPr>
          <a:xfrm>
            <a:off x="523039" y="658428"/>
            <a:ext cx="11145922" cy="71387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DNN training sample convergence process with MSE – summary table</a:t>
            </a:r>
          </a:p>
        </p:txBody>
      </p:sp>
      <p:sp>
        <p:nvSpPr>
          <p:cNvPr id="5" name="Google Shape;580;p31">
            <a:extLst>
              <a:ext uri="{FF2B5EF4-FFF2-40B4-BE49-F238E27FC236}">
                <a16:creationId xmlns:a16="http://schemas.microsoft.com/office/drawing/2014/main" id="{788AF672-AC17-4BF4-83A0-2025DF4F8DAB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5E58C4C-8D2D-4D43-8AE4-1BADAC91C1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362088"/>
              </p:ext>
            </p:extLst>
          </p:nvPr>
        </p:nvGraphicFramePr>
        <p:xfrm>
          <a:off x="2622550" y="1563130"/>
          <a:ext cx="6946900" cy="4990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92726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1;p31">
            <a:extLst>
              <a:ext uri="{FF2B5EF4-FFF2-40B4-BE49-F238E27FC236}">
                <a16:creationId xmlns:a16="http://schemas.microsoft.com/office/drawing/2014/main" id="{E4CB967A-D0F9-4E42-B120-9DD8E6D55337}"/>
              </a:ext>
            </a:extLst>
          </p:cNvPr>
          <p:cNvSpPr txBox="1">
            <a:spLocks/>
          </p:cNvSpPr>
          <p:nvPr/>
        </p:nvSpPr>
        <p:spPr>
          <a:xfrm>
            <a:off x="523039" y="429125"/>
            <a:ext cx="11145922" cy="164710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/>
              <a:t>Other DNN </a:t>
            </a:r>
            <a:r>
              <a:rPr lang="en-US" dirty="0"/>
              <a:t>training algorithms to fix the local minima problems </a:t>
            </a:r>
          </a:p>
          <a:p>
            <a:pPr>
              <a:lnSpc>
                <a:spcPct val="100000"/>
              </a:lnSpc>
            </a:pPr>
            <a:r>
              <a:rPr lang="en-US" dirty="0"/>
              <a:t>          </a:t>
            </a:r>
            <a:r>
              <a:rPr lang="en-US" sz="1200" dirty="0"/>
              <a:t>See link below for more details</a:t>
            </a:r>
            <a:r>
              <a:rPr lang="en-US" dirty="0"/>
              <a:t>. </a:t>
            </a:r>
            <a:r>
              <a:rPr lang="en-US" sz="1200" dirty="0">
                <a:hlinkClick r:id="rId2"/>
              </a:rPr>
              <a:t>https://www.sciencedirect.com/science/article/pii/S1474034617305359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/>
              <a:t>https://ruder.io/content/images/2016/09/saddle_point_evaluation_optimizers.gif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endParaRPr lang="en-US" dirty="0"/>
          </a:p>
        </p:txBody>
      </p:sp>
      <p:sp>
        <p:nvSpPr>
          <p:cNvPr id="6" name="Action Button: Document 5">
            <a:hlinkClick r:id="rId2" highlightClick="1"/>
            <a:extLst>
              <a:ext uri="{FF2B5EF4-FFF2-40B4-BE49-F238E27FC236}">
                <a16:creationId xmlns:a16="http://schemas.microsoft.com/office/drawing/2014/main" id="{FDDC0393-F966-4742-9199-EB6C6CE95474}"/>
              </a:ext>
            </a:extLst>
          </p:cNvPr>
          <p:cNvSpPr/>
          <p:nvPr/>
        </p:nvSpPr>
        <p:spPr>
          <a:xfrm>
            <a:off x="623944" y="987012"/>
            <a:ext cx="688490" cy="563597"/>
          </a:xfrm>
          <a:prstGeom prst="actionButtonDocumen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390FF3-9AF9-465F-8B0F-082D4A756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191" y="2194561"/>
            <a:ext cx="59055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AE6143B-3117-48FA-9D43-A3DC42EB95AD}"/>
              </a:ext>
            </a:extLst>
          </p:cNvPr>
          <p:cNvGrpSpPr/>
          <p:nvPr/>
        </p:nvGrpSpPr>
        <p:grpSpPr>
          <a:xfrm>
            <a:off x="3544116" y="5537498"/>
            <a:ext cx="927480" cy="1068289"/>
            <a:chOff x="-1602037" y="3238272"/>
            <a:chExt cx="927480" cy="1068289"/>
          </a:xfrm>
        </p:grpSpPr>
        <p:pic>
          <p:nvPicPr>
            <p:cNvPr id="7" name="Graphic 6" descr="Brainstorm outline">
              <a:extLst>
                <a:ext uri="{FF2B5EF4-FFF2-40B4-BE49-F238E27FC236}">
                  <a16:creationId xmlns:a16="http://schemas.microsoft.com/office/drawing/2014/main" id="{3E05E5F8-B390-413C-9F02-FCAF94CA9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588957" y="3238272"/>
              <a:ext cx="914400" cy="9144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6526A7-8940-4B9F-8C54-423203818044}"/>
                </a:ext>
              </a:extLst>
            </p:cNvPr>
            <p:cNvSpPr/>
            <p:nvPr/>
          </p:nvSpPr>
          <p:spPr>
            <a:xfrm>
              <a:off x="-1602037" y="3998784"/>
              <a:ext cx="914400" cy="30777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US" sz="1400" b="1" cap="none" spc="0" dirty="0">
                  <a:ln/>
                  <a:solidFill>
                    <a:srgbClr val="FF0000"/>
                  </a:solidFill>
                  <a:effectLst/>
                  <a:latin typeface="Abadi Extra Light" panose="020B0604020202020204" pitchFamily="34" charset="0"/>
                </a:rPr>
                <a:t>Click me!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724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580;p31">
            <a:extLst>
              <a:ext uri="{FF2B5EF4-FFF2-40B4-BE49-F238E27FC236}">
                <a16:creationId xmlns:a16="http://schemas.microsoft.com/office/drawing/2014/main" id="{6CC88CDB-A179-40E1-A603-5E70AE75D580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828B47-1FB6-4F7F-9D49-E5FD7AEEB771}"/>
              </a:ext>
            </a:extLst>
          </p:cNvPr>
          <p:cNvGrpSpPr/>
          <p:nvPr/>
        </p:nvGrpSpPr>
        <p:grpSpPr>
          <a:xfrm>
            <a:off x="1352437" y="1878075"/>
            <a:ext cx="9487125" cy="1463085"/>
            <a:chOff x="0" y="21363"/>
            <a:chExt cx="9487125" cy="146308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057BEDC-267A-47EF-AE68-98AA1D3ED169}"/>
                </a:ext>
              </a:extLst>
            </p:cNvPr>
            <p:cNvSpPr/>
            <p:nvPr/>
          </p:nvSpPr>
          <p:spPr>
            <a:xfrm>
              <a:off x="0" y="21363"/>
              <a:ext cx="9487125" cy="146308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DC6D884F-F021-4FD2-8984-E8BEE65A5E6F}"/>
                </a:ext>
              </a:extLst>
            </p:cNvPr>
            <p:cNvSpPr txBox="1"/>
            <p:nvPr/>
          </p:nvSpPr>
          <p:spPr>
            <a:xfrm>
              <a:off x="71422" y="92785"/>
              <a:ext cx="9344281" cy="13202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32410" tIns="232410" rIns="232410" bIns="232410" numCol="1" spcCol="1270" anchor="ctr" anchorCtr="0">
              <a:noAutofit/>
            </a:bodyPr>
            <a:lstStyle/>
            <a:p>
              <a:pPr marL="0" lvl="0" indent="0" algn="l" defTabSz="2711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100" b="1" kern="1200" dirty="0"/>
                <a:t>Comparison of DNN with</a:t>
              </a:r>
              <a:endParaRPr lang="en-US" sz="6100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CCAB5B1-AA51-4DF4-9C51-645E80D2B4B8}"/>
              </a:ext>
            </a:extLst>
          </p:cNvPr>
          <p:cNvGrpSpPr/>
          <p:nvPr/>
        </p:nvGrpSpPr>
        <p:grpSpPr>
          <a:xfrm>
            <a:off x="1352437" y="3516840"/>
            <a:ext cx="9848963" cy="1463085"/>
            <a:chOff x="0" y="1660128"/>
            <a:chExt cx="9848963" cy="146308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851BC3-85B1-4571-A79C-3D717F45D76D}"/>
                </a:ext>
              </a:extLst>
            </p:cNvPr>
            <p:cNvSpPr/>
            <p:nvPr/>
          </p:nvSpPr>
          <p:spPr>
            <a:xfrm>
              <a:off x="0" y="1660128"/>
              <a:ext cx="9487125" cy="146308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49C6967-5322-49B5-89D8-4E36590F6123}"/>
                </a:ext>
              </a:extLst>
            </p:cNvPr>
            <p:cNvSpPr txBox="1"/>
            <p:nvPr/>
          </p:nvSpPr>
          <p:spPr>
            <a:xfrm>
              <a:off x="71422" y="1731550"/>
              <a:ext cx="9777541" cy="13202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32410" tIns="232410" rIns="232410" bIns="232410" numCol="1" spcCol="1270" anchor="ctr" anchorCtr="0">
              <a:noAutofit/>
            </a:bodyPr>
            <a:lstStyle/>
            <a:p>
              <a:pPr marL="0" lvl="0" indent="0" algn="l" defTabSz="2711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100" b="1" kern="1200" dirty="0"/>
                <a:t>Other traditional algorithms</a:t>
              </a:r>
              <a:endParaRPr lang="en-US" sz="61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26603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chemeClr val="bg2">
                <a:lumMod val="9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2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581;p31">
            <a:extLst>
              <a:ext uri="{FF2B5EF4-FFF2-40B4-BE49-F238E27FC236}">
                <a16:creationId xmlns:a16="http://schemas.microsoft.com/office/drawing/2014/main" id="{41C8D3B4-B01F-4020-9FE3-A9E51A2F3BB5}"/>
              </a:ext>
            </a:extLst>
          </p:cNvPr>
          <p:cNvSpPr txBox="1">
            <a:spLocks/>
          </p:cNvSpPr>
          <p:nvPr/>
        </p:nvSpPr>
        <p:spPr>
          <a:xfrm>
            <a:off x="3650199" y="845702"/>
            <a:ext cx="4891601" cy="6867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Comparison, Pros and Cons</a:t>
            </a:r>
          </a:p>
          <a:p>
            <a:endParaRPr lang="en-US" dirty="0"/>
          </a:p>
        </p:txBody>
      </p:sp>
      <p:grpSp>
        <p:nvGrpSpPr>
          <p:cNvPr id="40" name="Group 30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41" name="Isosceles Triangle 31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32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34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44" name="Rectangle 35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Isosceles Triangle 36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F638DCA-B1B3-4730-B404-5C00754CE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267664"/>
              </p:ext>
            </p:extLst>
          </p:nvPr>
        </p:nvGraphicFramePr>
        <p:xfrm>
          <a:off x="1645920" y="1532416"/>
          <a:ext cx="8692179" cy="3796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7824">
                  <a:extLst>
                    <a:ext uri="{9D8B030D-6E8A-4147-A177-3AD203B41FA5}">
                      <a16:colId xmlns:a16="http://schemas.microsoft.com/office/drawing/2014/main" val="195970503"/>
                    </a:ext>
                  </a:extLst>
                </a:gridCol>
                <a:gridCol w="4364355">
                  <a:extLst>
                    <a:ext uri="{9D8B030D-6E8A-4147-A177-3AD203B41FA5}">
                      <a16:colId xmlns:a16="http://schemas.microsoft.com/office/drawing/2014/main" val="1181906071"/>
                    </a:ext>
                  </a:extLst>
                </a:gridCol>
              </a:tblGrid>
              <a:tr h="769720"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tabLst/>
                      </a:pPr>
                      <a:r>
                        <a:rPr lang="en-US" sz="1700" b="1" i="0" u="none" strike="noStrike" cap="none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DNN </a:t>
                      </a:r>
                    </a:p>
                    <a:p>
                      <a:pPr marL="0"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tabLst/>
                      </a:pPr>
                      <a:r>
                        <a:rPr lang="en-US" sz="1700" b="1" i="0" u="none" strike="noStrike" cap="none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(more complicated with multi layers)</a:t>
                      </a:r>
                    </a:p>
                  </a:txBody>
                  <a:tcPr marL="75912" marR="75912" marT="37955" marB="37955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700" b="1" i="0" u="none" strike="noStrike" cap="none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Random Forest, Bayesian, </a:t>
                      </a:r>
                      <a:r>
                        <a:rPr lang="en-US" sz="1700" b="1" i="0" u="none" strike="noStrike" cap="none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kNN</a:t>
                      </a:r>
                      <a:endParaRPr lang="en-US" sz="1700" b="1" i="0" u="none" strike="noStrike" cap="none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700" b="1" i="0" u="none" strike="noStrike" cap="none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(straightforward and fast)</a:t>
                      </a:r>
                    </a:p>
                  </a:txBody>
                  <a:tcPr marL="75912" marR="75912" marT="37955" marB="37955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830024"/>
                  </a:ext>
                </a:extLst>
              </a:tr>
              <a:tr h="76757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700" b="1" i="0" dirty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Training is time-intensive:</a:t>
                      </a:r>
                      <a:r>
                        <a:rPr lang="en-US" sz="1700" b="0" i="0" dirty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 convergence unknown</a:t>
                      </a:r>
                      <a:endParaRPr lang="en-US" sz="17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5912" marR="75912" marT="37955" marB="37955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700" b="1" i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Real time Training and Prediction</a:t>
                      </a:r>
                      <a:r>
                        <a:rPr lang="en-US" sz="1700" b="0" i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: Converge fast</a:t>
                      </a:r>
                      <a:endParaRPr lang="en-US" sz="1700" b="1" i="0" u="none" strike="noStrike" cap="none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5912" marR="75912" marT="37955" marB="37955"/>
                </a:tc>
                <a:extLst>
                  <a:ext uri="{0D108BD9-81ED-4DB2-BD59-A6C34878D82A}">
                    <a16:rowId xmlns:a16="http://schemas.microsoft.com/office/drawing/2014/main" val="3758061288"/>
                  </a:ext>
                </a:extLst>
              </a:tr>
              <a:tr h="813804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700" b="1" i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Scalable </a:t>
                      </a:r>
                      <a:r>
                        <a:rPr lang="en-US" sz="1700" b="0" i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with large datasets but need adjust network topology or parameters</a:t>
                      </a:r>
                      <a:endParaRPr lang="en-US" sz="1700" b="1" i="0" u="none" strike="noStrike" cap="none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5912" marR="75912" marT="37955" marB="37955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700" b="1" i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Scalable </a:t>
                      </a:r>
                      <a:r>
                        <a:rPr lang="en-US" sz="1700" b="0" i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with large datasets</a:t>
                      </a:r>
                      <a:endParaRPr lang="en-US" sz="1700" b="1" i="0" u="none" strike="noStrike" cap="none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5912" marR="75912" marT="37955" marB="37955"/>
                </a:tc>
                <a:extLst>
                  <a:ext uri="{0D108BD9-81ED-4DB2-BD59-A6C34878D82A}">
                    <a16:rowId xmlns:a16="http://schemas.microsoft.com/office/drawing/2014/main" val="3012453847"/>
                  </a:ext>
                </a:extLst>
              </a:tr>
              <a:tr h="67804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700" b="1" i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Only a probing solution, </a:t>
                      </a:r>
                      <a:r>
                        <a:rPr lang="en-US" sz="1700" b="0" i="0" u="none" strike="noStrike" cap="none">
                          <a:solidFill>
                            <a:srgbClr val="292929"/>
                          </a:solidFill>
                          <a:effectLst/>
                          <a:latin typeface="charter"/>
                          <a:ea typeface="+mn-ea"/>
                          <a:cs typeface="+mn-cs"/>
                          <a:sym typeface="Arial"/>
                        </a:rPr>
                        <a:t>not optimum due to complexity nature</a:t>
                      </a:r>
                    </a:p>
                  </a:txBody>
                  <a:tcPr marL="75912" marR="75912" marT="37955" marB="37955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700" b="1" i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 Requires no tuning of parameters, theoretical guarantees results</a:t>
                      </a:r>
                    </a:p>
                  </a:txBody>
                  <a:tcPr marL="75912" marR="75912" marT="37955" marB="37955"/>
                </a:tc>
                <a:extLst>
                  <a:ext uri="{0D108BD9-81ED-4DB2-BD59-A6C34878D82A}">
                    <a16:rowId xmlns:a16="http://schemas.microsoft.com/office/drawing/2014/main" val="3416967224"/>
                  </a:ext>
                </a:extLst>
              </a:tr>
              <a:tr h="76757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700" b="1" i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Multi class prediction</a:t>
                      </a:r>
                      <a:r>
                        <a:rPr lang="en-US" sz="1700" b="0" i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 with multi-layers is effective</a:t>
                      </a:r>
                      <a:endParaRPr lang="en-US" sz="1700" b="1" i="0">
                        <a:solidFill>
                          <a:srgbClr val="292929"/>
                        </a:solidFill>
                        <a:effectLst/>
                        <a:latin typeface="charter"/>
                      </a:endParaRPr>
                    </a:p>
                  </a:txBody>
                  <a:tcPr marL="75912" marR="75912" marT="37955" marB="37955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700" b="1" i="0" dirty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Multi class prediction</a:t>
                      </a:r>
                      <a:r>
                        <a:rPr lang="en-US" sz="1700" b="0" i="0" dirty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 is effective</a:t>
                      </a:r>
                      <a:endParaRPr lang="en-US" sz="1700" b="1" i="0" dirty="0">
                        <a:solidFill>
                          <a:srgbClr val="292929"/>
                        </a:solidFill>
                        <a:effectLst/>
                        <a:latin typeface="charter"/>
                      </a:endParaRPr>
                    </a:p>
                  </a:txBody>
                  <a:tcPr marL="75912" marR="75912" marT="37955" marB="37955"/>
                </a:tc>
                <a:extLst>
                  <a:ext uri="{0D108BD9-81ED-4DB2-BD59-A6C34878D82A}">
                    <a16:rowId xmlns:a16="http://schemas.microsoft.com/office/drawing/2014/main" val="553554856"/>
                  </a:ext>
                </a:extLst>
              </a:tr>
            </a:tbl>
          </a:graphicData>
        </a:graphic>
      </p:graphicFrame>
      <p:sp>
        <p:nvSpPr>
          <p:cNvPr id="38" name="Google Shape;580;p31">
            <a:extLst>
              <a:ext uri="{FF2B5EF4-FFF2-40B4-BE49-F238E27FC236}">
                <a16:creationId xmlns:a16="http://schemas.microsoft.com/office/drawing/2014/main" id="{B5ED98C2-71E9-4520-B341-DC33471403EE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</p:spTree>
    <p:extLst>
      <p:ext uri="{BB962C8B-B14F-4D97-AF65-F5344CB8AC3E}">
        <p14:creationId xmlns:p14="http://schemas.microsoft.com/office/powerpoint/2010/main" val="1739704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chemeClr val="bg2">
                <a:lumMod val="9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2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581;p31">
            <a:extLst>
              <a:ext uri="{FF2B5EF4-FFF2-40B4-BE49-F238E27FC236}">
                <a16:creationId xmlns:a16="http://schemas.microsoft.com/office/drawing/2014/main" id="{41C8D3B4-B01F-4020-9FE3-A9E51A2F3BB5}"/>
              </a:ext>
            </a:extLst>
          </p:cNvPr>
          <p:cNvSpPr txBox="1">
            <a:spLocks/>
          </p:cNvSpPr>
          <p:nvPr/>
        </p:nvSpPr>
        <p:spPr>
          <a:xfrm>
            <a:off x="2950952" y="983528"/>
            <a:ext cx="6451232" cy="6867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Comparison, Pros and Cons (continue)</a:t>
            </a:r>
          </a:p>
          <a:p>
            <a:endParaRPr lang="en-US" dirty="0"/>
          </a:p>
        </p:txBody>
      </p:sp>
      <p:grpSp>
        <p:nvGrpSpPr>
          <p:cNvPr id="40" name="Group 30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41" name="Isosceles Triangle 31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32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34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44" name="Rectangle 35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Isosceles Triangle 36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8" name="Google Shape;580;p31">
            <a:extLst>
              <a:ext uri="{FF2B5EF4-FFF2-40B4-BE49-F238E27FC236}">
                <a16:creationId xmlns:a16="http://schemas.microsoft.com/office/drawing/2014/main" id="{B5ED98C2-71E9-4520-B341-DC33471403EE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5DDC7B-DE03-4C3E-9107-9CB96018F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902876"/>
              </p:ext>
            </p:extLst>
          </p:nvPr>
        </p:nvGraphicFramePr>
        <p:xfrm>
          <a:off x="1039182" y="1935308"/>
          <a:ext cx="10683124" cy="4248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1562">
                  <a:extLst>
                    <a:ext uri="{9D8B030D-6E8A-4147-A177-3AD203B41FA5}">
                      <a16:colId xmlns:a16="http://schemas.microsoft.com/office/drawing/2014/main" val="1543442786"/>
                    </a:ext>
                  </a:extLst>
                </a:gridCol>
                <a:gridCol w="5341562">
                  <a:extLst>
                    <a:ext uri="{9D8B030D-6E8A-4147-A177-3AD203B41FA5}">
                      <a16:colId xmlns:a16="http://schemas.microsoft.com/office/drawing/2014/main" val="821421647"/>
                    </a:ext>
                  </a:extLst>
                </a:gridCol>
              </a:tblGrid>
              <a:tr h="872439"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tabLst/>
                      </a:pPr>
                      <a:r>
                        <a:rPr lang="en-US" sz="2000" b="1" i="0" u="none" strike="noStrike" cap="none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DNN</a:t>
                      </a:r>
                      <a:r>
                        <a:rPr lang="en-US" sz="2000" b="1" i="0" u="none" strike="noStrike" cap="none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</a:p>
                    <a:p>
                      <a:pPr marL="0"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tabLst/>
                      </a:pPr>
                      <a:r>
                        <a:rPr lang="en-US" sz="2000" b="1" i="0" u="none" strike="noStrike" cap="none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(high accuracy training with large data)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Random Forest, Bayesian, </a:t>
                      </a:r>
                      <a:r>
                        <a:rPr lang="en-US" sz="2000" b="1" i="0" u="none" strike="noStrike" cap="none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kNN</a:t>
                      </a:r>
                      <a:endParaRPr lang="en-US" sz="2000" b="1" i="0" u="none" strike="noStrike" cap="none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(low accuracy for real data)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713157"/>
                  </a:ext>
                </a:extLst>
              </a:tr>
              <a:tr h="16310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i="0" dirty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No requirements on independence of two features. Neutrons are smart enough to learn to filter out irrelevant features from training. </a:t>
                      </a:r>
                      <a:endParaRPr 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i="0" dirty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The assumption of Naive Bayes/Forest is that each feature makes an independent and equal contribution to the outcome, very hard to meet in most dataset.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163790"/>
                  </a:ext>
                </a:extLst>
              </a:tr>
              <a:tr h="8724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i="0" dirty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Good performance on non-linear data with activate functions in neurons (filter out bad)</a:t>
                      </a:r>
                      <a:endParaRPr lang="en-US" sz="20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i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Poor performance with irrelevant and highly correlated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833680"/>
                  </a:ext>
                </a:extLst>
              </a:tr>
              <a:tr h="872439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dirty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Robust to noise in the training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i="0" dirty="0">
                          <a:solidFill>
                            <a:srgbClr val="292929"/>
                          </a:solidFill>
                          <a:effectLst/>
                          <a:latin typeface="charter"/>
                        </a:rPr>
                        <a:t>Poor performance on non-linear data, missing data, erroneous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778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708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chemeClr val="bg2">
                <a:lumMod val="9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2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581;p31">
            <a:extLst>
              <a:ext uri="{FF2B5EF4-FFF2-40B4-BE49-F238E27FC236}">
                <a16:creationId xmlns:a16="http://schemas.microsoft.com/office/drawing/2014/main" id="{41C8D3B4-B01F-4020-9FE3-A9E51A2F3BB5}"/>
              </a:ext>
            </a:extLst>
          </p:cNvPr>
          <p:cNvSpPr txBox="1">
            <a:spLocks/>
          </p:cNvSpPr>
          <p:nvPr/>
        </p:nvSpPr>
        <p:spPr>
          <a:xfrm>
            <a:off x="2688001" y="691625"/>
            <a:ext cx="6451232" cy="6867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>
              <a:lnSpc>
                <a:spcPct val="115000"/>
              </a:lnSpc>
              <a:spcBef>
                <a:spcPts val="0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030A0"/>
                </a:solidFill>
                <a:effectLst/>
                <a:latin typeface="Open Sans" panose="020B0606030504020204" pitchFamily="34" charset="0"/>
                <a:ea typeface="Arial"/>
                <a:cs typeface="Arial"/>
              </a:defRPr>
            </a:lvl1pPr>
            <a:lvl2pPr marL="914400" marR="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dirty="0"/>
              <a:t>Comparison, Pros and Cons (continue)</a:t>
            </a:r>
          </a:p>
          <a:p>
            <a:endParaRPr lang="en-US" dirty="0"/>
          </a:p>
        </p:txBody>
      </p:sp>
      <p:grpSp>
        <p:nvGrpSpPr>
          <p:cNvPr id="40" name="Group 30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41" name="Isosceles Triangle 31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32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34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44" name="Rectangle 35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Isosceles Triangle 36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8" name="Google Shape;580;p31">
            <a:extLst>
              <a:ext uri="{FF2B5EF4-FFF2-40B4-BE49-F238E27FC236}">
                <a16:creationId xmlns:a16="http://schemas.microsoft.com/office/drawing/2014/main" id="{B5ED98C2-71E9-4520-B341-DC33471403EE}"/>
              </a:ext>
            </a:extLst>
          </p:cNvPr>
          <p:cNvSpPr txBox="1">
            <a:spLocks/>
          </p:cNvSpPr>
          <p:nvPr/>
        </p:nvSpPr>
        <p:spPr>
          <a:xfrm>
            <a:off x="104929" y="0"/>
            <a:ext cx="11617377" cy="46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/>
            <a:r>
              <a:rPr lang="en-US" sz="2000" b="1" kern="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DNN</a:t>
            </a:r>
            <a:r>
              <a:rPr lang="en-US" sz="2000" b="1" kern="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Prediction Non-Trivial Examples</a:t>
            </a:r>
          </a:p>
        </p:txBody>
      </p:sp>
      <p:sp>
        <p:nvSpPr>
          <p:cNvPr id="12" name="Google Shape;581;p31">
            <a:extLst>
              <a:ext uri="{FF2B5EF4-FFF2-40B4-BE49-F238E27FC236}">
                <a16:creationId xmlns:a16="http://schemas.microsoft.com/office/drawing/2014/main" id="{6B43ACA8-6A3A-4738-B8B1-EE7E1C033108}"/>
              </a:ext>
            </a:extLst>
          </p:cNvPr>
          <p:cNvSpPr txBox="1">
            <a:spLocks/>
          </p:cNvSpPr>
          <p:nvPr/>
        </p:nvSpPr>
        <p:spPr>
          <a:xfrm>
            <a:off x="720906" y="1553612"/>
            <a:ext cx="11407515" cy="51205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 defTabSz="914400">
              <a:spcAft>
                <a:spcPts val="2133"/>
              </a:spcAft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7030A0"/>
                </a:solidFill>
              </a:rPr>
              <a:t>DNN is more accurate, achieved the state of the art in more domains</a:t>
            </a:r>
          </a:p>
          <a:p>
            <a:pPr marL="342900" indent="-342900" defTabSz="914400">
              <a:spcAft>
                <a:spcPts val="2133"/>
              </a:spcAft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7030A0"/>
                </a:solidFill>
              </a:rPr>
              <a:t>DNN is highly depends on topology, number of weights in the network, and the settings of learning algorithm parameters. </a:t>
            </a:r>
          </a:p>
          <a:p>
            <a:pPr marL="342900" indent="-342900" defTabSz="914400">
              <a:spcAft>
                <a:spcPts val="2133"/>
              </a:spcAft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7030A0"/>
                </a:solidFill>
              </a:rPr>
              <a:t>Effective topology/ parameters can only be achieved through experience and trial and error. </a:t>
            </a:r>
          </a:p>
          <a:p>
            <a:pPr marL="342900" indent="-342900" defTabSz="914400">
              <a:spcAft>
                <a:spcPts val="2133"/>
              </a:spcAft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7030A0"/>
                </a:solidFill>
              </a:rPr>
              <a:t>DNN is time-intensive in training, and training with small datasets or wrong topology commonly produces worse performance!</a:t>
            </a:r>
          </a:p>
          <a:p>
            <a:pPr marL="342900" indent="-342900" defTabSz="914400">
              <a:spcAft>
                <a:spcPts val="2133"/>
              </a:spcAft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7030A0"/>
                </a:solidFill>
              </a:rPr>
              <a:t>DNN can tolerate noise in the training data. The training sets can be  irrelevant, errors, outliers, which do not affect the final output.</a:t>
            </a:r>
          </a:p>
          <a:p>
            <a:pPr marL="571500" indent="-571500" defTabSz="914400">
              <a:spcAft>
                <a:spcPts val="2133"/>
              </a:spcAft>
            </a:pPr>
            <a:endParaRPr lang="en-US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592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2054</TotalTime>
  <Words>2604</Words>
  <Application>Microsoft Office PowerPoint</Application>
  <PresentationFormat>Widescreen</PresentationFormat>
  <Paragraphs>398</Paragraphs>
  <Slides>33</Slides>
  <Notes>11</Notes>
  <HiddenSlides>9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53" baseType="lpstr">
      <vt:lpstr>Adobe Gothic Std B</vt:lpstr>
      <vt:lpstr>charter</vt:lpstr>
      <vt:lpstr>zeitung</vt:lpstr>
      <vt:lpstr>Abadi Extra Light</vt:lpstr>
      <vt:lpstr>Arial</vt:lpstr>
      <vt:lpstr>Arial Nova Cond</vt:lpstr>
      <vt:lpstr>Baguet Script</vt:lpstr>
      <vt:lpstr>Bookman Old Style</vt:lpstr>
      <vt:lpstr>Broadway</vt:lpstr>
      <vt:lpstr>Calibri</vt:lpstr>
      <vt:lpstr>Calibri Light</vt:lpstr>
      <vt:lpstr>Cambria Math</vt:lpstr>
      <vt:lpstr>Lato</vt:lpstr>
      <vt:lpstr>Modern Love Grunge</vt:lpstr>
      <vt:lpstr>Open Sans</vt:lpstr>
      <vt:lpstr>Rockwell</vt:lpstr>
      <vt:lpstr>Times New Roman</vt:lpstr>
      <vt:lpstr>Wingdings</vt:lpstr>
      <vt:lpstr>Damask</vt:lpstr>
      <vt:lpstr>Office Theme</vt:lpstr>
      <vt:lpstr>PowerPoint Presentation</vt:lpstr>
      <vt:lpstr>Distribution Network Outage Data Analysis and Repair Time Prediction Using Deep Learning</vt:lpstr>
      <vt:lpstr>Distribution Network Outage Data Analysis and Repair Time Prediction Using Deep Learning</vt:lpstr>
      <vt:lpstr>Distribution Network Outage Data Analysis and Repair Time Prediction Using Deep Learning</vt:lpstr>
      <vt:lpstr>Distribution Network Outage Data Analysis and Repair Time Prediction Using Deep Learning</vt:lpstr>
      <vt:lpstr>Distribution Network Outage Data Analysis and Repair Time Prediction Using Deep Learning</vt:lpstr>
      <vt:lpstr>Distribution Network Outage Data Analysis and Repair Time Prediction Using Deep Learning</vt:lpstr>
      <vt:lpstr>DNN Prediction Non-Trivial 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Parsons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Ding, YuQing [US-US]</dc:creator>
  <cp:lastModifiedBy>Ding, Yuqing</cp:lastModifiedBy>
  <cp:revision>153</cp:revision>
  <dcterms:created xsi:type="dcterms:W3CDTF">2022-03-18T21:40:04Z</dcterms:created>
  <dcterms:modified xsi:type="dcterms:W3CDTF">2022-04-28T15:40:54Z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9ae2783-b6e8-45ab-9e71-54c07b2dade0_Enabled">
    <vt:lpwstr>true</vt:lpwstr>
  </property>
  <property fmtid="{D5CDD505-2E9C-101B-9397-08002B2CF9AE}" pid="3" name="MSIP_Label_79ae2783-b6e8-45ab-9e71-54c07b2dade0_SetDate">
    <vt:lpwstr>2022-03-19T02:13:55Z</vt:lpwstr>
  </property>
  <property fmtid="{D5CDD505-2E9C-101B-9397-08002B2CF9AE}" pid="4" name="MSIP_Label_79ae2783-b6e8-45ab-9e71-54c07b2dade0_Method">
    <vt:lpwstr>Privileged</vt:lpwstr>
  </property>
  <property fmtid="{D5CDD505-2E9C-101B-9397-08002B2CF9AE}" pid="5" name="MSIP_Label_79ae2783-b6e8-45ab-9e71-54c07b2dade0_Name">
    <vt:lpwstr>79ae2783-b6e8-45ab-9e71-54c07b2dade0</vt:lpwstr>
  </property>
  <property fmtid="{D5CDD505-2E9C-101B-9397-08002B2CF9AE}" pid="6" name="MSIP_Label_79ae2783-b6e8-45ab-9e71-54c07b2dade0_SiteId">
    <vt:lpwstr>8d088ff8-7e52-4d0f-8187-dcd9ca37815a</vt:lpwstr>
  </property>
  <property fmtid="{D5CDD505-2E9C-101B-9397-08002B2CF9AE}" pid="7" name="MSIP_Label_79ae2783-b6e8-45ab-9e71-54c07b2dade0_ActionId">
    <vt:lpwstr>f43aea67-aaeb-4e77-8666-a9fd1a51705c</vt:lpwstr>
  </property>
  <property fmtid="{D5CDD505-2E9C-101B-9397-08002B2CF9AE}" pid="8" name="MSIP_Label_79ae2783-b6e8-45ab-9e71-54c07b2dade0_ContentBits">
    <vt:lpwstr>0</vt:lpwstr>
  </property>
</Properties>
</file>